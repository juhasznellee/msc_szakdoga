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7" r:id="rId1"/>
  </p:sldMasterIdLst>
  <p:notesMasterIdLst>
    <p:notesMasterId r:id="rId24"/>
  </p:notesMasterIdLst>
  <p:sldIdLst>
    <p:sldId id="256" r:id="rId2"/>
    <p:sldId id="283" r:id="rId3"/>
    <p:sldId id="266" r:id="rId4"/>
    <p:sldId id="271" r:id="rId5"/>
    <p:sldId id="268" r:id="rId6"/>
    <p:sldId id="274" r:id="rId7"/>
    <p:sldId id="284" r:id="rId8"/>
    <p:sldId id="278" r:id="rId9"/>
    <p:sldId id="279" r:id="rId10"/>
    <p:sldId id="280" r:id="rId11"/>
    <p:sldId id="269" r:id="rId12"/>
    <p:sldId id="263" r:id="rId13"/>
    <p:sldId id="272" r:id="rId14"/>
    <p:sldId id="273" r:id="rId15"/>
    <p:sldId id="282" r:id="rId16"/>
    <p:sldId id="262" r:id="rId17"/>
    <p:sldId id="264" r:id="rId18"/>
    <p:sldId id="265" r:id="rId19"/>
    <p:sldId id="281" r:id="rId20"/>
    <p:sldId id="267" r:id="rId21"/>
    <p:sldId id="260" r:id="rId22"/>
    <p:sldId id="270" r:id="rId2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6A6A"/>
    <a:srgbClr val="103F55"/>
    <a:srgbClr val="68787F"/>
    <a:srgbClr val="F9441B"/>
    <a:srgbClr val="328792"/>
    <a:srgbClr val="0F394B"/>
    <a:srgbClr val="1F7498"/>
    <a:srgbClr val="217CA3"/>
    <a:srgbClr val="E89874"/>
    <a:srgbClr val="B27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Közepesen sötét stílu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Közepesen sötét stílus 2 – 2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Közepesen sötét stílus 3 – 1. jelölőszín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39" autoAdjust="0"/>
    <p:restoredTop sz="64894" autoAdjust="0"/>
  </p:normalViewPr>
  <p:slideViewPr>
    <p:cSldViewPr snapToGrid="0">
      <p:cViewPr varScale="1">
        <p:scale>
          <a:sx n="106" d="100"/>
          <a:sy n="106" d="100"/>
        </p:scale>
        <p:origin x="1938" y="10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92BB9-1BE5-4032-8E9C-0AD5DE3AFD4B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9CBF5-A446-4922-B374-CEAB447E058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9338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smtClean="0"/>
              <a:t>A</a:t>
            </a:r>
            <a:r>
              <a:rPr lang="hu-HU" baseline="0" dirty="0" smtClean="0"/>
              <a:t> diplomamunkám témája az </a:t>
            </a:r>
            <a:r>
              <a:rPr lang="hu-HU" baseline="0" dirty="0" err="1" smtClean="0"/>
              <a:t>Erlang</a:t>
            </a:r>
            <a:r>
              <a:rPr lang="hu-HU" baseline="0" dirty="0" smtClean="0"/>
              <a:t> nyelven írt nem biztonságos kód biztonságossá transzformálása a </a:t>
            </a:r>
            <a:r>
              <a:rPr lang="hu-HU" baseline="0" dirty="0" err="1" smtClean="0"/>
              <a:t>RefactorErl</a:t>
            </a:r>
            <a:r>
              <a:rPr lang="hu-HU" baseline="0" dirty="0" smtClean="0"/>
              <a:t> eszköz segítségével. 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43761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smtClean="0"/>
              <a:t>Első körben</a:t>
            </a:r>
            <a:r>
              <a:rPr lang="hu-HU" baseline="0" dirty="0" smtClean="0"/>
              <a:t> röviden bemutatnám a </a:t>
            </a:r>
            <a:r>
              <a:rPr lang="hu-HU" baseline="0" dirty="0" err="1" smtClean="0"/>
              <a:t>RefactorErl</a:t>
            </a:r>
            <a:r>
              <a:rPr lang="hu-HU" baseline="0" dirty="0" smtClean="0"/>
              <a:t>-t azoknak, akik még nem ismerik.</a:t>
            </a:r>
          </a:p>
          <a:p>
            <a:endParaRPr lang="hu-HU" dirty="0" smtClean="0"/>
          </a:p>
          <a:p>
            <a:r>
              <a:rPr lang="hu-HU" dirty="0" smtClean="0"/>
              <a:t>A </a:t>
            </a:r>
            <a:r>
              <a:rPr lang="hu-HU" dirty="0" err="1" smtClean="0"/>
              <a:t>RefactorErl</a:t>
            </a:r>
            <a:r>
              <a:rPr lang="hu-HU" dirty="0" smtClean="0"/>
              <a:t> egy nyílt forráskódú statikus elemző és transzformáló eszköz, amelyet az ELTE fejlesztett ki az </a:t>
            </a:r>
            <a:r>
              <a:rPr lang="hu-HU" dirty="0" err="1" smtClean="0"/>
              <a:t>Erlang</a:t>
            </a:r>
            <a:r>
              <a:rPr lang="hu-HU" dirty="0" smtClean="0"/>
              <a:t> nyelvhez. Elsősorban olyan </a:t>
            </a:r>
            <a:r>
              <a:rPr lang="hu-HU" dirty="0" err="1" smtClean="0"/>
              <a:t>refaktorálásokat</a:t>
            </a:r>
            <a:r>
              <a:rPr lang="hu-HU" dirty="0" smtClean="0"/>
              <a:t> implementáltak benne, amelyek biztonságosan alakítják át a kódot úgy, hogy a program viselkedése vagy jelentése nem változik</a:t>
            </a:r>
            <a:r>
              <a:rPr lang="hu-HU" baseline="0" dirty="0" smtClean="0"/>
              <a:t> meg</a:t>
            </a:r>
            <a:r>
              <a:rPr lang="hu-HU" dirty="0" smtClean="0"/>
              <a:t>. </a:t>
            </a:r>
            <a:r>
              <a:rPr lang="hu-HU" dirty="0" smtClean="0"/>
              <a:t>Mára</a:t>
            </a:r>
            <a:r>
              <a:rPr lang="hu-HU" baseline="0" dirty="0" smtClean="0"/>
              <a:t> már több funkcióval rendelkezik az eszköz, például elérhetők </a:t>
            </a:r>
            <a:r>
              <a:rPr lang="hu-HU" baseline="0" dirty="0" smtClean="0"/>
              <a:t>benne </a:t>
            </a:r>
            <a:r>
              <a:rPr lang="hu-HU" dirty="0" smtClean="0"/>
              <a:t>olyan elemzések és keresések,</a:t>
            </a:r>
            <a:r>
              <a:rPr lang="hu-HU" baseline="0" dirty="0" smtClean="0"/>
              <a:t> amelyek megmutatják a projektben előforduló sérülékenységeket.</a:t>
            </a:r>
            <a:endParaRPr lang="hu-HU" dirty="0" smtClean="0"/>
          </a:p>
          <a:p>
            <a:endParaRPr lang="hu-HU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 smtClean="0"/>
              <a:t>A </a:t>
            </a:r>
            <a:r>
              <a:rPr lang="hu-HU" dirty="0" err="1" smtClean="0"/>
              <a:t>RefactorErl</a:t>
            </a:r>
            <a:r>
              <a:rPr lang="hu-HU" dirty="0" smtClean="0"/>
              <a:t> az </a:t>
            </a:r>
            <a:r>
              <a:rPr lang="hu-HU" dirty="0" err="1" smtClean="0"/>
              <a:t>Erlang</a:t>
            </a:r>
            <a:r>
              <a:rPr lang="hu-HU" dirty="0" smtClean="0"/>
              <a:t> nyelven írt forráskódot egy szemantikus programgráfban </a:t>
            </a:r>
            <a:r>
              <a:rPr lang="hu-HU" dirty="0" smtClean="0"/>
              <a:t>reprezentálja, amelyet az elemzés során bejár.</a:t>
            </a:r>
            <a:r>
              <a:rPr lang="hu-HU" baseline="0" dirty="0" smtClean="0"/>
              <a:t>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 smtClean="0"/>
              <a:t>Ez </a:t>
            </a:r>
            <a:r>
              <a:rPr lang="hu-HU" dirty="0" smtClean="0"/>
              <a:t>3</a:t>
            </a:r>
            <a:r>
              <a:rPr lang="hu-HU" baseline="0" dirty="0" smtClean="0"/>
              <a:t> rétegből épül fel:</a:t>
            </a:r>
          </a:p>
          <a:p>
            <a:r>
              <a:rPr lang="hu-HU" baseline="0" dirty="0" smtClean="0"/>
              <a:t> - lexikális: </a:t>
            </a:r>
            <a:r>
              <a:rPr lang="hu-HU" baseline="0" dirty="0" err="1" smtClean="0"/>
              <a:t>tokeneket</a:t>
            </a:r>
            <a:r>
              <a:rPr lang="hu-HU" baseline="0" dirty="0" smtClean="0"/>
              <a:t> készít</a:t>
            </a:r>
          </a:p>
          <a:p>
            <a:r>
              <a:rPr lang="hu-HU" baseline="0" dirty="0" smtClean="0"/>
              <a:t> - szintaktikus: létrehozza a szintaxisfát a </a:t>
            </a:r>
            <a:r>
              <a:rPr lang="hu-HU" baseline="0" dirty="0" err="1" smtClean="0"/>
              <a:t>tokenekből</a:t>
            </a:r>
            <a:endParaRPr lang="hu-HU" baseline="0" dirty="0" smtClean="0"/>
          </a:p>
          <a:p>
            <a:r>
              <a:rPr lang="hu-HU" baseline="0" dirty="0" smtClean="0"/>
              <a:t> - szemantikus: információkkal és kapcsolatokkal bővíti ki a </a:t>
            </a:r>
            <a:r>
              <a:rPr lang="hu-HU" baseline="0" dirty="0" smtClean="0"/>
              <a:t>fát</a:t>
            </a:r>
            <a:endParaRPr lang="hu-HU" dirty="0" smtClean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1889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smtClean="0"/>
              <a:t>Most</a:t>
            </a:r>
            <a:r>
              <a:rPr lang="hu-HU" baseline="0" dirty="0" smtClean="0"/>
              <a:t> pedig ismertetem a problémát, amely egy részére a diplomamunkámban implementált transzformációk megoldást nyújtanak.</a:t>
            </a:r>
            <a:endParaRPr lang="hu-HU" dirty="0" smtClean="0"/>
          </a:p>
          <a:p>
            <a:endParaRPr lang="hu-HU" dirty="0" smtClean="0"/>
          </a:p>
          <a:p>
            <a:r>
              <a:rPr lang="hu-HU" dirty="0" smtClean="0"/>
              <a:t>Az </a:t>
            </a:r>
            <a:r>
              <a:rPr lang="hu-HU" dirty="0" err="1" smtClean="0"/>
              <a:t>Erlang</a:t>
            </a:r>
            <a:r>
              <a:rPr lang="hu-HU" dirty="0" smtClean="0"/>
              <a:t> nyelvben több olyan függvény is előfordul, amelyek ránézésre nem jelentenek problémát, viszont bizonyos bemenetek vagy esetek mellett mégis komoly biztonsági kockázatot rejtenek. A </a:t>
            </a:r>
            <a:r>
              <a:rPr lang="hu-HU" dirty="0" err="1" smtClean="0"/>
              <a:t>RefactorErl</a:t>
            </a:r>
            <a:r>
              <a:rPr lang="hu-HU" dirty="0" smtClean="0"/>
              <a:t> eszköz segítségével azonosíthatók a forráskódban előforduló sebezhető hívások, így nagyobb eséllyel elkerülhetők az ebből adódó tipikus problémák, mint például az OS </a:t>
            </a:r>
            <a:r>
              <a:rPr lang="hu-HU" dirty="0" err="1" smtClean="0"/>
              <a:t>injection</a:t>
            </a:r>
            <a:r>
              <a:rPr lang="hu-HU" dirty="0" smtClean="0"/>
              <a:t> vagy az </a:t>
            </a:r>
            <a:r>
              <a:rPr lang="hu-HU" dirty="0" err="1" smtClean="0"/>
              <a:t>atomtúlcsordulás</a:t>
            </a:r>
            <a:r>
              <a:rPr lang="hu-HU" dirty="0" smtClean="0"/>
              <a:t>.</a:t>
            </a:r>
          </a:p>
          <a:p>
            <a:endParaRPr lang="hu-HU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Ezeket jelenleg manuálisan lehet csak kijavítani,</a:t>
            </a:r>
            <a:r>
              <a:rPr lang="hu-HU" sz="1200" baseline="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viszont így fennáll annak a veszélye, hogy új hibák kerülnek bevezetésére. Ezen kívül nem lesz egységes a kód szerkezete, valamint a kézi javítás sokkal idő és </a:t>
            </a:r>
            <a:r>
              <a:rPr lang="hu-HU" sz="1200" baseline="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költségigényesebb.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sz="1200" baseline="0" dirty="0" smtClean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 smtClean="0"/>
              <a:t>Az </a:t>
            </a:r>
            <a:r>
              <a:rPr lang="hu-HU" dirty="0" err="1" smtClean="0"/>
              <a:t>os:cmd</a:t>
            </a:r>
            <a:r>
              <a:rPr lang="hu-HU" dirty="0" smtClean="0"/>
              <a:t> paramétere egy megbízhatatlan külső forrásból származik,</a:t>
            </a:r>
            <a:r>
              <a:rPr lang="hu-HU" baseline="0" dirty="0" smtClean="0"/>
              <a:t> </a:t>
            </a:r>
            <a:r>
              <a:rPr lang="hu-HU" dirty="0" smtClean="0"/>
              <a:t>amelyet ellenőrzések nélkül egyszerűen végrehajt a kód. Ilyen formában ez a hívás azért nagyon veszélyes, mert bármilyen rosszindulatú parancs is lefuthat a szerveren. Itt például a program hiába vár a "</a:t>
            </a:r>
            <a:r>
              <a:rPr lang="hu-HU" dirty="0" err="1" smtClean="0"/>
              <a:t>cat</a:t>
            </a:r>
            <a:r>
              <a:rPr lang="hu-HU" dirty="0" smtClean="0"/>
              <a:t>" utasítás után egy fájlnevet, hogy kiírja annak tartalmát, a fájl megadása után a bemenethez még könnyedén hozzáilleszthetők OS utasítások, vagy akár felül is írható az eredeti parancs.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 smtClean="0"/>
              <a:t>A </a:t>
            </a:r>
            <a:r>
              <a:rPr lang="hu-HU" dirty="0" err="1" smtClean="0"/>
              <a:t>list_to_atom</a:t>
            </a:r>
            <a:r>
              <a:rPr lang="hu-HU" baseline="0" dirty="0" smtClean="0"/>
              <a:t> függvénnyel végrehajtott atomgenerálás </a:t>
            </a:r>
            <a:r>
              <a:rPr lang="hu-HU" dirty="0" smtClean="0"/>
              <a:t>annyi új atomot hoz létre, ahány elem van a generáló listában. Ránézésre a mérete ismeretlen, mivel az </a:t>
            </a:r>
            <a:r>
              <a:rPr lang="hu-HU" dirty="0" err="1" smtClean="0"/>
              <a:t>Arg</a:t>
            </a:r>
            <a:r>
              <a:rPr lang="hu-HU" dirty="0" smtClean="0"/>
              <a:t> egy bemeneti paraméter, tehát bármekkora lehet. Az </a:t>
            </a:r>
            <a:r>
              <a:rPr lang="hu-HU" dirty="0" err="1" smtClean="0"/>
              <a:t>Erlang</a:t>
            </a:r>
            <a:r>
              <a:rPr lang="hu-HU" dirty="0" smtClean="0"/>
              <a:t> atomtáblája fix méretű, és atomok törlésére futás közben nincs lehetőség. Ezért ha nincs limitálva az atomok létrehozásának száma, könnyen </a:t>
            </a:r>
            <a:r>
              <a:rPr lang="hu-HU" dirty="0" err="1" smtClean="0"/>
              <a:t>atomtúlcsordulás</a:t>
            </a:r>
            <a:r>
              <a:rPr lang="hu-HU" dirty="0" smtClean="0"/>
              <a:t> következhet be a rendszerben.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sz="1200" dirty="0" smtClean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sz="1200" dirty="0" smtClean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5164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smtClean="0"/>
              <a:t>A diplomamunkámban a következő transzformációkat</a:t>
            </a:r>
            <a:r>
              <a:rPr lang="hu-HU" baseline="0" dirty="0" smtClean="0"/>
              <a:t> implementáltam, amelyek közül párat részletesebben bemutatok a továbbiakban.</a:t>
            </a:r>
          </a:p>
          <a:p>
            <a:endParaRPr lang="hu-HU" dirty="0" smtClean="0"/>
          </a:p>
          <a:p>
            <a:pPr marL="171450" indent="-171450">
              <a:buFontTx/>
              <a:buChar char="-"/>
            </a:pPr>
            <a:r>
              <a:rPr lang="hu-HU" dirty="0" smtClean="0"/>
              <a:t>Az első az </a:t>
            </a:r>
            <a:r>
              <a:rPr lang="hu-HU" dirty="0" err="1" smtClean="0"/>
              <a:t>os:cmd</a:t>
            </a:r>
            <a:r>
              <a:rPr lang="hu-HU" dirty="0" smtClean="0"/>
              <a:t> függvények bemeneti</a:t>
            </a:r>
            <a:r>
              <a:rPr lang="hu-HU" baseline="0" dirty="0" smtClean="0"/>
              <a:t> paraméterek tartalmának ellenőrzése -&gt; így </a:t>
            </a:r>
            <a:r>
              <a:rPr lang="hu-HU" baseline="0" dirty="0" smtClean="0"/>
              <a:t>elkerülhető </a:t>
            </a:r>
            <a:r>
              <a:rPr lang="hu-HU" baseline="0" dirty="0" smtClean="0"/>
              <a:t>az OS </a:t>
            </a:r>
            <a:r>
              <a:rPr lang="hu-HU" baseline="0" dirty="0" err="1" smtClean="0"/>
              <a:t>injection</a:t>
            </a:r>
            <a:endParaRPr lang="hu-HU" baseline="0" dirty="0" smtClean="0"/>
          </a:p>
          <a:p>
            <a:pPr marL="171450" indent="-171450">
              <a:buFontTx/>
              <a:buChar char="-"/>
            </a:pPr>
            <a:r>
              <a:rPr lang="hu-HU" baseline="0" dirty="0" smtClean="0"/>
              <a:t>A második a </a:t>
            </a:r>
            <a:r>
              <a:rPr lang="hu-HU" baseline="0" dirty="0" err="1" smtClean="0"/>
              <a:t>list_to_atom</a:t>
            </a:r>
            <a:r>
              <a:rPr lang="hu-HU" baseline="0" dirty="0" smtClean="0"/>
              <a:t> függvényhívások számának </a:t>
            </a:r>
            <a:r>
              <a:rPr lang="hu-HU" sz="12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korlátozása</a:t>
            </a:r>
            <a:r>
              <a:rPr lang="hu-HU" baseline="0" dirty="0" smtClean="0"/>
              <a:t> </a:t>
            </a:r>
            <a:r>
              <a:rPr lang="hu-HU" baseline="0" dirty="0" smtClean="0"/>
              <a:t>-&gt; ezzel elkerülhető az </a:t>
            </a:r>
            <a:r>
              <a:rPr lang="hu-HU" baseline="0" dirty="0" err="1" smtClean="0"/>
              <a:t>atomtúlcsordulás</a:t>
            </a:r>
            <a:endParaRPr lang="hu-HU" baseline="0" dirty="0" smtClean="0"/>
          </a:p>
          <a:p>
            <a:pPr marL="171450" indent="-171450">
              <a:buFontTx/>
              <a:buChar char="-"/>
            </a:pPr>
            <a:r>
              <a:rPr lang="hu-HU" baseline="0" dirty="0" smtClean="0"/>
              <a:t>A következő a nem biztonságos függvények biztonságosra cserélése</a:t>
            </a:r>
          </a:p>
          <a:p>
            <a:pPr marL="171450" indent="-171450">
              <a:buFontTx/>
              <a:buChar char="-"/>
            </a:pPr>
            <a:r>
              <a:rPr lang="hu-HU" dirty="0" smtClean="0"/>
              <a:t>Végezetül a</a:t>
            </a:r>
            <a:r>
              <a:rPr lang="hu-HU" baseline="0" dirty="0" smtClean="0"/>
              <a:t> külön </a:t>
            </a:r>
            <a:r>
              <a:rPr lang="hu-HU" baseline="0" dirty="0" smtClean="0"/>
              <a:t>alkalmazott </a:t>
            </a:r>
            <a:r>
              <a:rPr lang="hu-HU" baseline="0" dirty="0" err="1" smtClean="0"/>
              <a:t>spawn</a:t>
            </a:r>
            <a:r>
              <a:rPr lang="hu-HU" baseline="0" dirty="0" smtClean="0"/>
              <a:t> és link függvények atomi összekapcsolása -&gt; mellyel megakadályozható a versenyhelyzetek kialakulása</a:t>
            </a:r>
            <a:endParaRPr lang="hu-HU" dirty="0" smtClean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4218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smtClean="0"/>
              <a:t>Első körben általánosan</a:t>
            </a:r>
            <a:r>
              <a:rPr lang="hu-HU" baseline="0" dirty="0" smtClean="0"/>
              <a:t> bemutatnám a </a:t>
            </a:r>
            <a:r>
              <a:rPr lang="hu-HU" sz="1200" dirty="0" err="1" smtClean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list_to_atom</a:t>
            </a:r>
            <a:r>
              <a:rPr lang="hu-HU" sz="12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függvényhívások számának korlátozására</a:t>
            </a:r>
            <a:r>
              <a:rPr lang="hu-HU" sz="1200" baseline="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írt transzformációt.</a:t>
            </a:r>
            <a:endParaRPr lang="hu-HU" sz="1200" dirty="0" smtClean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u-HU" baseline="0" dirty="0" smtClean="0"/>
          </a:p>
          <a:p>
            <a:r>
              <a:rPr lang="hu-HU" baseline="0" dirty="0" smtClean="0"/>
              <a:t>Röviden összefoglalva úgy működik, hogy megkeresem a megbízhatatlan listát, ami meghatározza a létrehozandó </a:t>
            </a:r>
            <a:r>
              <a:rPr lang="hu-HU" baseline="0" dirty="0" smtClean="0"/>
              <a:t>atomok </a:t>
            </a:r>
            <a:r>
              <a:rPr lang="hu-HU" baseline="0" dirty="0" smtClean="0"/>
              <a:t>számát, illetve a sérülékenynek ítélt részt. Az adott fájl végére beszúrom az ellenőrző függvényt, amelyben egy előre definiált mennyiségkorlátozás szerepel. Ezt az újonnan beszúrt függvényt alkalmazom egy </a:t>
            </a:r>
            <a:r>
              <a:rPr lang="hu-HU" baseline="0" dirty="0" err="1" smtClean="0"/>
              <a:t>case</a:t>
            </a:r>
            <a:r>
              <a:rPr lang="hu-HU" baseline="0" dirty="0" smtClean="0"/>
              <a:t> kifejezés segítségével a generáló listára. Ha teljesül a feltétel, miszerint a futás száma kisebb, mint a korlátozás értéke, akkor végrehajtható a sérülékenynek ítélt rész. Ellenkező esetben terminál a kód.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7622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7842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9024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4103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5813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2938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359761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9232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5039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4793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686549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smtClean="0"/>
              <a:t>Az informatika és annak fejlődése rengeteg iparágra nagy hatással van.</a:t>
            </a:r>
            <a:r>
              <a:rPr lang="hu-HU" baseline="0" dirty="0" smtClean="0"/>
              <a:t> Ezzel párhuzamosan a </a:t>
            </a:r>
            <a:r>
              <a:rPr lang="hu-HU" baseline="0" dirty="0" err="1" smtClean="0"/>
              <a:t>kibertámadások</a:t>
            </a:r>
            <a:r>
              <a:rPr lang="hu-HU" baseline="0" dirty="0" smtClean="0"/>
              <a:t> száma és komplexitása is egyre csak nő, </a:t>
            </a:r>
            <a:r>
              <a:rPr lang="hu-HU" dirty="0" smtClean="0"/>
              <a:t>éppen</a:t>
            </a:r>
            <a:r>
              <a:rPr lang="hu-HU" baseline="0" dirty="0" smtClean="0"/>
              <a:t> ezért nagyon fontos a rendszerek megfelelő védelme</a:t>
            </a:r>
            <a:r>
              <a:rPr lang="hu-HU" dirty="0" smtClean="0"/>
              <a:t>. Egyetlen</a:t>
            </a:r>
            <a:r>
              <a:rPr lang="hu-HU" baseline="0" dirty="0" smtClean="0"/>
              <a:t> sérülékenység is elegendő lehet ahhoz, hogy a támadók hozzáférhessenek érzékeny adatokhoz, </a:t>
            </a:r>
            <a:r>
              <a:rPr lang="hu-HU" dirty="0" smtClean="0"/>
              <a:t>befolyásolhassák</a:t>
            </a:r>
            <a:r>
              <a:rPr lang="hu-HU" baseline="0" dirty="0" smtClean="0"/>
              <a:t> a vállalatok működését vagy </a:t>
            </a:r>
            <a:r>
              <a:rPr lang="hu-HU" dirty="0" smtClean="0"/>
              <a:t>akár megbéníthassák az egész rendszert.</a:t>
            </a:r>
          </a:p>
          <a:p>
            <a:endParaRPr lang="hu-HU" dirty="0" smtClean="0"/>
          </a:p>
          <a:p>
            <a:r>
              <a:rPr lang="hu-HU" dirty="0" smtClean="0"/>
              <a:t>Ahhoz,</a:t>
            </a:r>
            <a:r>
              <a:rPr lang="hu-HU" baseline="0" dirty="0" smtClean="0"/>
              <a:t> hogy a kód minél jobb minőségű és megbízhatóbb legyen, elengedhetetlen a lehetséges sérülékenységek korai azonosítása.</a:t>
            </a:r>
          </a:p>
          <a:p>
            <a:endParaRPr lang="hu-HU" baseline="0" dirty="0" smtClean="0"/>
          </a:p>
          <a:p>
            <a:r>
              <a:rPr lang="hu-HU" baseline="0" dirty="0" smtClean="0"/>
              <a:t>Éppen ezért </a:t>
            </a:r>
            <a:r>
              <a:rPr lang="hu-HU" dirty="0" smtClean="0"/>
              <a:t>több szabvány és</a:t>
            </a:r>
            <a:r>
              <a:rPr lang="hu-HU" baseline="0" dirty="0" smtClean="0"/>
              <a:t> irányelv is létrejött annak érdekében, hogy a vállalatok biztonságosabbá tegyék a </a:t>
            </a:r>
            <a:r>
              <a:rPr lang="hu-HU" baseline="0" dirty="0" err="1" smtClean="0"/>
              <a:t>szoftvereiket</a:t>
            </a:r>
            <a:r>
              <a:rPr lang="hu-HU" baseline="0" dirty="0" smtClean="0"/>
              <a:t> már a fejlesztés korai fázisában. A legelterjedtebb nemzetközi információbiztonsági szabvány az </a:t>
            </a:r>
            <a:r>
              <a:rPr lang="hu-HU" dirty="0" smtClean="0">
                <a:latin typeface="Arial" panose="020B0604020202020204" pitchFamily="34" charset="0"/>
                <a:cs typeface="Arial" panose="020B0604020202020204" pitchFamily="34" charset="0"/>
              </a:rPr>
              <a:t>ISO/IEC 27001, amely n</a:t>
            </a:r>
            <a:r>
              <a:rPr lang="hu-HU" dirty="0" smtClean="0"/>
              <a:t>emcsak a kód biztonságára fókuszál, hanem a teljes fejlesztési folyamatra is. Fontos, hogy ott is érvényesüljenek a biztonsági szempontok, mint például a megfelelő jogosultságkezelés, a verziókövetés és a fejlesztési </a:t>
            </a:r>
            <a:r>
              <a:rPr lang="hu-HU" dirty="0" err="1" smtClean="0"/>
              <a:t>környezetek</a:t>
            </a:r>
            <a:r>
              <a:rPr lang="hu-HU" dirty="0" smtClean="0"/>
              <a:t> megfelelő védelme. Egyik fő alapelve, hogy a biztonsági szabályozásokat a kockázatelemzés alapján kell meghatározni, és nem egy előre megadott sablon szerint. Egy</a:t>
            </a:r>
            <a:r>
              <a:rPr lang="hu-HU" baseline="0" dirty="0" smtClean="0"/>
              <a:t> másik ismertebb irányelveket kiadó szervezet az OWASP, amely a </a:t>
            </a:r>
            <a:r>
              <a:rPr lang="hu-HU" dirty="0" smtClean="0"/>
              <a:t>fejlesztői irányelvekre és a kódot érintő különböző sérülékenységekre összpontosít.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79688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smtClean="0"/>
              <a:t>Az </a:t>
            </a:r>
            <a:r>
              <a:rPr lang="hu-HU" dirty="0" err="1" smtClean="0"/>
              <a:t>Erlang</a:t>
            </a:r>
            <a:r>
              <a:rPr lang="hu-HU" baseline="0" dirty="0" smtClean="0"/>
              <a:t> </a:t>
            </a:r>
            <a:r>
              <a:rPr lang="hu-HU" dirty="0" smtClean="0"/>
              <a:t>egy nyílt forráskódú, deklaratív funkcionális programozási nyelv, amelyet eredetileg a telekommunikációs rendszerek fejlesztésére hozott létre az Ericsson. Alapvető feladata, hogy egyszerűvé tegye a párhuzamosan futtatható elosztott rendszerek készítését.</a:t>
            </a:r>
            <a:r>
              <a:rPr lang="hu-HU" baseline="0" dirty="0" smtClean="0"/>
              <a:t> </a:t>
            </a:r>
            <a:r>
              <a:rPr lang="hu-HU" dirty="0" smtClean="0"/>
              <a:t>Sok vállalkozás által kedvelt nyelv, mivel több olyan tulajdonsággal is rendelkezik, amelyek jelentősen elősegítik a biztonságos fejlesztést és a támadásokkal szembeni védelmet. A legfontosabb jellemzői közé tartozik a megváltoztathatatlan adatszerkezetek biztosítása, az elosztottság támogatása, a párhuzamosság megvalósítása és a hibatűrő modell.</a:t>
            </a:r>
          </a:p>
          <a:p>
            <a:endParaRPr lang="hu-HU" dirty="0" smtClean="0"/>
          </a:p>
          <a:p>
            <a:r>
              <a:rPr lang="hu-HU" dirty="0" smtClean="0"/>
              <a:t>Megváltoztathatatlan adatszerkezet: A funkcionális nyelvcsaládba való tartozás miatt az </a:t>
            </a:r>
            <a:r>
              <a:rPr lang="hu-HU" dirty="0" err="1" smtClean="0"/>
              <a:t>Erlangban</a:t>
            </a:r>
            <a:r>
              <a:rPr lang="hu-HU" dirty="0" smtClean="0"/>
              <a:t> az adatok létrehozás után nem módosíthatók.</a:t>
            </a:r>
          </a:p>
          <a:p>
            <a:endParaRPr lang="hu-HU" dirty="0" smtClean="0"/>
          </a:p>
          <a:p>
            <a:r>
              <a:rPr lang="hu-HU" dirty="0" smtClean="0"/>
              <a:t>Konkurens programozás:</a:t>
            </a:r>
            <a:r>
              <a:rPr lang="hu-HU" baseline="0" dirty="0" smtClean="0"/>
              <a:t> </a:t>
            </a:r>
            <a:r>
              <a:rPr lang="hu-HU" dirty="0" smtClean="0"/>
              <a:t>A folyamatok egymástól teljesen elszigetelve, izoláltan futnak anélkül, hogy kihatással lennének a másik szálra. Saját memóriaterülettel rendelkeznek, és csakis üzenetküldéseken keresztül kommunikálnak egymással. </a:t>
            </a:r>
          </a:p>
          <a:p>
            <a:endParaRPr lang="hu-HU" dirty="0" smtClean="0"/>
          </a:p>
          <a:p>
            <a:r>
              <a:rPr lang="hu-HU" dirty="0" smtClean="0"/>
              <a:t>Elosztott programozás: A folyamatok akár több virtuális gépen is szétoszthatók, amelyek között az információáramlás változatlanul működik. A csomópontok között a kommunikáció transzparens, így ha kiesik egy pont, a többi ugyanúgy tud tovább működni</a:t>
            </a:r>
          </a:p>
          <a:p>
            <a:endParaRPr lang="hu-HU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 smtClean="0"/>
              <a:t>Hibatűrési modell: A nyelv "</a:t>
            </a:r>
            <a:r>
              <a:rPr lang="hu-HU" dirty="0" err="1" smtClean="0"/>
              <a:t>Let</a:t>
            </a:r>
            <a:r>
              <a:rPr lang="hu-HU" dirty="0" smtClean="0"/>
              <a:t> it </a:t>
            </a:r>
            <a:r>
              <a:rPr lang="hu-HU" dirty="0" err="1" smtClean="0"/>
              <a:t>crash</a:t>
            </a:r>
            <a:r>
              <a:rPr lang="hu-HU" dirty="0" smtClean="0"/>
              <a:t>„</a:t>
            </a:r>
            <a:r>
              <a:rPr lang="hu-HU" baseline="0" dirty="0" smtClean="0"/>
              <a:t> </a:t>
            </a:r>
            <a:r>
              <a:rPr lang="hu-HU" dirty="0" smtClean="0"/>
              <a:t>filozófiája szerint nem minden hibát kell megelőzni, hanem gondoskodni kell arról, hogy a hibák ne terjedhessenek tovább a rendszerben. Ha egy folyamat hibát észlel, akkor leáll, és annak helyreállítását egy felügyelő (</a:t>
            </a:r>
            <a:r>
              <a:rPr lang="hu-HU" dirty="0" err="1" smtClean="0"/>
              <a:t>supervisor</a:t>
            </a:r>
            <a:r>
              <a:rPr lang="hu-HU" dirty="0" smtClean="0"/>
              <a:t>) folyamat végzi</a:t>
            </a:r>
            <a:r>
              <a:rPr lang="hu-HU" baseline="0" dirty="0" smtClean="0"/>
              <a:t> (például </a:t>
            </a:r>
            <a:r>
              <a:rPr lang="hu-HU" baseline="0" dirty="0" err="1" smtClean="0"/>
              <a:t>ú</a:t>
            </a:r>
            <a:r>
              <a:rPr lang="hu-HU" dirty="0" err="1" smtClean="0"/>
              <a:t>jraindíthatja</a:t>
            </a:r>
            <a:r>
              <a:rPr lang="hu-HU" dirty="0" smtClean="0"/>
              <a:t> a problémás folyamatot).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 smtClean="0"/>
              <a:t>Együttműködésből:</a:t>
            </a:r>
            <a:r>
              <a:rPr lang="hu-HU" baseline="0" dirty="0" smtClean="0"/>
              <a:t> </a:t>
            </a:r>
            <a:r>
              <a:rPr lang="hu-HU" dirty="0" err="1" smtClean="0"/>
              <a:t>Porthasználat</a:t>
            </a:r>
            <a:r>
              <a:rPr lang="hu-HU" dirty="0" smtClean="0"/>
              <a:t>, Dinamikusan betölthető driverek,</a:t>
            </a:r>
            <a:r>
              <a:rPr lang="hu-HU" baseline="0" dirty="0" smtClean="0"/>
              <a:t> </a:t>
            </a:r>
            <a:r>
              <a:rPr lang="hu-HU" dirty="0" smtClean="0"/>
              <a:t>NIF-</a:t>
            </a:r>
            <a:r>
              <a:rPr lang="hu-HU" dirty="0" err="1" smtClean="0"/>
              <a:t>ek</a:t>
            </a:r>
            <a:r>
              <a:rPr lang="hu-HU" dirty="0" smtClean="0"/>
              <a:t> (C nyelven írt külső függvények) --- bemenet ellenőrzés.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 smtClean="0"/>
              <a:t>Konkurens programozásból:</a:t>
            </a:r>
            <a:r>
              <a:rPr lang="hu-HU" baseline="0" dirty="0" smtClean="0"/>
              <a:t> </a:t>
            </a:r>
            <a:r>
              <a:rPr lang="hu-HU" dirty="0" smtClean="0"/>
              <a:t>Folyamatkezelés (</a:t>
            </a:r>
            <a:r>
              <a:rPr lang="hu-HU" dirty="0" err="1" smtClean="0"/>
              <a:t>spawn</a:t>
            </a:r>
            <a:r>
              <a:rPr lang="hu-HU" dirty="0" smtClean="0"/>
              <a:t>-link) - versenyhelyzet, Ütemezés állítás - éheztetés, ETS tábla kezelés – versenyhelyzet, inkonzisztens állapot.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 smtClean="0"/>
              <a:t>Elosztott programozásból: Hálózati hozzáférés, </a:t>
            </a:r>
            <a:r>
              <a:rPr lang="hu-HU" dirty="0" err="1" smtClean="0"/>
              <a:t>SSl</a:t>
            </a:r>
            <a:r>
              <a:rPr lang="hu-HU" dirty="0" smtClean="0"/>
              <a:t>/TLS beállítások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 smtClean="0"/>
              <a:t>Beszúrásos támadások: OS parancsok,</a:t>
            </a:r>
            <a:r>
              <a:rPr lang="hu-HU" baseline="0" dirty="0" smtClean="0"/>
              <a:t> </a:t>
            </a:r>
            <a:r>
              <a:rPr lang="hu-HU" dirty="0" smtClean="0"/>
              <a:t>Fájlokkal kapcsolatos műveletek, Dinamikusan fordított és betöltött programkódok --- bemenet ellenőrzés.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 smtClean="0"/>
              <a:t>Memória túlterhelés:</a:t>
            </a:r>
            <a:r>
              <a:rPr lang="hu-HU" baseline="0" dirty="0" smtClean="0"/>
              <a:t> </a:t>
            </a:r>
            <a:r>
              <a:rPr lang="hu-HU" dirty="0" smtClean="0"/>
              <a:t>Az atomok értékei egy globális, fix mérettel rendelkező atomtáblában tárolódnak. Az új atomok futásidőben kerülnek be a táblába, viszont a fel nem használtak eltávolítására nincs lehetőség. Amint az atomok száma meghaladja a tábla maximális értékét, a virtuális gép összeomolhat, és szolgáltatáskiesést (</a:t>
            </a:r>
            <a:r>
              <a:rPr lang="hu-HU" dirty="0" err="1" smtClean="0"/>
              <a:t>DoS</a:t>
            </a:r>
            <a:r>
              <a:rPr lang="hu-HU" dirty="0" smtClean="0"/>
              <a:t> / </a:t>
            </a:r>
            <a:r>
              <a:rPr lang="hu-HU" dirty="0" err="1" smtClean="0"/>
              <a:t>DDoS</a:t>
            </a:r>
            <a:r>
              <a:rPr lang="hu-HU" dirty="0" smtClean="0"/>
              <a:t>) eredményezhet. Ezért óvatosan kell kezelni a dinamikus atomképzést és az adatok </a:t>
            </a:r>
            <a:r>
              <a:rPr lang="hu-HU" dirty="0" err="1" smtClean="0"/>
              <a:t>deszerializálását</a:t>
            </a:r>
            <a:r>
              <a:rPr lang="hu-HU" dirty="0" smtClean="0"/>
              <a:t> (</a:t>
            </a:r>
            <a:r>
              <a:rPr lang="hu-HU" dirty="0" err="1" smtClean="0"/>
              <a:t>stringből</a:t>
            </a:r>
            <a:r>
              <a:rPr lang="hu-HU" dirty="0" smtClean="0"/>
              <a:t> objektum) eredményező</a:t>
            </a:r>
            <a:r>
              <a:rPr lang="hu-HU" baseline="0" dirty="0" smtClean="0"/>
              <a:t> függvényeket, illetve célszerű ellenőrizni a bemeneti paramétereiket is.</a:t>
            </a:r>
            <a:endParaRPr lang="hu-HU" dirty="0" smtClean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21618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smtClean="0"/>
              <a:t>Szoftverfejlesztés közben az ember könnyen követhet el olyan hibákat, amelyek csak futási időben jönnek elő. Ezek az esetek lassítják a fejlesztési folyamatot, és megbízhatatlanná teszik a rendszert.</a:t>
            </a:r>
          </a:p>
          <a:p>
            <a:endParaRPr lang="hu-HU" dirty="0" smtClean="0"/>
          </a:p>
          <a:p>
            <a:r>
              <a:rPr lang="hu-HU" dirty="0" smtClean="0"/>
              <a:t>Az ilyen jellegű problémák kezelésére fejlesztették ki az automatizált elemző szoftvereket, amelyek statikus kódelemzés segítségével képesek költséghatékonyabbá tenni a fejlesztési folyamatokat. Minél hamarabb találják meg a hibát, annál olcsóbb és egyszerűbb lesz a javítása.</a:t>
            </a:r>
          </a:p>
          <a:p>
            <a:r>
              <a:rPr lang="hu-HU" dirty="0" smtClean="0"/>
              <a:t>A forráskódot még futtatás előtt átvizsgálja a program, vagy még mielőtt egy ember letesztelné a szoftver működését. Így már a fejlesztés elején ki lehet javítani a hibákat vagy a lehetséges sérülékenységeket,</a:t>
            </a:r>
            <a:r>
              <a:rPr lang="hu-HU" baseline="0" dirty="0" smtClean="0"/>
              <a:t> így jelentősen nő a kód minősége, </a:t>
            </a:r>
            <a:r>
              <a:rPr lang="hu-HU" dirty="0" smtClean="0"/>
              <a:t>karbantarthatósága és biztonsága.</a:t>
            </a:r>
          </a:p>
          <a:p>
            <a:endParaRPr lang="hu-HU" dirty="0" smtClean="0"/>
          </a:p>
          <a:p>
            <a:r>
              <a:rPr lang="hu-HU" dirty="0" smtClean="0"/>
              <a:t>A </a:t>
            </a:r>
            <a:r>
              <a:rPr lang="hu-HU" dirty="0" err="1" smtClean="0"/>
              <a:t>RefactorErl</a:t>
            </a:r>
            <a:r>
              <a:rPr lang="hu-HU" baseline="0" dirty="0" smtClean="0"/>
              <a:t> </a:t>
            </a:r>
            <a:r>
              <a:rPr lang="hu-HU" dirty="0" smtClean="0"/>
              <a:t>egy nyílt forráskódú statikus elemző és transzformáló eszköz, amelyet az ELTE fejlesztett ki az </a:t>
            </a:r>
            <a:r>
              <a:rPr lang="hu-HU" dirty="0" err="1" smtClean="0"/>
              <a:t>Erlang</a:t>
            </a:r>
            <a:r>
              <a:rPr lang="hu-HU" baseline="0" dirty="0" smtClean="0"/>
              <a:t> nyelvhez. </a:t>
            </a:r>
            <a:r>
              <a:rPr lang="hu-HU" dirty="0" smtClean="0"/>
              <a:t>Elsősorban olyan forráskód transzformációkat implementáltak benne, amelyek biztonságosan alakítják át a kódot anélkül, hogy megváltozna a program viselkedése vagy jelentése.</a:t>
            </a:r>
            <a:r>
              <a:rPr lang="hu-HU" baseline="0" dirty="0" smtClean="0"/>
              <a:t> </a:t>
            </a:r>
            <a:r>
              <a:rPr lang="hu-HU" dirty="0" smtClean="0"/>
              <a:t>Ma már nem csak </a:t>
            </a:r>
            <a:r>
              <a:rPr lang="hu-HU" dirty="0" err="1" smtClean="0"/>
              <a:t>kódbeli</a:t>
            </a:r>
            <a:r>
              <a:rPr lang="hu-HU" dirty="0" smtClean="0"/>
              <a:t> </a:t>
            </a:r>
            <a:r>
              <a:rPr lang="hu-HU" dirty="0" err="1" smtClean="0"/>
              <a:t>refaktorálások</a:t>
            </a:r>
            <a:r>
              <a:rPr lang="hu-HU" dirty="0" smtClean="0"/>
              <a:t> hajthatók végre, hanem segít a kódrészek megértésében, karbantartásában, illetve különféle elemzésekben (például biztonsági) és keresésekben is.</a:t>
            </a:r>
          </a:p>
          <a:p>
            <a:endParaRPr lang="hu-HU" dirty="0" smtClean="0"/>
          </a:p>
          <a:p>
            <a:r>
              <a:rPr lang="hu-HU" dirty="0" smtClean="0"/>
              <a:t>A </a:t>
            </a:r>
            <a:r>
              <a:rPr lang="hu-HU" dirty="0" err="1" smtClean="0"/>
              <a:t>RefactorErl</a:t>
            </a:r>
            <a:r>
              <a:rPr lang="hu-HU" dirty="0" smtClean="0"/>
              <a:t> az </a:t>
            </a:r>
            <a:r>
              <a:rPr lang="hu-HU" dirty="0" err="1" smtClean="0"/>
              <a:t>Erlang</a:t>
            </a:r>
            <a:r>
              <a:rPr lang="hu-HU" dirty="0" smtClean="0"/>
              <a:t> nyelven írt forráskódot egy szemantikus programgráfban</a:t>
            </a:r>
            <a:r>
              <a:rPr lang="hu-HU" baseline="0" dirty="0" smtClean="0"/>
              <a:t> </a:t>
            </a:r>
            <a:r>
              <a:rPr lang="hu-HU" dirty="0" smtClean="0"/>
              <a:t>reprezentálja.</a:t>
            </a:r>
            <a:r>
              <a:rPr lang="hu-HU" baseline="0" dirty="0" smtClean="0"/>
              <a:t> </a:t>
            </a:r>
            <a:r>
              <a:rPr lang="hu-HU" dirty="0" smtClean="0"/>
              <a:t>Az elemzéseknél ez a gráf kerül bejárásra, és az abban tárolt információkat használja fel a további elemzésekre az eszköz. Teljesen új éleket és csúcsokat is hozzá lehet adni a már meglévő gráfhoz.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095593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smtClean="0"/>
              <a:t>A </a:t>
            </a:r>
            <a:r>
              <a:rPr lang="hu-HU" dirty="0" err="1" smtClean="0"/>
              <a:t>RefactorErl</a:t>
            </a:r>
            <a:r>
              <a:rPr lang="hu-HU" baseline="0" dirty="0" smtClean="0"/>
              <a:t> </a:t>
            </a:r>
            <a:r>
              <a:rPr lang="hu-HU" dirty="0" smtClean="0"/>
              <a:t>egy nyílt forráskódú statikus elemző és transzformáló eszköz, amelyet az ELTE fejlesztett ki az </a:t>
            </a:r>
            <a:r>
              <a:rPr lang="hu-HU" dirty="0" err="1" smtClean="0"/>
              <a:t>Erlang</a:t>
            </a:r>
            <a:r>
              <a:rPr lang="hu-HU" baseline="0" dirty="0" smtClean="0"/>
              <a:t> nyelvhez. </a:t>
            </a:r>
            <a:r>
              <a:rPr lang="hu-HU" dirty="0" smtClean="0"/>
              <a:t>Elsősorban olyan forráskód transzformációkat implementáltak benne, amelyek biztonságosan alakítják át a kódot anélkül, hogy megváltozna a program viselkedése vagy jelentése.</a:t>
            </a:r>
            <a:r>
              <a:rPr lang="hu-HU" baseline="0" dirty="0" smtClean="0"/>
              <a:t> </a:t>
            </a:r>
            <a:r>
              <a:rPr lang="hu-HU" dirty="0" smtClean="0"/>
              <a:t>Ma már nem csak </a:t>
            </a:r>
            <a:r>
              <a:rPr lang="hu-HU" dirty="0" err="1" smtClean="0"/>
              <a:t>kódbeli</a:t>
            </a:r>
            <a:r>
              <a:rPr lang="hu-HU" dirty="0" smtClean="0"/>
              <a:t> </a:t>
            </a:r>
            <a:r>
              <a:rPr lang="hu-HU" dirty="0" err="1" smtClean="0"/>
              <a:t>refaktorálások</a:t>
            </a:r>
            <a:r>
              <a:rPr lang="hu-HU" dirty="0" smtClean="0"/>
              <a:t> hajthatók végre, hanem segít a kódrészek megértésében, karbantartásában, illetve különféle elemzésekben (például biztonsági) és keresésekben is.</a:t>
            </a:r>
          </a:p>
          <a:p>
            <a:endParaRPr lang="hu-HU" dirty="0" smtClean="0"/>
          </a:p>
          <a:p>
            <a:r>
              <a:rPr lang="hu-HU" dirty="0" smtClean="0"/>
              <a:t>A </a:t>
            </a:r>
            <a:r>
              <a:rPr lang="hu-HU" dirty="0" err="1" smtClean="0"/>
              <a:t>RefactorErl</a:t>
            </a:r>
            <a:r>
              <a:rPr lang="hu-HU" dirty="0" smtClean="0"/>
              <a:t> az </a:t>
            </a:r>
            <a:r>
              <a:rPr lang="hu-HU" dirty="0" err="1" smtClean="0"/>
              <a:t>Erlang</a:t>
            </a:r>
            <a:r>
              <a:rPr lang="hu-HU" dirty="0" smtClean="0"/>
              <a:t> nyelven írt forráskódot egy szemantikus programgráfban</a:t>
            </a:r>
            <a:r>
              <a:rPr lang="hu-HU" baseline="0" dirty="0" smtClean="0"/>
              <a:t> </a:t>
            </a:r>
            <a:r>
              <a:rPr lang="hu-HU" dirty="0" smtClean="0"/>
              <a:t>reprezentálja.</a:t>
            </a:r>
            <a:r>
              <a:rPr lang="hu-HU" baseline="0" dirty="0" smtClean="0"/>
              <a:t> </a:t>
            </a:r>
            <a:r>
              <a:rPr lang="hu-HU" dirty="0" smtClean="0"/>
              <a:t>Az elemzéseknél ez a gráf kerül bejárásra, és az abban tárolt információkat használja fel a további elemzésekre az eszköz. Teljesen új éleket és csúcsokat is hozzá lehet adni a már meglévő gráfhoz.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19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2642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 smtClean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90661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32592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CBF5-A446-4922-B374-CEAB447E0580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7871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1AD7-5972-4914-843B-2D1C931CBC7C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C963-4ADE-4FB4-B787-F120E7F3F1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26307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1AD7-5972-4914-843B-2D1C931CBC7C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C963-4ADE-4FB4-B787-F120E7F3F1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2700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1AD7-5972-4914-843B-2D1C931CBC7C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C963-4ADE-4FB4-B787-F120E7F3F1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41883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1AD7-5972-4914-843B-2D1C931CBC7C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C963-4ADE-4FB4-B787-F120E7F3F1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0669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1AD7-5972-4914-843B-2D1C931CBC7C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C963-4ADE-4FB4-B787-F120E7F3F1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848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1AD7-5972-4914-843B-2D1C931CBC7C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C963-4ADE-4FB4-B787-F120E7F3F1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3869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1AD7-5972-4914-843B-2D1C931CBC7C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C963-4ADE-4FB4-B787-F120E7F3F1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1817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1AD7-5972-4914-843B-2D1C931CBC7C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C963-4ADE-4FB4-B787-F120E7F3F1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5278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1AD7-5972-4914-843B-2D1C931CBC7C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C963-4ADE-4FB4-B787-F120E7F3F1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989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1AD7-5972-4914-843B-2D1C931CBC7C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C963-4ADE-4FB4-B787-F120E7F3F1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5940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1AD7-5972-4914-843B-2D1C931CBC7C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C963-4ADE-4FB4-B787-F120E7F3F1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082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1AD7-5972-4914-843B-2D1C931CBC7C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C963-4ADE-4FB4-B787-F120E7F3F118}" type="slidenum">
              <a:rPr lang="hu-HU" smtClean="0"/>
              <a:t>‹#›</a:t>
            </a:fld>
            <a:endParaRPr lang="hu-H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695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1AD7-5972-4914-843B-2D1C931CBC7C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C963-4ADE-4FB4-B787-F120E7F3F1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1807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1AD7-5972-4914-843B-2D1C931CBC7C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C963-4ADE-4FB4-B787-F120E7F3F1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2919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1AD7-5972-4914-843B-2D1C931CBC7C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C963-4ADE-4FB4-B787-F120E7F3F1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939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1AD7-5972-4914-843B-2D1C931CBC7C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C963-4ADE-4FB4-B787-F120E7F3F1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308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1AD7-5972-4914-843B-2D1C931CBC7C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C963-4ADE-4FB4-B787-F120E7F3F1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858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9731AD7-5972-4914-843B-2D1C931CBC7C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749C963-4ADE-4FB4-B787-F120E7F3F1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043017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  <p:sldLayoutId id="2147483979" r:id="rId12"/>
    <p:sldLayoutId id="2147483980" r:id="rId13"/>
    <p:sldLayoutId id="2147483981" r:id="rId14"/>
    <p:sldLayoutId id="2147483982" r:id="rId15"/>
    <p:sldLayoutId id="2147483983" r:id="rId16"/>
    <p:sldLayoutId id="214748398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images/spg_graph.PN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images/spg_graph.PNG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314950"/>
          </a:xfrm>
        </p:spPr>
        <p:txBody>
          <a:bodyPr wrap="square" anchor="ctr" anchorCtr="0">
            <a:normAutofit/>
          </a:bodyPr>
          <a:lstStyle/>
          <a:p>
            <a:pPr algn="ctr"/>
            <a:r>
              <a:rPr lang="hu-HU" sz="5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Nem biztonságos kód biztonságossá transzformálása a </a:t>
            </a:r>
            <a:r>
              <a:rPr lang="hu-HU" sz="5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RefactorErl</a:t>
            </a:r>
            <a:r>
              <a:rPr lang="hu-HU" sz="5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segítségével 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7600950" y="4476750"/>
            <a:ext cx="4591050" cy="533400"/>
          </a:xfrm>
        </p:spPr>
        <p:txBody>
          <a:bodyPr>
            <a:normAutofit/>
          </a:bodyPr>
          <a:lstStyle/>
          <a:p>
            <a:pPr algn="ctr"/>
            <a:r>
              <a:rPr lang="hu-H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Budapest, 2026</a:t>
            </a:r>
            <a:endParaRPr lang="hu-H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lcím 2"/>
          <p:cNvSpPr txBox="1">
            <a:spLocks/>
          </p:cNvSpPr>
          <p:nvPr/>
        </p:nvSpPr>
        <p:spPr>
          <a:xfrm>
            <a:off x="0" y="4476750"/>
            <a:ext cx="5632450" cy="533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Juhász Alexandra Nelli</a:t>
            </a:r>
            <a:endParaRPr lang="hu-H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95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Csoportba foglalás 8"/>
          <p:cNvGrpSpPr/>
          <p:nvPr/>
        </p:nvGrpSpPr>
        <p:grpSpPr>
          <a:xfrm>
            <a:off x="6372226" y="1704975"/>
            <a:ext cx="5819774" cy="3600000"/>
            <a:chOff x="6372226" y="1704975"/>
            <a:chExt cx="5819774" cy="3600000"/>
          </a:xfrm>
        </p:grpSpPr>
        <p:sp>
          <p:nvSpPr>
            <p:cNvPr id="10" name="Téglalap 9"/>
            <p:cNvSpPr/>
            <p:nvPr/>
          </p:nvSpPr>
          <p:spPr>
            <a:xfrm>
              <a:off x="6372226" y="2562222"/>
              <a:ext cx="5819774" cy="1619249"/>
            </a:xfrm>
            <a:prstGeom prst="rect">
              <a:avLst/>
            </a:prstGeom>
            <a:gradFill flip="none" rotWithShape="1">
              <a:gsLst>
                <a:gs pos="20000">
                  <a:srgbClr val="124963">
                    <a:alpha val="20000"/>
                  </a:srgbClr>
                </a:gs>
                <a:gs pos="68000">
                  <a:srgbClr val="1F7599">
                    <a:alpha val="40000"/>
                  </a:srgbClr>
                </a:gs>
                <a:gs pos="100000">
                  <a:srgbClr val="66BDE0">
                    <a:alpha val="2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pic>
          <p:nvPicPr>
            <p:cNvPr id="11" name="Kép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2000" y="1704975"/>
              <a:ext cx="3600000" cy="3600000"/>
            </a:xfrm>
            <a:prstGeom prst="rect">
              <a:avLst/>
            </a:prstGeom>
          </p:spPr>
        </p:pic>
      </p:grp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76300" y="1825624"/>
            <a:ext cx="6438899" cy="4752975"/>
          </a:xfrm>
        </p:spPr>
        <p:txBody>
          <a:bodyPr>
            <a:normAutofit/>
          </a:bodyPr>
          <a:lstStyle/>
          <a:p>
            <a:r>
              <a:rPr lang="hu-HU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Statikus elemző és transzformáló </a:t>
            </a:r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eszköz az </a:t>
            </a:r>
            <a:r>
              <a:rPr lang="hu-HU" sz="2400" dirty="0" err="1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Erlang</a:t>
            </a:r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nyelvhez</a:t>
            </a:r>
            <a:endParaRPr lang="hu-HU" sz="2400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sz="2400" dirty="0" err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Kódbeli</a:t>
            </a:r>
            <a:r>
              <a:rPr lang="hu-HU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400" dirty="0" err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refaktorálások</a:t>
            </a:r>
            <a:r>
              <a:rPr lang="hu-HU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különféle </a:t>
            </a:r>
            <a:r>
              <a:rPr lang="hu-HU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lekérdezések, elemzések</a:t>
            </a:r>
          </a:p>
          <a:p>
            <a:r>
              <a:rPr lang="hu-HU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Szemantikus programgráfban reprezentálja a </a:t>
            </a:r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forráskódot</a:t>
            </a:r>
          </a:p>
          <a:p>
            <a:r>
              <a:rPr lang="hu-HU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 action="ppaction://hlinkfile"/>
              </a:rPr>
              <a:t>Szemantikus </a:t>
            </a:r>
            <a:r>
              <a:rPr lang="hu-HU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 action="ppaction://hlinkfile"/>
              </a:rPr>
              <a:t>programgráf képe</a:t>
            </a:r>
            <a:endParaRPr lang="hu-HU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ím 1"/>
          <p:cNvSpPr txBox="1">
            <a:spLocks/>
          </p:cNvSpPr>
          <p:nvPr/>
        </p:nvSpPr>
        <p:spPr>
          <a:xfrm>
            <a:off x="0" y="365125"/>
            <a:ext cx="12192000" cy="733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hu-HU" sz="4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RefactorErl</a:t>
            </a:r>
            <a:endParaRPr lang="hu-HU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Lekerekített téglalap 6"/>
          <p:cNvSpPr/>
          <p:nvPr/>
        </p:nvSpPr>
        <p:spPr>
          <a:xfrm>
            <a:off x="876300" y="4810871"/>
            <a:ext cx="5848349" cy="1892302"/>
          </a:xfrm>
          <a:prstGeom prst="roundRect">
            <a:avLst>
              <a:gd name="adj" fmla="val 21732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sz="2000" dirty="0" smtClean="0">
                <a:latin typeface="Consolas" panose="020B0609020204030204" pitchFamily="49" charset="0"/>
              </a:rPr>
              <a:t>-</a:t>
            </a:r>
            <a:r>
              <a:rPr lang="hu-HU" sz="2000" dirty="0" err="1" smtClean="0">
                <a:solidFill>
                  <a:srgbClr val="B27BCB"/>
                </a:solidFill>
                <a:latin typeface="Consolas" panose="020B0609020204030204" pitchFamily="49" charset="0"/>
              </a:rPr>
              <a:t>module</a:t>
            </a:r>
            <a:r>
              <a:rPr lang="hu-HU" sz="2000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sz="2000" dirty="0" err="1" smtClean="0">
                <a:solidFill>
                  <a:srgbClr val="2BC7A2"/>
                </a:solidFill>
                <a:latin typeface="Consolas" panose="020B0609020204030204" pitchFamily="49" charset="0"/>
              </a:rPr>
              <a:t>test_code</a:t>
            </a:r>
            <a:r>
              <a:rPr lang="hu-HU" sz="2000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sz="20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hu-HU" sz="20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-</a:t>
            </a:r>
            <a:r>
              <a:rPr lang="hu-HU" sz="2000" dirty="0" smtClean="0">
                <a:solidFill>
                  <a:srgbClr val="B27BCB"/>
                </a:solidFill>
                <a:latin typeface="Consolas" panose="020B0609020204030204" pitchFamily="49" charset="0"/>
              </a:rPr>
              <a:t>export</a:t>
            </a:r>
            <a:r>
              <a:rPr lang="hu-HU" sz="2000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sz="2000" dirty="0" smtClean="0">
                <a:solidFill>
                  <a:srgbClr val="B27BCB"/>
                </a:solidFill>
                <a:latin typeface="Consolas" panose="020B0609020204030204" pitchFamily="49" charset="0"/>
              </a:rPr>
              <a:t>[</a:t>
            </a:r>
            <a:r>
              <a:rPr lang="hu-HU" sz="2000" dirty="0" smtClean="0">
                <a:solidFill>
                  <a:srgbClr val="FCF5C0"/>
                </a:solidFill>
                <a:latin typeface="Consolas" panose="020B0609020204030204" pitchFamily="49" charset="0"/>
              </a:rPr>
              <a:t>test/1</a:t>
            </a:r>
            <a:r>
              <a:rPr lang="hu-HU" sz="2000" dirty="0" smtClean="0">
                <a:solidFill>
                  <a:srgbClr val="B27BCB"/>
                </a:solidFill>
                <a:latin typeface="Consolas" panose="020B0609020204030204" pitchFamily="49" charset="0"/>
              </a:rPr>
              <a:t>]</a:t>
            </a:r>
            <a:r>
              <a:rPr lang="hu-HU" sz="2000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sz="20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endParaRPr lang="hu-HU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sz="2000" dirty="0">
                <a:solidFill>
                  <a:srgbClr val="FCF5C0"/>
                </a:solidFill>
                <a:latin typeface="Consolas" panose="020B0609020204030204" pitchFamily="49" charset="0"/>
              </a:rPr>
              <a:t>t</a:t>
            </a:r>
            <a:r>
              <a:rPr lang="hu-HU" sz="2000" dirty="0" smtClean="0">
                <a:solidFill>
                  <a:srgbClr val="FCF5C0"/>
                </a:solidFill>
                <a:latin typeface="Consolas" panose="020B0609020204030204" pitchFamily="49" charset="0"/>
              </a:rPr>
              <a:t>est</a:t>
            </a:r>
            <a:r>
              <a:rPr lang="hu-HU" sz="2000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sz="2000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Arg</a:t>
            </a:r>
            <a:r>
              <a:rPr lang="hu-HU" sz="2000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sz="20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sz="20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hu-HU" sz="2000" dirty="0" err="1" smtClean="0">
                <a:solidFill>
                  <a:srgbClr val="2BC7A2"/>
                </a:solidFill>
                <a:latin typeface="Consolas" panose="020B0609020204030204" pitchFamily="49" charset="0"/>
              </a:rPr>
              <a:t>io</a:t>
            </a:r>
            <a:r>
              <a:rPr lang="hu-HU" sz="2000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hu-HU" sz="2000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format</a:t>
            </a:r>
            <a:r>
              <a:rPr lang="hu-HU" sz="2000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sz="2000" dirty="0" smtClean="0">
                <a:solidFill>
                  <a:srgbClr val="E89874"/>
                </a:solidFill>
                <a:latin typeface="Consolas" panose="020B0609020204030204" pitchFamily="49" charset="0"/>
              </a:rPr>
              <a:t>”Hello World! ” </a:t>
            </a:r>
            <a:r>
              <a:rPr lang="hu-HU" sz="20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++ </a:t>
            </a:r>
            <a:r>
              <a:rPr lang="hu-HU" sz="2000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Arg</a:t>
            </a:r>
            <a:r>
              <a:rPr lang="hu-HU" sz="2000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sz="20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1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Csoportba foglalás 7"/>
          <p:cNvGrpSpPr/>
          <p:nvPr/>
        </p:nvGrpSpPr>
        <p:grpSpPr>
          <a:xfrm>
            <a:off x="6372226" y="1705196"/>
            <a:ext cx="5819774" cy="3600000"/>
            <a:chOff x="6372226" y="1705196"/>
            <a:chExt cx="5819774" cy="3600000"/>
          </a:xfrm>
        </p:grpSpPr>
        <p:sp>
          <p:nvSpPr>
            <p:cNvPr id="10" name="Téglalap 9"/>
            <p:cNvSpPr/>
            <p:nvPr/>
          </p:nvSpPr>
          <p:spPr>
            <a:xfrm>
              <a:off x="6372226" y="2562222"/>
              <a:ext cx="5819774" cy="1619249"/>
            </a:xfrm>
            <a:prstGeom prst="rect">
              <a:avLst/>
            </a:prstGeom>
            <a:gradFill flip="none" rotWithShape="1">
              <a:gsLst>
                <a:gs pos="20000">
                  <a:srgbClr val="124963">
                    <a:alpha val="20000"/>
                  </a:srgbClr>
                </a:gs>
                <a:gs pos="68000">
                  <a:srgbClr val="1F7599">
                    <a:alpha val="40000"/>
                  </a:srgbClr>
                </a:gs>
                <a:gs pos="100000">
                  <a:srgbClr val="66BDE0">
                    <a:alpha val="2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pic>
          <p:nvPicPr>
            <p:cNvPr id="13" name="Kép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2000" y="1705196"/>
              <a:ext cx="3600000" cy="3600000"/>
            </a:xfrm>
            <a:prstGeom prst="rect">
              <a:avLst/>
            </a:prstGeom>
          </p:spPr>
        </p:pic>
      </p:grpSp>
      <p:sp>
        <p:nvSpPr>
          <p:cNvPr id="4" name="Cím 1"/>
          <p:cNvSpPr txBox="1">
            <a:spLocks/>
          </p:cNvSpPr>
          <p:nvPr/>
        </p:nvSpPr>
        <p:spPr>
          <a:xfrm>
            <a:off x="0" y="365125"/>
            <a:ext cx="12192000" cy="733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Probléma ismertetése</a:t>
            </a:r>
            <a:endParaRPr lang="hu-HU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Lekerekített téglalap 4"/>
          <p:cNvSpPr/>
          <p:nvPr/>
        </p:nvSpPr>
        <p:spPr>
          <a:xfrm>
            <a:off x="1123953" y="3320713"/>
            <a:ext cx="4200522" cy="1650994"/>
          </a:xfrm>
          <a:prstGeom prst="roundRect">
            <a:avLst>
              <a:gd name="adj" fmla="val 21732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smtClean="0">
                <a:latin typeface="Consolas" panose="020B0609020204030204" pitchFamily="49" charset="0"/>
              </a:rPr>
              <a:t>-</a:t>
            </a:r>
            <a:r>
              <a:rPr lang="hu-HU" dirty="0" err="1" smtClean="0">
                <a:solidFill>
                  <a:srgbClr val="B27BCB"/>
                </a:solidFill>
                <a:latin typeface="Consolas" panose="020B0609020204030204" pitchFamily="49" charset="0"/>
              </a:rPr>
              <a:t>module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rgbClr val="2BC7A2"/>
                </a:solidFill>
                <a:latin typeface="Consolas" panose="020B0609020204030204" pitchFamily="49" charset="0"/>
              </a:rPr>
              <a:t>cmd_example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-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export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[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run_os</a:t>
            </a:r>
            <a:r>
              <a:rPr lang="hu-HU" dirty="0" smtClean="0">
                <a:solidFill>
                  <a:srgbClr val="FCF5C0"/>
                </a:solidFill>
                <a:latin typeface="Consolas" panose="020B0609020204030204" pitchFamily="49" charset="0"/>
              </a:rPr>
              <a:t>/1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]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run_os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Command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hu-HU" dirty="0" err="1" smtClean="0">
                <a:solidFill>
                  <a:srgbClr val="2BC7A2"/>
                </a:solidFill>
                <a:latin typeface="Consolas" panose="020B0609020204030204" pitchFamily="49" charset="0"/>
              </a:rPr>
              <a:t>os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cmd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rgbClr val="E89874"/>
                </a:solidFill>
                <a:latin typeface="Consolas" panose="020B0609020204030204" pitchFamily="49" charset="0"/>
              </a:rPr>
              <a:t>”</a:t>
            </a:r>
            <a:r>
              <a:rPr lang="hu-HU" dirty="0" err="1" smtClean="0">
                <a:solidFill>
                  <a:srgbClr val="E89874"/>
                </a:solidFill>
                <a:latin typeface="Consolas" panose="020B0609020204030204" pitchFamily="49" charset="0"/>
              </a:rPr>
              <a:t>cat</a:t>
            </a:r>
            <a:r>
              <a:rPr lang="hu-HU" dirty="0" smtClean="0">
                <a:solidFill>
                  <a:srgbClr val="E89874"/>
                </a:solidFill>
                <a:latin typeface="Consolas" panose="020B0609020204030204" pitchFamily="49" charset="0"/>
              </a:rPr>
              <a:t> ”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++ </a:t>
            </a:r>
            <a:r>
              <a:rPr lang="hu-HU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Command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>
              <a:latin typeface="Consolas" panose="020B0609020204030204" pitchFamily="49" charset="0"/>
            </a:endParaRPr>
          </a:p>
        </p:txBody>
      </p:sp>
      <p:sp>
        <p:nvSpPr>
          <p:cNvPr id="11" name="Tartalom helye 2"/>
          <p:cNvSpPr>
            <a:spLocks noGrp="1"/>
          </p:cNvSpPr>
          <p:nvPr>
            <p:ph idx="1"/>
          </p:nvPr>
        </p:nvSpPr>
        <p:spPr>
          <a:xfrm>
            <a:off x="876301" y="1713820"/>
            <a:ext cx="6362700" cy="4864780"/>
          </a:xfrm>
        </p:spPr>
        <p:txBody>
          <a:bodyPr>
            <a:normAutofit/>
          </a:bodyPr>
          <a:lstStyle/>
          <a:p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hu-HU" sz="2400" dirty="0" err="1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RefactorErl</a:t>
            </a:r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felismeri az </a:t>
            </a:r>
            <a:r>
              <a:rPr lang="hu-HU" sz="2400" dirty="0" err="1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Erlangban</a:t>
            </a:r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előforduló sérülékenységeket, amelyek </a:t>
            </a:r>
            <a:r>
              <a:rPr lang="hu-HU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ránézésre nem jelentenek </a:t>
            </a:r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problémát</a:t>
            </a:r>
          </a:p>
          <a:p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Jelenleg manuálisan lehet csak kijavítani</a:t>
            </a:r>
          </a:p>
        </p:txBody>
      </p:sp>
      <p:sp>
        <p:nvSpPr>
          <p:cNvPr id="12" name="Lekerekített téglalap 11"/>
          <p:cNvSpPr/>
          <p:nvPr/>
        </p:nvSpPr>
        <p:spPr>
          <a:xfrm>
            <a:off x="1123953" y="4971707"/>
            <a:ext cx="8572497" cy="1633999"/>
          </a:xfrm>
          <a:prstGeom prst="roundRect">
            <a:avLst>
              <a:gd name="adj" fmla="val 21732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smtClean="0">
                <a:latin typeface="Consolas" panose="020B0609020204030204" pitchFamily="49" charset="0"/>
              </a:rPr>
              <a:t>-</a:t>
            </a:r>
            <a:r>
              <a:rPr lang="hu-HU" dirty="0" err="1" smtClean="0">
                <a:solidFill>
                  <a:srgbClr val="B27BCB"/>
                </a:solidFill>
                <a:latin typeface="Consolas" panose="020B0609020204030204" pitchFamily="49" charset="0"/>
              </a:rPr>
              <a:t>module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rgbClr val="2BC7A2"/>
                </a:solidFill>
                <a:latin typeface="Consolas" panose="020B0609020204030204" pitchFamily="49" charset="0"/>
              </a:rPr>
              <a:t>lta_example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-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export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[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run_list_gen</a:t>
            </a:r>
            <a:r>
              <a:rPr lang="hu-HU" dirty="0" smtClean="0">
                <a:solidFill>
                  <a:srgbClr val="FCF5C0"/>
                </a:solidFill>
                <a:latin typeface="Consolas" panose="020B0609020204030204" pitchFamily="49" charset="0"/>
              </a:rPr>
              <a:t>/1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]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run_list_gen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Arg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[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list_to_atom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integer_to_list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X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|| 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X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&lt;- </a:t>
            </a:r>
            <a:r>
              <a:rPr lang="hu-HU" dirty="0" err="1" smtClean="0">
                <a:solidFill>
                  <a:srgbClr val="2BC7A2"/>
                </a:solidFill>
                <a:latin typeface="Consolas" panose="020B0609020204030204" pitchFamily="49" charset="0"/>
              </a:rPr>
              <a:t>lists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seq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hu-HU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Arg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)]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98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/>
          <p:cNvSpPr/>
          <p:nvPr/>
        </p:nvSpPr>
        <p:spPr>
          <a:xfrm>
            <a:off x="6372226" y="2562222"/>
            <a:ext cx="5819774" cy="1619249"/>
          </a:xfrm>
          <a:prstGeom prst="rect">
            <a:avLst/>
          </a:prstGeom>
          <a:gradFill flip="none" rotWithShape="1">
            <a:gsLst>
              <a:gs pos="20000">
                <a:srgbClr val="124963">
                  <a:alpha val="20000"/>
                </a:srgbClr>
              </a:gs>
              <a:gs pos="68000">
                <a:srgbClr val="1F7599">
                  <a:alpha val="40000"/>
                </a:srgbClr>
              </a:gs>
              <a:gs pos="100000">
                <a:srgbClr val="66BDE0">
                  <a:alpha val="2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Cím 1"/>
          <p:cNvSpPr txBox="1">
            <a:spLocks/>
          </p:cNvSpPr>
          <p:nvPr/>
        </p:nvSpPr>
        <p:spPr>
          <a:xfrm>
            <a:off x="0" y="365125"/>
            <a:ext cx="12192000" cy="733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Implementált transzformációk</a:t>
            </a:r>
            <a:endParaRPr lang="hu-HU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artalom helye 2"/>
          <p:cNvSpPr>
            <a:spLocks noGrp="1"/>
          </p:cNvSpPr>
          <p:nvPr>
            <p:ph idx="1"/>
          </p:nvPr>
        </p:nvSpPr>
        <p:spPr>
          <a:xfrm>
            <a:off x="876301" y="1713820"/>
            <a:ext cx="6362700" cy="4864780"/>
          </a:xfrm>
        </p:spPr>
        <p:txBody>
          <a:bodyPr>
            <a:normAutofit/>
          </a:bodyPr>
          <a:lstStyle/>
          <a:p>
            <a:r>
              <a:rPr lang="hu-HU" sz="2400" dirty="0" err="1" smtClean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os:cmd</a:t>
            </a:r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függvények bemeneti paraméterek tartalmának ellenőrzése</a:t>
            </a:r>
          </a:p>
          <a:p>
            <a:r>
              <a:rPr lang="hu-HU" sz="2400" dirty="0" err="1" smtClean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list_to_atom</a:t>
            </a:r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függvényhívások számának korlátozása</a:t>
            </a:r>
          </a:p>
          <a:p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Nem biztonságos függvények biztonságosra cserélése (3 db)</a:t>
            </a:r>
          </a:p>
          <a:p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Külön használt </a:t>
            </a:r>
            <a:r>
              <a:rPr lang="hu-HU" sz="2400" dirty="0" err="1" smtClean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spawn</a:t>
            </a:r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és </a:t>
            </a:r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link</a:t>
            </a:r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atomi összekapcsolása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770" y="-408154"/>
            <a:ext cx="7560000" cy="75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85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églalap 18"/>
          <p:cNvSpPr/>
          <p:nvPr/>
        </p:nvSpPr>
        <p:spPr>
          <a:xfrm>
            <a:off x="6353801" y="2380149"/>
            <a:ext cx="5819774" cy="1619249"/>
          </a:xfrm>
          <a:prstGeom prst="rect">
            <a:avLst/>
          </a:prstGeom>
          <a:gradFill flip="none" rotWithShape="1">
            <a:gsLst>
              <a:gs pos="20000">
                <a:srgbClr val="124963">
                  <a:alpha val="20000"/>
                </a:srgbClr>
              </a:gs>
              <a:gs pos="68000">
                <a:srgbClr val="1F7599">
                  <a:alpha val="40000"/>
                </a:srgbClr>
              </a:gs>
              <a:gs pos="100000">
                <a:srgbClr val="66BDE0">
                  <a:alpha val="2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noFill/>
            </a:endParaRPr>
          </a:p>
        </p:txBody>
      </p:sp>
      <p:sp>
        <p:nvSpPr>
          <p:cNvPr id="12" name="Tartalom helye 2"/>
          <p:cNvSpPr>
            <a:spLocks noGrp="1"/>
          </p:cNvSpPr>
          <p:nvPr>
            <p:ph idx="1"/>
          </p:nvPr>
        </p:nvSpPr>
        <p:spPr>
          <a:xfrm>
            <a:off x="1119998" y="2199625"/>
            <a:ext cx="10233800" cy="4005913"/>
          </a:xfrm>
        </p:spPr>
        <p:txBody>
          <a:bodyPr/>
          <a:lstStyle/>
          <a:p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Transzformáció előtt</a:t>
            </a:r>
          </a:p>
          <a:p>
            <a:pPr marL="0" indent="0">
              <a:buNone/>
            </a:pPr>
            <a:r>
              <a:rPr lang="hu-HU" dirty="0" smtClean="0">
                <a:solidFill>
                  <a:schemeClr val="tx1">
                    <a:lumMod val="95000"/>
                  </a:schemeClr>
                </a:solidFill>
              </a:rPr>
              <a:t/>
            </a:r>
            <a:br>
              <a:rPr lang="hu-HU" dirty="0" smtClean="0">
                <a:solidFill>
                  <a:schemeClr val="tx1">
                    <a:lumMod val="95000"/>
                  </a:schemeClr>
                </a:solidFill>
              </a:rPr>
            </a:br>
            <a:endParaRPr lang="hu-HU" dirty="0" smtClean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Transzformáció után</a:t>
            </a:r>
            <a:endParaRPr lang="hu-HU" sz="2400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ím 1"/>
          <p:cNvSpPr txBox="1">
            <a:spLocks/>
          </p:cNvSpPr>
          <p:nvPr/>
        </p:nvSpPr>
        <p:spPr>
          <a:xfrm>
            <a:off x="0" y="365125"/>
            <a:ext cx="11353798" cy="148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Implementált transzformációk bemutatása – </a:t>
            </a:r>
            <a:r>
              <a:rPr lang="hu-HU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atomgenerálás </a:t>
            </a:r>
            <a:r>
              <a:rPr lang="hu-HU" sz="4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korlátozása</a:t>
            </a:r>
            <a:endParaRPr lang="hu-HU" sz="4000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hu-HU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Lekerekített téglalap 3"/>
          <p:cNvSpPr/>
          <p:nvPr/>
        </p:nvSpPr>
        <p:spPr>
          <a:xfrm>
            <a:off x="1119996" y="2572400"/>
            <a:ext cx="5966604" cy="901280"/>
          </a:xfrm>
          <a:prstGeom prst="roundRect">
            <a:avLst>
              <a:gd name="adj" fmla="val 41956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gen_atom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Expr1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[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list_to_atom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Expr2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|| 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Expr2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&lt;- 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Expr1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]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>
              <a:latin typeface="Consolas" panose="020B0609020204030204" pitchFamily="49" charset="0"/>
            </a:endParaRPr>
          </a:p>
        </p:txBody>
      </p:sp>
      <p:sp>
        <p:nvSpPr>
          <p:cNvPr id="5" name="Lekerekített téglalap 4"/>
          <p:cNvSpPr/>
          <p:nvPr/>
        </p:nvSpPr>
        <p:spPr>
          <a:xfrm>
            <a:off x="1119995" y="3891059"/>
            <a:ext cx="7242955" cy="2557366"/>
          </a:xfrm>
          <a:prstGeom prst="roundRect">
            <a:avLst>
              <a:gd name="adj" fmla="val 18500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gen_atom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Expr1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-&gt;</a:t>
            </a:r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 smtClean="0">
                <a:solidFill>
                  <a:srgbClr val="B27BCB"/>
                </a:solidFill>
                <a:latin typeface="Consolas" panose="020B0609020204030204" pitchFamily="49" charset="0"/>
              </a:rPr>
              <a:t>case</a:t>
            </a:r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size_check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Expr1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of</a:t>
            </a:r>
          </a:p>
          <a:p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     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true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 [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list_to_atom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Expr2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 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|| 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Expr2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&lt;- 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Expr1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]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false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 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throw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chemeClr val="tx2"/>
                </a:solidFill>
                <a:latin typeface="Consolas" panose="020B0609020204030204" pitchFamily="49" charset="0"/>
              </a:rPr>
              <a:t>Error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endParaRPr lang="hu-HU" dirty="0">
              <a:solidFill>
                <a:srgbClr val="B27BCB"/>
              </a:solidFill>
              <a:latin typeface="Consolas" panose="020B0609020204030204" pitchFamily="49" charset="0"/>
            </a:endParaRPr>
          </a:p>
          <a:p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   end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endParaRPr lang="hu-HU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size_check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Pattern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length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chemeClr val="tx2"/>
                </a:solidFill>
                <a:latin typeface="Consolas" panose="020B0609020204030204" pitchFamily="49" charset="0"/>
              </a:rPr>
              <a:t>Pattern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&lt; </a:t>
            </a:r>
            <a:r>
              <a:rPr lang="hu-HU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5000000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Szövegdoboz 20"/>
          <p:cNvSpPr txBox="1"/>
          <p:nvPr/>
        </p:nvSpPr>
        <p:spPr>
          <a:xfrm>
            <a:off x="8344524" y="2281832"/>
            <a:ext cx="38290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Megkeresem a megbízhatatlan listát, </a:t>
            </a:r>
            <a:r>
              <a:rPr lang="hu-HU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és a </a:t>
            </a:r>
            <a:r>
              <a:rPr lang="hu-HU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sérülékeny részt. Beillesztek a fájlba </a:t>
            </a:r>
            <a:r>
              <a:rPr lang="hu-HU" sz="1600" i="1" dirty="0">
                <a:latin typeface="Arial" panose="020B0604020202020204" pitchFamily="34" charset="0"/>
                <a:cs typeface="Arial" panose="020B0604020202020204" pitchFamily="34" charset="0"/>
              </a:rPr>
              <a:t>egy új ellenőrző </a:t>
            </a:r>
            <a:r>
              <a:rPr lang="hu-HU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függvényt, majd ezt egy </a:t>
            </a:r>
            <a:r>
              <a:rPr lang="hu-HU" sz="1600" i="1" dirty="0" err="1" smtClean="0">
                <a:latin typeface="Consolas" panose="020B0609020204030204" pitchFamily="49" charset="0"/>
                <a:cs typeface="Arial" panose="020B0604020202020204" pitchFamily="34" charset="0"/>
              </a:rPr>
              <a:t>case</a:t>
            </a:r>
            <a:r>
              <a:rPr lang="hu-HU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kifejezés segítségével alkalmazom </a:t>
            </a:r>
            <a:r>
              <a:rPr lang="hu-HU" sz="1600" i="1" dirty="0">
                <a:latin typeface="Arial" panose="020B0604020202020204" pitchFamily="34" charset="0"/>
                <a:cs typeface="Arial" panose="020B0604020202020204" pitchFamily="34" charset="0"/>
              </a:rPr>
              <a:t>a generáló </a:t>
            </a:r>
            <a:r>
              <a:rPr lang="hu-HU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listára. Az </a:t>
            </a:r>
            <a:r>
              <a:rPr lang="hu-HU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ellenőrző függvény eredményétől függően fut tovább vagy terminál a kód.</a:t>
            </a:r>
          </a:p>
        </p:txBody>
      </p:sp>
    </p:spTree>
    <p:extLst>
      <p:ext uri="{BB962C8B-B14F-4D97-AF65-F5344CB8AC3E}">
        <p14:creationId xmlns:p14="http://schemas.microsoft.com/office/powerpoint/2010/main" val="365008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rtalom helye 2"/>
          <p:cNvSpPr>
            <a:spLocks noGrp="1"/>
          </p:cNvSpPr>
          <p:nvPr>
            <p:ph idx="1"/>
          </p:nvPr>
        </p:nvSpPr>
        <p:spPr>
          <a:xfrm>
            <a:off x="1119998" y="628650"/>
            <a:ext cx="10233800" cy="5576889"/>
          </a:xfrm>
        </p:spPr>
        <p:txBody>
          <a:bodyPr/>
          <a:lstStyle/>
          <a:p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megbízhatatlan elem és a sérülékeny rész függ a </a:t>
            </a:r>
            <a:r>
              <a:rPr lang="hu-HU" sz="2400" dirty="0" err="1" smtClean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list_to_atom</a:t>
            </a:r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függvényhívás típusától</a:t>
            </a:r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hu-HU" sz="2400" dirty="0" smtClean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70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rtalom helye 2"/>
          <p:cNvSpPr>
            <a:spLocks noGrp="1"/>
          </p:cNvSpPr>
          <p:nvPr>
            <p:ph idx="1"/>
          </p:nvPr>
        </p:nvSpPr>
        <p:spPr>
          <a:xfrm>
            <a:off x="1119998" y="628650"/>
            <a:ext cx="10233800" cy="5576889"/>
          </a:xfrm>
        </p:spPr>
        <p:txBody>
          <a:bodyPr/>
          <a:lstStyle/>
          <a:p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megbízhatatlan elem és a sérülékeny rész függ a </a:t>
            </a:r>
            <a:r>
              <a:rPr lang="hu-HU" sz="2400" dirty="0" err="1" smtClean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list_to_atom</a:t>
            </a:r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függvényhívás típusától:</a:t>
            </a:r>
          </a:p>
          <a:p>
            <a:pPr lvl="1"/>
            <a:r>
              <a:rPr lang="hu-HU" sz="2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Vizsgált műveleten belüli listagenerátorral történő </a:t>
            </a:r>
            <a:r>
              <a:rPr lang="hu-HU" sz="2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atomgenerálás</a:t>
            </a:r>
            <a:endParaRPr lang="hu-HU" sz="2000" dirty="0" smtClean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Lekerekített téglalap 7"/>
          <p:cNvSpPr/>
          <p:nvPr/>
        </p:nvSpPr>
        <p:spPr>
          <a:xfrm>
            <a:off x="1119997" y="2711239"/>
            <a:ext cx="4707327" cy="901280"/>
          </a:xfrm>
          <a:prstGeom prst="roundRect">
            <a:avLst>
              <a:gd name="adj" fmla="val 41956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list_comp_gen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Arg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[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list_to_atom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X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|| 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X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&lt;- </a:t>
            </a:r>
            <a:r>
              <a:rPr lang="hu-HU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Arg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]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>
              <a:latin typeface="Consolas" panose="020B0609020204030204" pitchFamily="49" charset="0"/>
            </a:endParaRPr>
          </a:p>
        </p:txBody>
      </p:sp>
      <p:sp>
        <p:nvSpPr>
          <p:cNvPr id="13" name="Lekerekített téglalap 12"/>
          <p:cNvSpPr/>
          <p:nvPr/>
        </p:nvSpPr>
        <p:spPr>
          <a:xfrm>
            <a:off x="5810250" y="2711239"/>
            <a:ext cx="5985652" cy="2557366"/>
          </a:xfrm>
          <a:prstGeom prst="roundRect">
            <a:avLst>
              <a:gd name="adj" fmla="val 18500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list_comp_gen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Arg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-&gt;</a:t>
            </a:r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 smtClean="0">
                <a:solidFill>
                  <a:srgbClr val="B27BCB"/>
                </a:solidFill>
                <a:latin typeface="Consolas" panose="020B0609020204030204" pitchFamily="49" charset="0"/>
              </a:rPr>
              <a:t>case</a:t>
            </a:r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size_check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Arg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of</a:t>
            </a:r>
          </a:p>
          <a:p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     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true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 [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list_to_atom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X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 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|| 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X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&lt;- </a:t>
            </a:r>
            <a:r>
              <a:rPr lang="hu-HU" dirty="0" err="1">
                <a:solidFill>
                  <a:schemeClr val="tx2"/>
                </a:solidFill>
                <a:latin typeface="Consolas" panose="020B0609020204030204" pitchFamily="49" charset="0"/>
              </a:rPr>
              <a:t>Arg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]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false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 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throw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chemeClr val="tx2"/>
                </a:solidFill>
                <a:latin typeface="Consolas" panose="020B0609020204030204" pitchFamily="49" charset="0"/>
              </a:rPr>
              <a:t>Error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endParaRPr lang="hu-HU" dirty="0">
              <a:solidFill>
                <a:srgbClr val="B27BCB"/>
              </a:solidFill>
              <a:latin typeface="Consolas" panose="020B0609020204030204" pitchFamily="49" charset="0"/>
            </a:endParaRPr>
          </a:p>
          <a:p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   end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endParaRPr lang="hu-HU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size_check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Pattern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length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chemeClr val="tx2"/>
                </a:solidFill>
                <a:latin typeface="Consolas" panose="020B0609020204030204" pitchFamily="49" charset="0"/>
              </a:rPr>
              <a:t>Pattern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&lt; </a:t>
            </a:r>
            <a:r>
              <a:rPr lang="hu-HU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5000000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32" name="Csoportba foglalás 31"/>
          <p:cNvGrpSpPr/>
          <p:nvPr/>
        </p:nvGrpSpPr>
        <p:grpSpPr>
          <a:xfrm>
            <a:off x="1805411" y="3256040"/>
            <a:ext cx="3672000" cy="524842"/>
            <a:chOff x="1803840" y="3120041"/>
            <a:chExt cx="3672000" cy="524842"/>
          </a:xfrm>
        </p:grpSpPr>
        <p:sp>
          <p:nvSpPr>
            <p:cNvPr id="18" name="Szövegdoboz 17"/>
            <p:cNvSpPr txBox="1"/>
            <p:nvPr/>
          </p:nvSpPr>
          <p:spPr>
            <a:xfrm>
              <a:off x="3010501" y="3367884"/>
              <a:ext cx="12586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1200" i="1" dirty="0">
                  <a:solidFill>
                    <a:srgbClr val="F9441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hu-HU" sz="1200" i="1" dirty="0" smtClean="0">
                  <a:solidFill>
                    <a:srgbClr val="F9441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érülékeny rész</a:t>
              </a:r>
              <a:endParaRPr lang="hu-HU" sz="1200" i="1" dirty="0">
                <a:solidFill>
                  <a:srgbClr val="F9441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" name="Egyenes összekötő 5"/>
            <p:cNvCxnSpPr/>
            <p:nvPr/>
          </p:nvCxnSpPr>
          <p:spPr>
            <a:xfrm>
              <a:off x="1803840" y="3381094"/>
              <a:ext cx="3672000" cy="0"/>
            </a:xfrm>
            <a:prstGeom prst="line">
              <a:avLst/>
            </a:prstGeom>
            <a:ln w="12700">
              <a:solidFill>
                <a:srgbClr val="F944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gyenes összekötő 19"/>
            <p:cNvCxnSpPr/>
            <p:nvPr/>
          </p:nvCxnSpPr>
          <p:spPr>
            <a:xfrm flipV="1">
              <a:off x="1803840" y="3120041"/>
              <a:ext cx="0" cy="252000"/>
            </a:xfrm>
            <a:prstGeom prst="line">
              <a:avLst/>
            </a:prstGeom>
            <a:ln w="12700">
              <a:solidFill>
                <a:srgbClr val="F944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gyenes összekötő 23"/>
            <p:cNvCxnSpPr/>
            <p:nvPr/>
          </p:nvCxnSpPr>
          <p:spPr>
            <a:xfrm flipV="1">
              <a:off x="5475840" y="3120041"/>
              <a:ext cx="0" cy="252000"/>
            </a:xfrm>
            <a:prstGeom prst="line">
              <a:avLst/>
            </a:prstGeom>
            <a:ln w="12700">
              <a:solidFill>
                <a:srgbClr val="F944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Csoportba foglalás 33"/>
          <p:cNvGrpSpPr/>
          <p:nvPr/>
        </p:nvGrpSpPr>
        <p:grpSpPr>
          <a:xfrm>
            <a:off x="4035697" y="2762066"/>
            <a:ext cx="1608133" cy="397810"/>
            <a:chOff x="4032120" y="2585622"/>
            <a:chExt cx="1608133" cy="397810"/>
          </a:xfrm>
        </p:grpSpPr>
        <p:sp>
          <p:nvSpPr>
            <p:cNvPr id="2" name="Szövegdoboz 1"/>
            <p:cNvSpPr txBox="1"/>
            <p:nvPr/>
          </p:nvSpPr>
          <p:spPr>
            <a:xfrm>
              <a:off x="4032120" y="2585622"/>
              <a:ext cx="1608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1200" i="1" dirty="0" smtClean="0">
                  <a:solidFill>
                    <a:srgbClr val="F9441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megbízhatatlan elem</a:t>
              </a:r>
              <a:endParaRPr lang="hu-HU" sz="1200" i="1" dirty="0">
                <a:solidFill>
                  <a:srgbClr val="F9441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Egyenes összekötő nyíllal 27"/>
            <p:cNvCxnSpPr/>
            <p:nvPr/>
          </p:nvCxnSpPr>
          <p:spPr>
            <a:xfrm>
              <a:off x="4853815" y="2835399"/>
              <a:ext cx="195543" cy="148033"/>
            </a:xfrm>
            <a:prstGeom prst="straightConnector1">
              <a:avLst/>
            </a:prstGeom>
            <a:ln w="12700">
              <a:solidFill>
                <a:srgbClr val="F9441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Szövegdoboz 22"/>
          <p:cNvSpPr txBox="1"/>
          <p:nvPr/>
        </p:nvSpPr>
        <p:spPr>
          <a:xfrm>
            <a:off x="2387243" y="2452759"/>
            <a:ext cx="1798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 smtClean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Transzformáció előtt</a:t>
            </a:r>
            <a:endParaRPr lang="hu-HU" sz="14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zövegdoboz 24"/>
          <p:cNvSpPr txBox="1"/>
          <p:nvPr/>
        </p:nvSpPr>
        <p:spPr>
          <a:xfrm>
            <a:off x="8038861" y="2452759"/>
            <a:ext cx="1808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 smtClean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Transzformáció </a:t>
            </a:r>
            <a:r>
              <a:rPr lang="hu-HU" sz="1400" dirty="0" smtClean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után</a:t>
            </a:r>
            <a:endParaRPr lang="hu-HU" sz="14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381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rtalom helye 2"/>
          <p:cNvSpPr>
            <a:spLocks noGrp="1"/>
          </p:cNvSpPr>
          <p:nvPr>
            <p:ph idx="1"/>
          </p:nvPr>
        </p:nvSpPr>
        <p:spPr>
          <a:xfrm>
            <a:off x="1119998" y="628650"/>
            <a:ext cx="10233800" cy="5576889"/>
          </a:xfrm>
        </p:spPr>
        <p:txBody>
          <a:bodyPr/>
          <a:lstStyle/>
          <a:p>
            <a:r>
              <a:rPr lang="hu-HU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megbízhatatlan elem és a sérülékeny rész függ a </a:t>
            </a:r>
            <a:r>
              <a:rPr lang="hu-HU" sz="2400" dirty="0" err="1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list_to_atom</a:t>
            </a:r>
            <a:r>
              <a:rPr lang="hu-HU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függvényhívás típusától:</a:t>
            </a:r>
          </a:p>
          <a:p>
            <a:pPr lvl="1"/>
            <a:r>
              <a:rPr lang="hu-HU" sz="2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Vizsgált műveleten belüli listagenerátorral történő atomgenerálás</a:t>
            </a:r>
          </a:p>
          <a:p>
            <a:pPr lvl="1"/>
            <a:r>
              <a:rPr lang="hu-HU" sz="20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Vizsgált műveleten kívüli listagenerátorral történő </a:t>
            </a:r>
            <a:r>
              <a:rPr lang="hu-HU" sz="2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atomgenerálás</a:t>
            </a:r>
            <a:endParaRPr lang="hu-HU" sz="2000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Lekerekített téglalap 12"/>
          <p:cNvSpPr/>
          <p:nvPr/>
        </p:nvSpPr>
        <p:spPr>
          <a:xfrm>
            <a:off x="5827324" y="2706101"/>
            <a:ext cx="5572125" cy="3467137"/>
          </a:xfrm>
          <a:prstGeom prst="roundRect">
            <a:avLst>
              <a:gd name="adj" fmla="val 17401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lta_func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X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list_to_atom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X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 smtClean="0">
              <a:solidFill>
                <a:srgbClr val="FCF5C0"/>
              </a:solidFill>
              <a:latin typeface="Consolas" panose="020B0609020204030204" pitchFamily="49" charset="0"/>
            </a:endParaRPr>
          </a:p>
          <a:p>
            <a:endParaRPr lang="hu-HU" dirty="0">
              <a:solidFill>
                <a:srgbClr val="FCF5C0"/>
              </a:solidFill>
              <a:latin typeface="Consolas" panose="020B0609020204030204" pitchFamily="49" charset="0"/>
            </a:endParaRPr>
          </a:p>
          <a:p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outer_fun_call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chemeClr val="tx2"/>
                </a:solidFill>
                <a:latin typeface="Consolas" panose="020B0609020204030204" pitchFamily="49" charset="0"/>
              </a:rPr>
              <a:t>Arg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-&gt;</a:t>
            </a:r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 smtClean="0">
                <a:solidFill>
                  <a:srgbClr val="B27BCB"/>
                </a:solidFill>
                <a:latin typeface="Consolas" panose="020B0609020204030204" pitchFamily="49" charset="0"/>
              </a:rPr>
              <a:t>case</a:t>
            </a:r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size_check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Arg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of</a:t>
            </a:r>
          </a:p>
          <a:p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     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true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 [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lta_func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X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 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|| 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X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&lt;- </a:t>
            </a:r>
            <a:r>
              <a:rPr lang="hu-HU" dirty="0" err="1">
                <a:solidFill>
                  <a:schemeClr val="tx2"/>
                </a:solidFill>
                <a:latin typeface="Consolas" panose="020B0609020204030204" pitchFamily="49" charset="0"/>
              </a:rPr>
              <a:t>Arg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]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false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 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throw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chemeClr val="tx2"/>
                </a:solidFill>
                <a:latin typeface="Consolas" panose="020B0609020204030204" pitchFamily="49" charset="0"/>
              </a:rPr>
              <a:t>Error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endParaRPr lang="hu-HU" dirty="0">
              <a:solidFill>
                <a:srgbClr val="B27BCB"/>
              </a:solidFill>
              <a:latin typeface="Consolas" panose="020B0609020204030204" pitchFamily="49" charset="0"/>
            </a:endParaRPr>
          </a:p>
          <a:p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   end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endParaRPr lang="hu-HU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size_check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Pattern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length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chemeClr val="tx2"/>
                </a:solidFill>
                <a:latin typeface="Consolas" panose="020B0609020204030204" pitchFamily="49" charset="0"/>
              </a:rPr>
              <a:t>Pattern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&lt; </a:t>
            </a:r>
            <a:r>
              <a:rPr lang="hu-HU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5000000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Lekerekített téglalap 5"/>
          <p:cNvSpPr/>
          <p:nvPr/>
        </p:nvSpPr>
        <p:spPr>
          <a:xfrm>
            <a:off x="1119997" y="2712222"/>
            <a:ext cx="4707327" cy="1758490"/>
          </a:xfrm>
          <a:prstGeom prst="roundRect">
            <a:avLst>
              <a:gd name="adj" fmla="val 27853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lta_func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X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list_to_atom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X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outer_fun_call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chemeClr val="tx2"/>
                </a:solidFill>
                <a:latin typeface="Consolas" panose="020B0609020204030204" pitchFamily="49" charset="0"/>
              </a:rPr>
              <a:t>Arg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[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lta_func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X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 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|| 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X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&lt;- </a:t>
            </a:r>
            <a:r>
              <a:rPr lang="hu-HU" dirty="0" err="1">
                <a:solidFill>
                  <a:schemeClr val="tx2"/>
                </a:solidFill>
                <a:latin typeface="Consolas" panose="020B0609020204030204" pitchFamily="49" charset="0"/>
              </a:rPr>
              <a:t>Arg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]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>
              <a:solidFill>
                <a:srgbClr val="FCF5C0"/>
              </a:solidFill>
              <a:latin typeface="Consolas" panose="020B0609020204030204" pitchFamily="49" charset="0"/>
            </a:endParaRPr>
          </a:p>
        </p:txBody>
      </p:sp>
      <p:grpSp>
        <p:nvGrpSpPr>
          <p:cNvPr id="20" name="Csoportba foglalás 19"/>
          <p:cNvGrpSpPr/>
          <p:nvPr/>
        </p:nvGrpSpPr>
        <p:grpSpPr>
          <a:xfrm>
            <a:off x="1826895" y="4110076"/>
            <a:ext cx="3161265" cy="528999"/>
            <a:chOff x="1826895" y="3964785"/>
            <a:chExt cx="3161265" cy="528999"/>
          </a:xfrm>
        </p:grpSpPr>
        <p:sp>
          <p:nvSpPr>
            <p:cNvPr id="10" name="Szövegdoboz 9"/>
            <p:cNvSpPr txBox="1"/>
            <p:nvPr/>
          </p:nvSpPr>
          <p:spPr>
            <a:xfrm>
              <a:off x="2844322" y="4216785"/>
              <a:ext cx="12586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1200" i="1" dirty="0">
                  <a:solidFill>
                    <a:srgbClr val="F9441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hu-HU" sz="1200" i="1" dirty="0" smtClean="0">
                  <a:solidFill>
                    <a:srgbClr val="F9441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érülékeny rész</a:t>
              </a:r>
              <a:endParaRPr lang="hu-HU" sz="1200" i="1" dirty="0">
                <a:solidFill>
                  <a:srgbClr val="F9441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Egyenes összekötő 10"/>
            <p:cNvCxnSpPr/>
            <p:nvPr/>
          </p:nvCxnSpPr>
          <p:spPr>
            <a:xfrm>
              <a:off x="1828800" y="4223062"/>
              <a:ext cx="3159360" cy="0"/>
            </a:xfrm>
            <a:prstGeom prst="line">
              <a:avLst/>
            </a:prstGeom>
            <a:ln w="12700">
              <a:solidFill>
                <a:srgbClr val="F944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Egyenes összekötő 13"/>
            <p:cNvCxnSpPr/>
            <p:nvPr/>
          </p:nvCxnSpPr>
          <p:spPr>
            <a:xfrm flipV="1">
              <a:off x="1826895" y="3964785"/>
              <a:ext cx="0" cy="252000"/>
            </a:xfrm>
            <a:prstGeom prst="line">
              <a:avLst/>
            </a:prstGeom>
            <a:ln w="12700">
              <a:solidFill>
                <a:srgbClr val="F944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Egyenes összekötő 14"/>
            <p:cNvCxnSpPr/>
            <p:nvPr/>
          </p:nvCxnSpPr>
          <p:spPr>
            <a:xfrm flipV="1">
              <a:off x="4988160" y="3964785"/>
              <a:ext cx="0" cy="252000"/>
            </a:xfrm>
            <a:prstGeom prst="line">
              <a:avLst/>
            </a:prstGeom>
            <a:ln w="12700">
              <a:solidFill>
                <a:srgbClr val="F944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Csoportba foglalás 21"/>
          <p:cNvGrpSpPr/>
          <p:nvPr/>
        </p:nvGrpSpPr>
        <p:grpSpPr>
          <a:xfrm>
            <a:off x="3891600" y="2973690"/>
            <a:ext cx="1601774" cy="1043009"/>
            <a:chOff x="3900653" y="2300784"/>
            <a:chExt cx="1601774" cy="1043009"/>
          </a:xfrm>
        </p:grpSpPr>
        <p:sp>
          <p:nvSpPr>
            <p:cNvPr id="17" name="Szövegdoboz 16"/>
            <p:cNvSpPr txBox="1"/>
            <p:nvPr/>
          </p:nvSpPr>
          <p:spPr>
            <a:xfrm>
              <a:off x="3900653" y="2300784"/>
              <a:ext cx="16017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200" i="1" dirty="0" smtClean="0">
                  <a:solidFill>
                    <a:srgbClr val="F9441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megbízhatatlan elem</a:t>
              </a:r>
              <a:endParaRPr lang="hu-HU" sz="1200" i="1" dirty="0">
                <a:solidFill>
                  <a:srgbClr val="F9441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Egyenes összekötő nyíllal 17"/>
            <p:cNvCxnSpPr/>
            <p:nvPr/>
          </p:nvCxnSpPr>
          <p:spPr>
            <a:xfrm>
              <a:off x="4701540" y="2623793"/>
              <a:ext cx="0" cy="720000"/>
            </a:xfrm>
            <a:prstGeom prst="straightConnector1">
              <a:avLst/>
            </a:prstGeom>
            <a:ln w="12700">
              <a:solidFill>
                <a:srgbClr val="F9441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Szövegdoboz 23"/>
          <p:cNvSpPr txBox="1"/>
          <p:nvPr/>
        </p:nvSpPr>
        <p:spPr>
          <a:xfrm>
            <a:off x="2387243" y="2452759"/>
            <a:ext cx="1798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 smtClean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Transzformáció előtt</a:t>
            </a:r>
            <a:endParaRPr lang="hu-HU" sz="14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zövegdoboz 24"/>
          <p:cNvSpPr txBox="1"/>
          <p:nvPr/>
        </p:nvSpPr>
        <p:spPr>
          <a:xfrm>
            <a:off x="8038861" y="2452759"/>
            <a:ext cx="1808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 smtClean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Transzformáció </a:t>
            </a:r>
            <a:r>
              <a:rPr lang="hu-HU" sz="1400" dirty="0" smtClean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után</a:t>
            </a:r>
            <a:endParaRPr lang="hu-HU" sz="14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210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rtalom helye 2"/>
          <p:cNvSpPr>
            <a:spLocks noGrp="1"/>
          </p:cNvSpPr>
          <p:nvPr>
            <p:ph idx="1"/>
          </p:nvPr>
        </p:nvSpPr>
        <p:spPr>
          <a:xfrm>
            <a:off x="1119998" y="628650"/>
            <a:ext cx="10233800" cy="5576889"/>
          </a:xfrm>
        </p:spPr>
        <p:txBody>
          <a:bodyPr/>
          <a:lstStyle/>
          <a:p>
            <a:r>
              <a:rPr lang="hu-HU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megbízhatatlan elem és a sérülékeny rész függ a </a:t>
            </a:r>
            <a:r>
              <a:rPr lang="hu-HU" sz="2400" dirty="0" err="1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list_to_atom</a:t>
            </a:r>
            <a:r>
              <a:rPr lang="hu-HU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függvényhívás típusától:</a:t>
            </a:r>
          </a:p>
          <a:p>
            <a:pPr lvl="1"/>
            <a:r>
              <a:rPr lang="hu-HU" sz="2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Vizsgált műveleten belüli listagenerátorral történő atomgenerálás</a:t>
            </a:r>
          </a:p>
          <a:p>
            <a:pPr lvl="1"/>
            <a:r>
              <a:rPr lang="hu-HU" sz="20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Vizsgált műveleten kívüli listagenerátorral történő atomgenerálás</a:t>
            </a:r>
          </a:p>
          <a:p>
            <a:pPr lvl="1"/>
            <a:r>
              <a:rPr lang="hu-HU" sz="20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Rekurzív </a:t>
            </a:r>
            <a:r>
              <a:rPr lang="hu-HU" sz="2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hívás</a:t>
            </a:r>
            <a:endParaRPr lang="hu-HU" sz="2000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Lekerekített téglalap 12"/>
          <p:cNvSpPr/>
          <p:nvPr/>
        </p:nvSpPr>
        <p:spPr>
          <a:xfrm>
            <a:off x="5827324" y="2712223"/>
            <a:ext cx="6231326" cy="4145778"/>
          </a:xfrm>
          <a:prstGeom prst="roundRect">
            <a:avLst>
              <a:gd name="adj" fmla="val 15423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lta_rec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[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X 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| </a:t>
            </a:r>
            <a:r>
              <a:rPr lang="hu-HU" dirty="0" err="1">
                <a:solidFill>
                  <a:schemeClr val="tx2"/>
                </a:solidFill>
                <a:latin typeface="Consolas" panose="020B0609020204030204" pitchFamily="49" charset="0"/>
              </a:rPr>
              <a:t>Xs</a:t>
            </a:r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]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list_to_atom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integer_to_list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X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))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endParaRPr lang="hu-HU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lta_rec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chemeClr val="tx2"/>
                </a:solidFill>
                <a:latin typeface="Consolas" panose="020B0609020204030204" pitchFamily="49" charset="0"/>
              </a:rPr>
              <a:t>Xs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lta_rec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[]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   ok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 smtClean="0">
              <a:solidFill>
                <a:srgbClr val="FCF5C0"/>
              </a:solidFill>
              <a:latin typeface="Consolas" panose="020B0609020204030204" pitchFamily="49" charset="0"/>
            </a:endParaRPr>
          </a:p>
          <a:p>
            <a:endParaRPr lang="hu-HU" dirty="0">
              <a:solidFill>
                <a:srgbClr val="FCF5C0"/>
              </a:solidFill>
              <a:latin typeface="Consolas" panose="020B0609020204030204" pitchFamily="49" charset="0"/>
            </a:endParaRPr>
          </a:p>
          <a:p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outer_call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()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-&gt;</a:t>
            </a:r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 smtClean="0">
                <a:solidFill>
                  <a:srgbClr val="B27BCB"/>
                </a:solidFill>
                <a:latin typeface="Consolas" panose="020B0609020204030204" pitchFamily="49" charset="0"/>
              </a:rPr>
              <a:t>case</a:t>
            </a:r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size_check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rgbClr val="2BC7A2"/>
                </a:solidFill>
                <a:latin typeface="Consolas" panose="020B0609020204030204" pitchFamily="49" charset="0"/>
              </a:rPr>
              <a:t>lists</a:t>
            </a:r>
            <a:r>
              <a:rPr lang="hu-HU" dirty="0" err="1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seq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hu-HU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5000000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of</a:t>
            </a:r>
          </a:p>
          <a:p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     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true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lta_rec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rgbClr val="2BC7A2"/>
                </a:solidFill>
                <a:latin typeface="Consolas" panose="020B0609020204030204" pitchFamily="49" charset="0"/>
              </a:rPr>
              <a:t>lists</a:t>
            </a:r>
            <a:r>
              <a:rPr lang="hu-HU" dirty="0" err="1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seq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hu-HU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5000000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false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 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throw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chemeClr val="tx2"/>
                </a:solidFill>
                <a:latin typeface="Consolas" panose="020B0609020204030204" pitchFamily="49" charset="0"/>
              </a:rPr>
              <a:t>Error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endParaRPr lang="hu-HU" dirty="0">
              <a:solidFill>
                <a:srgbClr val="B27BCB"/>
              </a:solidFill>
              <a:latin typeface="Consolas" panose="020B0609020204030204" pitchFamily="49" charset="0"/>
            </a:endParaRPr>
          </a:p>
          <a:p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   end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endParaRPr lang="hu-HU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size_check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Pattern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length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chemeClr val="tx2"/>
                </a:solidFill>
                <a:latin typeface="Consolas" panose="020B0609020204030204" pitchFamily="49" charset="0"/>
              </a:rPr>
              <a:t>Pattern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&lt; </a:t>
            </a:r>
            <a:r>
              <a:rPr lang="hu-HU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5000000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Lekerekített téglalap 5"/>
          <p:cNvSpPr/>
          <p:nvPr/>
        </p:nvSpPr>
        <p:spPr>
          <a:xfrm>
            <a:off x="708448" y="2712222"/>
            <a:ext cx="5118876" cy="2562718"/>
          </a:xfrm>
          <a:prstGeom prst="roundRect">
            <a:avLst>
              <a:gd name="adj" fmla="val 16946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lta_rec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[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X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| </a:t>
            </a:r>
            <a:r>
              <a:rPr lang="hu-HU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Xs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]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list_to_atom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integer_to_list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X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endParaRPr lang="hu-HU" dirty="0" smtClean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lta_rec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Xs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lta_rec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[]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-&gt;</a:t>
            </a: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ok.</a:t>
            </a:r>
          </a:p>
          <a:p>
            <a:endParaRPr lang="hu-HU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outer_call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-&gt;</a:t>
            </a:r>
          </a:p>
          <a:p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lta_rec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rgbClr val="2BC7A2"/>
                </a:solidFill>
                <a:latin typeface="Consolas" panose="020B0609020204030204" pitchFamily="49" charset="0"/>
              </a:rPr>
              <a:t>lists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seq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hu-HU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5000000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>
              <a:solidFill>
                <a:srgbClr val="FCF5C0"/>
              </a:solidFill>
              <a:latin typeface="Consolas" panose="020B0609020204030204" pitchFamily="49" charset="0"/>
            </a:endParaRPr>
          </a:p>
          <a:p>
            <a:endParaRPr lang="hu-HU" dirty="0">
              <a:latin typeface="Consolas" panose="020B0609020204030204" pitchFamily="49" charset="0"/>
            </a:endParaRPr>
          </a:p>
        </p:txBody>
      </p:sp>
      <p:grpSp>
        <p:nvGrpSpPr>
          <p:cNvPr id="3" name="Csoportba foglalás 2"/>
          <p:cNvGrpSpPr/>
          <p:nvPr/>
        </p:nvGrpSpPr>
        <p:grpSpPr>
          <a:xfrm>
            <a:off x="1379220" y="4914304"/>
            <a:ext cx="3814680" cy="528999"/>
            <a:chOff x="1379220" y="4775291"/>
            <a:chExt cx="3814680" cy="528999"/>
          </a:xfrm>
        </p:grpSpPr>
        <p:sp>
          <p:nvSpPr>
            <p:cNvPr id="9" name="Szövegdoboz 8"/>
            <p:cNvSpPr txBox="1"/>
            <p:nvPr/>
          </p:nvSpPr>
          <p:spPr>
            <a:xfrm>
              <a:off x="2657221" y="5027291"/>
              <a:ext cx="12586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1200" i="1" dirty="0">
                  <a:solidFill>
                    <a:srgbClr val="F9441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hu-HU" sz="1200" i="1" dirty="0" smtClean="0">
                  <a:solidFill>
                    <a:srgbClr val="F9441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érülékeny rész</a:t>
              </a:r>
              <a:endParaRPr lang="hu-HU" sz="1200" i="1" dirty="0">
                <a:solidFill>
                  <a:srgbClr val="F9441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" name="Egyenes összekötő 9"/>
            <p:cNvCxnSpPr/>
            <p:nvPr/>
          </p:nvCxnSpPr>
          <p:spPr>
            <a:xfrm>
              <a:off x="1379220" y="5027291"/>
              <a:ext cx="3814680" cy="0"/>
            </a:xfrm>
            <a:prstGeom prst="line">
              <a:avLst/>
            </a:prstGeom>
            <a:ln w="12700">
              <a:solidFill>
                <a:srgbClr val="F944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Egyenes összekötő 10"/>
            <p:cNvCxnSpPr/>
            <p:nvPr/>
          </p:nvCxnSpPr>
          <p:spPr>
            <a:xfrm flipV="1">
              <a:off x="1379220" y="4775291"/>
              <a:ext cx="0" cy="252000"/>
            </a:xfrm>
            <a:prstGeom prst="line">
              <a:avLst/>
            </a:prstGeom>
            <a:ln w="12700">
              <a:solidFill>
                <a:srgbClr val="F944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Egyenes összekötő 13"/>
            <p:cNvCxnSpPr/>
            <p:nvPr/>
          </p:nvCxnSpPr>
          <p:spPr>
            <a:xfrm flipV="1">
              <a:off x="5193900" y="4775291"/>
              <a:ext cx="0" cy="252000"/>
            </a:xfrm>
            <a:prstGeom prst="line">
              <a:avLst/>
            </a:prstGeom>
            <a:ln w="12700">
              <a:solidFill>
                <a:srgbClr val="F944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Csoportba foglalás 26"/>
          <p:cNvGrpSpPr/>
          <p:nvPr/>
        </p:nvGrpSpPr>
        <p:grpSpPr>
          <a:xfrm>
            <a:off x="2424194" y="4504093"/>
            <a:ext cx="2636654" cy="400240"/>
            <a:chOff x="2424194" y="4256444"/>
            <a:chExt cx="2636654" cy="400240"/>
          </a:xfrm>
        </p:grpSpPr>
        <p:sp>
          <p:nvSpPr>
            <p:cNvPr id="15" name="Szövegdoboz 14"/>
            <p:cNvSpPr txBox="1"/>
            <p:nvPr/>
          </p:nvSpPr>
          <p:spPr>
            <a:xfrm>
              <a:off x="2938850" y="4256444"/>
              <a:ext cx="15986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200" i="1" dirty="0" smtClean="0">
                  <a:solidFill>
                    <a:srgbClr val="F9441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megbízhatatlan elem</a:t>
              </a:r>
              <a:endParaRPr lang="hu-HU" sz="1200" i="1" dirty="0">
                <a:solidFill>
                  <a:srgbClr val="F9441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Egyenes összekötő 17"/>
            <p:cNvCxnSpPr/>
            <p:nvPr/>
          </p:nvCxnSpPr>
          <p:spPr>
            <a:xfrm>
              <a:off x="2424194" y="4548684"/>
              <a:ext cx="2628000" cy="0"/>
            </a:xfrm>
            <a:prstGeom prst="line">
              <a:avLst/>
            </a:prstGeom>
            <a:ln w="12700">
              <a:solidFill>
                <a:srgbClr val="F944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gyenes összekötő 18"/>
            <p:cNvCxnSpPr/>
            <p:nvPr/>
          </p:nvCxnSpPr>
          <p:spPr>
            <a:xfrm flipV="1">
              <a:off x="2424194" y="4548684"/>
              <a:ext cx="0" cy="108000"/>
            </a:xfrm>
            <a:prstGeom prst="line">
              <a:avLst/>
            </a:prstGeom>
            <a:ln w="12700">
              <a:solidFill>
                <a:srgbClr val="F944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gyenes összekötő 23"/>
            <p:cNvCxnSpPr/>
            <p:nvPr/>
          </p:nvCxnSpPr>
          <p:spPr>
            <a:xfrm flipV="1">
              <a:off x="5060848" y="4548684"/>
              <a:ext cx="0" cy="108000"/>
            </a:xfrm>
            <a:prstGeom prst="line">
              <a:avLst/>
            </a:prstGeom>
            <a:ln w="12700">
              <a:solidFill>
                <a:srgbClr val="F944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zövegdoboz 19"/>
          <p:cNvSpPr txBox="1"/>
          <p:nvPr/>
        </p:nvSpPr>
        <p:spPr>
          <a:xfrm>
            <a:off x="2387243" y="2452759"/>
            <a:ext cx="1798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 smtClean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Transzformáció előtt</a:t>
            </a:r>
            <a:endParaRPr lang="hu-HU" sz="14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zövegdoboz 20"/>
          <p:cNvSpPr txBox="1"/>
          <p:nvPr/>
        </p:nvSpPr>
        <p:spPr>
          <a:xfrm>
            <a:off x="8038861" y="2452759"/>
            <a:ext cx="1808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 smtClean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Transzformáció </a:t>
            </a:r>
            <a:r>
              <a:rPr lang="hu-HU" sz="1400" dirty="0" smtClean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után</a:t>
            </a:r>
            <a:endParaRPr lang="hu-HU" sz="14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45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rtalom helye 2"/>
          <p:cNvSpPr>
            <a:spLocks noGrp="1"/>
          </p:cNvSpPr>
          <p:nvPr>
            <p:ph idx="1"/>
          </p:nvPr>
        </p:nvSpPr>
        <p:spPr>
          <a:xfrm>
            <a:off x="1119998" y="628650"/>
            <a:ext cx="10233800" cy="5576889"/>
          </a:xfrm>
        </p:spPr>
        <p:txBody>
          <a:bodyPr/>
          <a:lstStyle/>
          <a:p>
            <a:r>
              <a:rPr lang="hu-HU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megbízhatatlan elem és a sérülékeny rész függ a </a:t>
            </a:r>
            <a:r>
              <a:rPr lang="hu-HU" sz="2400" dirty="0" err="1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list_to_atom</a:t>
            </a:r>
            <a:r>
              <a:rPr lang="hu-HU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függvényhívás típusától:</a:t>
            </a:r>
          </a:p>
          <a:p>
            <a:pPr lvl="1"/>
            <a:r>
              <a:rPr lang="hu-HU" sz="2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Vizsgált műveleten belüli listagenerátorral történő atomgenerálás</a:t>
            </a:r>
          </a:p>
          <a:p>
            <a:pPr lvl="1"/>
            <a:r>
              <a:rPr lang="hu-HU" sz="20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Vizsgált műveleten kívüli listagenerátorral történő atomgenerálás</a:t>
            </a:r>
          </a:p>
          <a:p>
            <a:pPr lvl="1"/>
            <a:r>
              <a:rPr lang="hu-HU" sz="20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Rekurzív </a:t>
            </a:r>
            <a:r>
              <a:rPr lang="hu-HU" sz="2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hívás</a:t>
            </a:r>
          </a:p>
          <a:p>
            <a:pPr lvl="1"/>
            <a:r>
              <a:rPr lang="hu-HU" sz="20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Magasabb rendű függvény</a:t>
            </a:r>
          </a:p>
          <a:p>
            <a:pPr lvl="1"/>
            <a:endParaRPr lang="hu-HU" sz="2000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Lekerekített téglalap 12"/>
          <p:cNvSpPr/>
          <p:nvPr/>
        </p:nvSpPr>
        <p:spPr>
          <a:xfrm>
            <a:off x="1119998" y="3674911"/>
            <a:ext cx="9452753" cy="3124102"/>
          </a:xfrm>
          <a:prstGeom prst="roundRect">
            <a:avLst>
              <a:gd name="adj" fmla="val 18500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high_order_lta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()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-&gt;</a:t>
            </a:r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 smtClean="0">
                <a:solidFill>
                  <a:srgbClr val="B27BCB"/>
                </a:solidFill>
                <a:latin typeface="Consolas" panose="020B0609020204030204" pitchFamily="49" charset="0"/>
              </a:rPr>
              <a:t>case</a:t>
            </a:r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size_check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rgbClr val="2BC7A2"/>
                </a:solidFill>
                <a:latin typeface="Consolas" panose="020B0609020204030204" pitchFamily="49" charset="0"/>
              </a:rPr>
              <a:t>lists</a:t>
            </a:r>
            <a:r>
              <a:rPr lang="hu-HU" dirty="0" err="1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seq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hu-HU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5000000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of</a:t>
            </a:r>
          </a:p>
          <a:p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     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true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2BC7A2"/>
                </a:solidFill>
                <a:latin typeface="Consolas" panose="020B0609020204030204" pitchFamily="49" charset="0"/>
              </a:rPr>
              <a:t>lists</a:t>
            </a:r>
            <a:r>
              <a:rPr lang="hu-HU" dirty="0" err="1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map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rgbClr val="B27BCB"/>
                </a:solidFill>
                <a:latin typeface="Consolas" panose="020B0609020204030204" pitchFamily="49" charset="0"/>
              </a:rPr>
              <a:t>fun</a:t>
            </a:r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X</a:t>
            </a:r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)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-&gt; 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list_to_atom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integer_to_list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X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))</a:t>
            </a:r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end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hu-HU" dirty="0" err="1">
                <a:solidFill>
                  <a:srgbClr val="2BC7A2"/>
                </a:solidFill>
                <a:latin typeface="Consolas" panose="020B0609020204030204" pitchFamily="49" charset="0"/>
              </a:rPr>
              <a:t>lists</a:t>
            </a:r>
            <a:r>
              <a:rPr lang="hu-HU" dirty="0" err="1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seq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hu-HU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5000000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false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 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throw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chemeClr val="tx2"/>
                </a:solidFill>
                <a:latin typeface="Consolas" panose="020B0609020204030204" pitchFamily="49" charset="0"/>
              </a:rPr>
              <a:t>Error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endParaRPr lang="hu-HU" dirty="0">
              <a:solidFill>
                <a:srgbClr val="B27BCB"/>
              </a:solidFill>
              <a:latin typeface="Consolas" panose="020B0609020204030204" pitchFamily="49" charset="0"/>
            </a:endParaRPr>
          </a:p>
          <a:p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   end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endParaRPr lang="hu-HU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size_check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Pattern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length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chemeClr val="tx2"/>
                </a:solidFill>
                <a:latin typeface="Consolas" panose="020B0609020204030204" pitchFamily="49" charset="0"/>
              </a:rPr>
              <a:t>Pattern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&lt; </a:t>
            </a:r>
            <a:r>
              <a:rPr lang="hu-HU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5000000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Lekerekített téglalap 6"/>
          <p:cNvSpPr/>
          <p:nvPr/>
        </p:nvSpPr>
        <p:spPr>
          <a:xfrm>
            <a:off x="1119998" y="2712222"/>
            <a:ext cx="11072002" cy="843441"/>
          </a:xfrm>
          <a:prstGeom prst="roundRect">
            <a:avLst>
              <a:gd name="adj" fmla="val 30015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h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igh_order_lta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-&gt;</a:t>
            </a:r>
          </a:p>
          <a:p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hu-HU" dirty="0" err="1" smtClean="0">
                <a:solidFill>
                  <a:srgbClr val="2BC7A2"/>
                </a:solidFill>
                <a:latin typeface="Consolas" panose="020B0609020204030204" pitchFamily="49" charset="0"/>
              </a:rPr>
              <a:t>lists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map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rgbClr val="B27BCB"/>
                </a:solidFill>
                <a:latin typeface="Consolas" panose="020B0609020204030204" pitchFamily="49" charset="0"/>
              </a:rPr>
              <a:t>fun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X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 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list_to_atom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integer_to_list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X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))</a:t>
            </a:r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end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hu-HU" dirty="0" err="1" smtClean="0">
                <a:solidFill>
                  <a:srgbClr val="2BC7A2"/>
                </a:solidFill>
                <a:latin typeface="Consolas" panose="020B0609020204030204" pitchFamily="49" charset="0"/>
              </a:rPr>
              <a:t>lists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seq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hu-HU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5000000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>
              <a:solidFill>
                <a:srgbClr val="FCF5C0"/>
              </a:solidFill>
              <a:latin typeface="Consolas" panose="020B0609020204030204" pitchFamily="49" charset="0"/>
            </a:endParaRPr>
          </a:p>
          <a:p>
            <a:endParaRPr lang="hu-HU" dirty="0">
              <a:latin typeface="Consolas" panose="020B0609020204030204" pitchFamily="49" charset="0"/>
            </a:endParaRPr>
          </a:p>
        </p:txBody>
      </p:sp>
      <p:grpSp>
        <p:nvGrpSpPr>
          <p:cNvPr id="3" name="Csoportba foglalás 2"/>
          <p:cNvGrpSpPr/>
          <p:nvPr/>
        </p:nvGrpSpPr>
        <p:grpSpPr>
          <a:xfrm>
            <a:off x="1744980" y="3210226"/>
            <a:ext cx="10075545" cy="543561"/>
            <a:chOff x="1744980" y="3053106"/>
            <a:chExt cx="10075545" cy="543561"/>
          </a:xfrm>
        </p:grpSpPr>
        <p:sp>
          <p:nvSpPr>
            <p:cNvPr id="8" name="Szövegdoboz 7"/>
            <p:cNvSpPr txBox="1"/>
            <p:nvPr/>
          </p:nvSpPr>
          <p:spPr>
            <a:xfrm>
              <a:off x="6026660" y="3319668"/>
              <a:ext cx="12586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1200" i="1" dirty="0">
                  <a:solidFill>
                    <a:srgbClr val="F9441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hu-HU" sz="1200" i="1" dirty="0" smtClean="0">
                  <a:solidFill>
                    <a:srgbClr val="F9441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érülékeny rész</a:t>
              </a:r>
              <a:endParaRPr lang="hu-HU" sz="1200" i="1" dirty="0">
                <a:solidFill>
                  <a:srgbClr val="F9441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" name="Egyenes összekötő 8"/>
            <p:cNvCxnSpPr/>
            <p:nvPr/>
          </p:nvCxnSpPr>
          <p:spPr>
            <a:xfrm>
              <a:off x="1744980" y="3314159"/>
              <a:ext cx="10075545" cy="0"/>
            </a:xfrm>
            <a:prstGeom prst="line">
              <a:avLst/>
            </a:prstGeom>
            <a:ln w="12700">
              <a:solidFill>
                <a:srgbClr val="F944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Egyenes összekötő 9"/>
            <p:cNvCxnSpPr/>
            <p:nvPr/>
          </p:nvCxnSpPr>
          <p:spPr>
            <a:xfrm flipV="1">
              <a:off x="1744980" y="3058084"/>
              <a:ext cx="0" cy="252000"/>
            </a:xfrm>
            <a:prstGeom prst="line">
              <a:avLst/>
            </a:prstGeom>
            <a:ln w="12700">
              <a:solidFill>
                <a:srgbClr val="F944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Egyenes összekötő 10"/>
            <p:cNvCxnSpPr/>
            <p:nvPr/>
          </p:nvCxnSpPr>
          <p:spPr>
            <a:xfrm flipV="1">
              <a:off x="11820525" y="3053106"/>
              <a:ext cx="0" cy="252000"/>
            </a:xfrm>
            <a:prstGeom prst="line">
              <a:avLst/>
            </a:prstGeom>
            <a:ln w="12700">
              <a:solidFill>
                <a:srgbClr val="F944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Csoportba foglalás 13"/>
          <p:cNvGrpSpPr/>
          <p:nvPr/>
        </p:nvGrpSpPr>
        <p:grpSpPr>
          <a:xfrm>
            <a:off x="9034544" y="2799784"/>
            <a:ext cx="2636654" cy="391145"/>
            <a:chOff x="2424194" y="4265539"/>
            <a:chExt cx="2636654" cy="391145"/>
          </a:xfrm>
        </p:grpSpPr>
        <p:sp>
          <p:nvSpPr>
            <p:cNvPr id="15" name="Szövegdoboz 14"/>
            <p:cNvSpPr txBox="1"/>
            <p:nvPr/>
          </p:nvSpPr>
          <p:spPr>
            <a:xfrm>
              <a:off x="2931023" y="4265539"/>
              <a:ext cx="16143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200" i="1" dirty="0" smtClean="0">
                  <a:solidFill>
                    <a:srgbClr val="F9441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megbízhatatlan elem</a:t>
              </a:r>
              <a:endParaRPr lang="hu-HU" sz="1200" i="1" dirty="0">
                <a:solidFill>
                  <a:srgbClr val="F9441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Egyenes összekötő 17"/>
            <p:cNvCxnSpPr/>
            <p:nvPr/>
          </p:nvCxnSpPr>
          <p:spPr>
            <a:xfrm>
              <a:off x="2424194" y="4548684"/>
              <a:ext cx="2628000" cy="0"/>
            </a:xfrm>
            <a:prstGeom prst="line">
              <a:avLst/>
            </a:prstGeom>
            <a:ln w="12700">
              <a:solidFill>
                <a:srgbClr val="F944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gyenes összekötő 18"/>
            <p:cNvCxnSpPr/>
            <p:nvPr/>
          </p:nvCxnSpPr>
          <p:spPr>
            <a:xfrm flipV="1">
              <a:off x="2424194" y="4548684"/>
              <a:ext cx="0" cy="108000"/>
            </a:xfrm>
            <a:prstGeom prst="line">
              <a:avLst/>
            </a:prstGeom>
            <a:ln w="12700">
              <a:solidFill>
                <a:srgbClr val="F944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gyenes összekötő 19"/>
            <p:cNvCxnSpPr/>
            <p:nvPr/>
          </p:nvCxnSpPr>
          <p:spPr>
            <a:xfrm flipV="1">
              <a:off x="5060848" y="4548684"/>
              <a:ext cx="0" cy="108000"/>
            </a:xfrm>
            <a:prstGeom prst="line">
              <a:avLst/>
            </a:prstGeom>
            <a:ln w="12700">
              <a:solidFill>
                <a:srgbClr val="F9441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10922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églalap 21"/>
          <p:cNvSpPr/>
          <p:nvPr/>
        </p:nvSpPr>
        <p:spPr>
          <a:xfrm>
            <a:off x="6353801" y="2380149"/>
            <a:ext cx="5819774" cy="1619249"/>
          </a:xfrm>
          <a:prstGeom prst="rect">
            <a:avLst/>
          </a:prstGeom>
          <a:gradFill flip="none" rotWithShape="1">
            <a:gsLst>
              <a:gs pos="20000">
                <a:srgbClr val="124963">
                  <a:alpha val="20000"/>
                </a:srgbClr>
              </a:gs>
              <a:gs pos="68000">
                <a:srgbClr val="1F7599">
                  <a:alpha val="40000"/>
                </a:srgbClr>
              </a:gs>
              <a:gs pos="100000">
                <a:srgbClr val="66BDE0">
                  <a:alpha val="2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noFill/>
            </a:endParaRPr>
          </a:p>
        </p:txBody>
      </p:sp>
      <p:sp>
        <p:nvSpPr>
          <p:cNvPr id="5" name="Tartalom helye 2"/>
          <p:cNvSpPr>
            <a:spLocks noGrp="1"/>
          </p:cNvSpPr>
          <p:nvPr>
            <p:ph sz="half" idx="1"/>
          </p:nvPr>
        </p:nvSpPr>
        <p:spPr>
          <a:xfrm>
            <a:off x="1119999" y="2066925"/>
            <a:ext cx="6506351" cy="2118395"/>
          </a:xfrm>
        </p:spPr>
        <p:txBody>
          <a:bodyPr>
            <a:normAutofit/>
          </a:bodyPr>
          <a:lstStyle/>
          <a:p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következő függvényekre alkalmazható jelenleg:</a:t>
            </a:r>
          </a:p>
          <a:p>
            <a:pPr lvl="1"/>
            <a:r>
              <a:rPr lang="hu-HU" sz="2000" dirty="0" err="1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binary_to_atom</a:t>
            </a:r>
            <a:r>
              <a:rPr lang="hu-HU" sz="2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hu-HU" sz="20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binary_to_existing_atom</a:t>
            </a:r>
            <a:endParaRPr lang="hu-HU" sz="2000" dirty="0" smtClean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hu-HU" sz="2000" dirty="0" err="1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list_to_atom</a:t>
            </a:r>
            <a:r>
              <a:rPr lang="hu-HU" sz="20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hu-HU" sz="2000" dirty="0" err="1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list_to_existing_atom</a:t>
            </a:r>
            <a:endParaRPr lang="hu-HU" sz="2000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hu-HU" sz="2000" dirty="0" err="1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binary_to_term</a:t>
            </a:r>
            <a:r>
              <a:rPr lang="hu-HU" sz="2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hu-HU" sz="2000" i="1" dirty="0" err="1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</a:t>
            </a:r>
            <a:r>
              <a:rPr lang="hu-HU" sz="2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paraméter opció </a:t>
            </a:r>
            <a:r>
              <a:rPr lang="hu-HU" sz="2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bevezetése</a:t>
            </a:r>
            <a:endParaRPr lang="hu-HU" sz="2000" dirty="0" smtClean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Lekerekített téglalap 5"/>
          <p:cNvSpPr/>
          <p:nvPr/>
        </p:nvSpPr>
        <p:spPr>
          <a:xfrm>
            <a:off x="1120000" y="4709925"/>
            <a:ext cx="4556900" cy="879336"/>
          </a:xfrm>
          <a:prstGeom prst="roundRect">
            <a:avLst>
              <a:gd name="adj" fmla="val 41956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func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binary_to_atom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Expr1, Expr2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>
              <a:latin typeface="Consolas" panose="020B0609020204030204" pitchFamily="49" charset="0"/>
            </a:endParaRPr>
          </a:p>
        </p:txBody>
      </p:sp>
      <p:sp>
        <p:nvSpPr>
          <p:cNvPr id="9" name="Lekerekített téglalap 8"/>
          <p:cNvSpPr/>
          <p:nvPr/>
        </p:nvSpPr>
        <p:spPr>
          <a:xfrm>
            <a:off x="7156768" y="4714335"/>
            <a:ext cx="3666487" cy="874926"/>
          </a:xfrm>
          <a:prstGeom prst="roundRect">
            <a:avLst>
              <a:gd name="adj" fmla="val 41956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deserialization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binary_to_term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Expr1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>
              <a:latin typeface="Consolas" panose="020B0609020204030204" pitchFamily="49" charset="0"/>
            </a:endParaRPr>
          </a:p>
        </p:txBody>
      </p:sp>
      <p:sp>
        <p:nvSpPr>
          <p:cNvPr id="12" name="Cím 1"/>
          <p:cNvSpPr txBox="1">
            <a:spLocks/>
          </p:cNvSpPr>
          <p:nvPr/>
        </p:nvSpPr>
        <p:spPr>
          <a:xfrm>
            <a:off x="0" y="365125"/>
            <a:ext cx="11353798" cy="148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Implementált transzformációk bemutatása – sérülékeny függvények cseréje</a:t>
            </a:r>
            <a:endParaRPr lang="hu-HU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Lekerekített téglalap 12"/>
          <p:cNvSpPr/>
          <p:nvPr/>
        </p:nvSpPr>
        <p:spPr>
          <a:xfrm>
            <a:off x="1119999" y="5750896"/>
            <a:ext cx="5690340" cy="885470"/>
          </a:xfrm>
          <a:prstGeom prst="roundRect">
            <a:avLst>
              <a:gd name="adj" fmla="val 41956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func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binary_to_existing_atom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Expr1, Expr2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>
              <a:latin typeface="Consolas" panose="020B0609020204030204" pitchFamily="49" charset="0"/>
            </a:endParaRPr>
          </a:p>
        </p:txBody>
      </p:sp>
      <p:sp>
        <p:nvSpPr>
          <p:cNvPr id="16" name="Lekerekített téglalap 15"/>
          <p:cNvSpPr/>
          <p:nvPr/>
        </p:nvSpPr>
        <p:spPr>
          <a:xfrm>
            <a:off x="7156768" y="5750896"/>
            <a:ext cx="4666613" cy="885472"/>
          </a:xfrm>
          <a:prstGeom prst="roundRect">
            <a:avLst>
              <a:gd name="adj" fmla="val 41956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deserialization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binary_to_term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Expr1,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[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safe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]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>
              <a:latin typeface="Consolas" panose="020B0609020204030204" pitchFamily="49" charset="0"/>
            </a:endParaRPr>
          </a:p>
        </p:txBody>
      </p:sp>
      <p:cxnSp>
        <p:nvCxnSpPr>
          <p:cNvPr id="18" name="Egyenes összekötő nyíllal 17"/>
          <p:cNvCxnSpPr/>
          <p:nvPr/>
        </p:nvCxnSpPr>
        <p:spPr>
          <a:xfrm>
            <a:off x="3738571" y="2886078"/>
            <a:ext cx="18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nyíllal 18"/>
          <p:cNvCxnSpPr/>
          <p:nvPr/>
        </p:nvCxnSpPr>
        <p:spPr>
          <a:xfrm>
            <a:off x="3369045" y="3190878"/>
            <a:ext cx="18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nyíllal 19"/>
          <p:cNvCxnSpPr/>
          <p:nvPr/>
        </p:nvCxnSpPr>
        <p:spPr>
          <a:xfrm>
            <a:off x="3667134" y="3490916"/>
            <a:ext cx="18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zövegdoboz 22"/>
          <p:cNvSpPr txBox="1"/>
          <p:nvPr/>
        </p:nvSpPr>
        <p:spPr>
          <a:xfrm>
            <a:off x="8354050" y="2528532"/>
            <a:ext cx="38195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A megadott sérülékeny függvényt kicserélem a biztonságos párjára, valamint bizonyos transzformáció esetén módosítom a bemeneti paramétereket.</a:t>
            </a:r>
          </a:p>
        </p:txBody>
      </p:sp>
      <p:sp>
        <p:nvSpPr>
          <p:cNvPr id="14" name="Szövegdoboz 13"/>
          <p:cNvSpPr txBox="1"/>
          <p:nvPr/>
        </p:nvSpPr>
        <p:spPr>
          <a:xfrm>
            <a:off x="2499133" y="4397813"/>
            <a:ext cx="20365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dirty="0" smtClean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Transzformáció előtt</a:t>
            </a:r>
            <a:endParaRPr lang="hu-HU" sz="16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zövegdoboz 14"/>
          <p:cNvSpPr txBox="1"/>
          <p:nvPr/>
        </p:nvSpPr>
        <p:spPr>
          <a:xfrm>
            <a:off x="7966141" y="4397813"/>
            <a:ext cx="20477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dirty="0" smtClean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Transzformáció </a:t>
            </a:r>
            <a:r>
              <a:rPr lang="hu-HU" sz="1600" dirty="0" smtClean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után</a:t>
            </a:r>
            <a:endParaRPr lang="hu-HU" sz="16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15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 helye 4"/>
          <p:cNvSpPr>
            <a:spLocks noGrp="1"/>
          </p:cNvSpPr>
          <p:nvPr>
            <p:ph type="body" idx="1"/>
          </p:nvPr>
        </p:nvSpPr>
        <p:spPr>
          <a:xfrm>
            <a:off x="1024750" y="1362075"/>
            <a:ext cx="5025216" cy="1143000"/>
          </a:xfrm>
        </p:spPr>
        <p:txBody>
          <a:bodyPr>
            <a:normAutofit/>
          </a:bodyPr>
          <a:lstStyle/>
          <a:p>
            <a:pPr algn="ctr"/>
            <a:r>
              <a:rPr lang="hu-HU" sz="2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Projektekben előforduló </a:t>
            </a:r>
            <a:r>
              <a:rPr lang="hu-HU" sz="2000" u="sng" dirty="0" err="1" smtClean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list_to_atom</a:t>
            </a:r>
            <a:r>
              <a:rPr lang="hu-HU" sz="2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függvényekre alkalmazott </a:t>
            </a:r>
            <a:r>
              <a:rPr lang="hu-HU" sz="2000" u="sng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korlátozó transzformáció </a:t>
            </a:r>
            <a:r>
              <a:rPr lang="hu-HU" sz="2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eredményei</a:t>
            </a:r>
            <a:endParaRPr lang="hu-HU" sz="2000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Tartalom helye 9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34919357"/>
              </p:ext>
            </p:extLst>
          </p:nvPr>
        </p:nvGraphicFramePr>
        <p:xfrm>
          <a:off x="1025527" y="2768600"/>
          <a:ext cx="5024439" cy="28854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450973">
                  <a:extLst>
                    <a:ext uri="{9D8B030D-6E8A-4147-A177-3AD203B41FA5}">
                      <a16:colId xmlns:a16="http://schemas.microsoft.com/office/drawing/2014/main" val="66062940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977152221"/>
                    </a:ext>
                  </a:extLst>
                </a:gridCol>
                <a:gridCol w="1592266">
                  <a:extLst>
                    <a:ext uri="{9D8B030D-6E8A-4147-A177-3AD203B41FA5}">
                      <a16:colId xmlns:a16="http://schemas.microsoft.com/office/drawing/2014/main" val="3437047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Alkalmazás neve</a:t>
                      </a:r>
                      <a:endParaRPr lang="hu-H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Felismert sérülékenységek száma</a:t>
                      </a:r>
                      <a:endParaRPr lang="hu-H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Átlagos futási idő</a:t>
                      </a:r>
                      <a:endParaRPr lang="hu-H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686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Miner</a:t>
                      </a:r>
                      <a:endParaRPr lang="hu-HU" sz="16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hu-HU" sz="16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28751 </a:t>
                      </a:r>
                      <a:r>
                        <a:rPr lang="hu-HU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</a:t>
                      </a:r>
                      <a:endParaRPr lang="hu-HU" sz="16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0011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Lager</a:t>
                      </a:r>
                      <a:endParaRPr lang="hu-HU" sz="16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hu-HU" sz="16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2182 </a:t>
                      </a:r>
                      <a:r>
                        <a:rPr lang="hu-HU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</a:t>
                      </a:r>
                      <a:endParaRPr lang="hu-HU" sz="16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089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Mochiweb</a:t>
                      </a:r>
                      <a:endParaRPr lang="hu-HU" sz="16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hu-HU" sz="16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2125 </a:t>
                      </a:r>
                      <a:r>
                        <a:rPr lang="hu-HU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</a:t>
                      </a:r>
                      <a:endParaRPr lang="hu-HU" sz="16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2297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Erlware</a:t>
                      </a:r>
                      <a:r>
                        <a:rPr lang="hu-HU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16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Commons</a:t>
                      </a:r>
                      <a:endParaRPr lang="hu-HU" sz="16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hu-HU" sz="16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hu-HU" sz="16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608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MongooseIM</a:t>
                      </a:r>
                      <a:endParaRPr lang="hu-HU" sz="16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  <a:endParaRPr lang="hu-HU" sz="16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54201 </a:t>
                      </a:r>
                      <a:r>
                        <a:rPr lang="hu-HU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</a:t>
                      </a:r>
                      <a:endParaRPr lang="hu-HU" sz="16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0853197"/>
                  </a:ext>
                </a:extLst>
              </a:tr>
            </a:tbl>
          </a:graphicData>
        </a:graphic>
      </p:graphicFrame>
      <p:sp>
        <p:nvSpPr>
          <p:cNvPr id="7" name="Szöveg helye 6"/>
          <p:cNvSpPr>
            <a:spLocks noGrp="1"/>
          </p:cNvSpPr>
          <p:nvPr>
            <p:ph type="body" sz="quarter" idx="3"/>
          </p:nvPr>
        </p:nvSpPr>
        <p:spPr>
          <a:xfrm>
            <a:off x="6415090" y="1362075"/>
            <a:ext cx="5035548" cy="1143000"/>
          </a:xfrm>
        </p:spPr>
        <p:txBody>
          <a:bodyPr>
            <a:normAutofit/>
          </a:bodyPr>
          <a:lstStyle/>
          <a:p>
            <a:pPr algn="ctr"/>
            <a:r>
              <a:rPr lang="hu-HU" sz="20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Projektekben előforduló </a:t>
            </a:r>
            <a:r>
              <a:rPr lang="hu-HU" sz="2000" u="sng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nem biztonságos függvényekre </a:t>
            </a:r>
            <a:r>
              <a:rPr lang="hu-HU" sz="20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alkalmazott </a:t>
            </a:r>
            <a:r>
              <a:rPr lang="hu-HU" sz="2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transzformáció eredményei</a:t>
            </a:r>
            <a:endParaRPr lang="hu-HU" sz="2000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ím 1"/>
          <p:cNvSpPr txBox="1">
            <a:spLocks/>
          </p:cNvSpPr>
          <p:nvPr/>
        </p:nvSpPr>
        <p:spPr>
          <a:xfrm>
            <a:off x="0" y="365125"/>
            <a:ext cx="12192000" cy="733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Bemutatott transzformációk </a:t>
            </a:r>
            <a:r>
              <a:rPr lang="hu-HU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eredménye</a:t>
            </a:r>
            <a:endParaRPr lang="hu-HU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Tartalom helye 9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06229472"/>
              </p:ext>
            </p:extLst>
          </p:nvPr>
        </p:nvGraphicFramePr>
        <p:xfrm>
          <a:off x="6426199" y="2768600"/>
          <a:ext cx="5024439" cy="35458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460501">
                  <a:extLst>
                    <a:ext uri="{9D8B030D-6E8A-4147-A177-3AD203B41FA5}">
                      <a16:colId xmlns:a16="http://schemas.microsoft.com/office/drawing/2014/main" val="660629407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977152221"/>
                    </a:ext>
                  </a:extLst>
                </a:gridCol>
                <a:gridCol w="1535113">
                  <a:extLst>
                    <a:ext uri="{9D8B030D-6E8A-4147-A177-3AD203B41FA5}">
                      <a16:colId xmlns:a16="http://schemas.microsoft.com/office/drawing/2014/main" val="3437047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Alkalmazás neve</a:t>
                      </a:r>
                      <a:endParaRPr lang="hu-H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Sérülékeny </a:t>
                      </a:r>
                      <a:r>
                        <a:rPr lang="hu-HU" sz="16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függvének</a:t>
                      </a:r>
                      <a:endParaRPr lang="hu-H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Átlagos futási idő</a:t>
                      </a:r>
                      <a:endParaRPr lang="hu-H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8686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Miner</a:t>
                      </a:r>
                      <a:endParaRPr lang="hu-HU" sz="16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list_to_atom</a:t>
                      </a:r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(2),</a:t>
                      </a:r>
                    </a:p>
                    <a:p>
                      <a:pPr algn="ctr"/>
                      <a:r>
                        <a:rPr lang="hu-HU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binary_to_atom</a:t>
                      </a:r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(2),</a:t>
                      </a:r>
                    </a:p>
                    <a:p>
                      <a:pPr algn="ctr"/>
                      <a:r>
                        <a:rPr lang="hu-HU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binary_to_term</a:t>
                      </a:r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(14)</a:t>
                      </a:r>
                      <a:endParaRPr lang="hu-HU" sz="16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28960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</a:p>
                    <a:p>
                      <a:pPr algn="ctr"/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30738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</a:p>
                    <a:p>
                      <a:pPr algn="ctr"/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27149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</a:t>
                      </a:r>
                      <a:endParaRPr lang="hu-HU" sz="16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0011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Lager</a:t>
                      </a:r>
                      <a:endParaRPr lang="hu-HU" sz="16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list_to_atom</a:t>
                      </a:r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3288 </a:t>
                      </a:r>
                      <a:r>
                        <a:rPr lang="hu-HU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</a:t>
                      </a:r>
                      <a:endParaRPr lang="hu-HU" sz="16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089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Mochiweb</a:t>
                      </a:r>
                      <a:endParaRPr lang="hu-HU" sz="16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list_to_atom</a:t>
                      </a:r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3650 </a:t>
                      </a:r>
                      <a:r>
                        <a:rPr lang="hu-HU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</a:t>
                      </a:r>
                      <a:endParaRPr lang="hu-HU" sz="16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2297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Erlware</a:t>
                      </a:r>
                      <a:r>
                        <a:rPr lang="hu-HU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16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Commons</a:t>
                      </a:r>
                      <a:endParaRPr lang="hu-HU" sz="16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hu-HU" sz="16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hu-HU" sz="16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608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MongooseIM</a:t>
                      </a:r>
                      <a:endParaRPr lang="hu-HU" sz="16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list_to_atom</a:t>
                      </a:r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(29),</a:t>
                      </a:r>
                    </a:p>
                    <a:p>
                      <a:pPr algn="ctr"/>
                      <a:r>
                        <a:rPr lang="hu-HU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binary_to_atom</a:t>
                      </a:r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(18),</a:t>
                      </a:r>
                    </a:p>
                    <a:p>
                      <a:pPr algn="ctr"/>
                      <a:r>
                        <a:rPr lang="hu-HU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binary_to_term</a:t>
                      </a:r>
                      <a:r>
                        <a:rPr lang="hu-HU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(8)</a:t>
                      </a:r>
                      <a:endParaRPr lang="hu-HU" sz="16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48534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</a:p>
                    <a:p>
                      <a:pPr algn="ctr"/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48808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</a:p>
                    <a:p>
                      <a:pPr algn="ctr"/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47843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</a:t>
                      </a:r>
                      <a:endParaRPr lang="hu-HU" sz="16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0853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95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ím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36675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hu-HU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Atomgenerálást </a:t>
            </a:r>
            <a:r>
              <a:rPr lang="hu-HU" sz="4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korlátozó</a:t>
            </a:r>
            <a:r>
              <a:rPr lang="hu-HU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transzformáció</a:t>
            </a:r>
            <a:r>
              <a:rPr lang="hu-HU" sz="2000" i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hu-HU" sz="2000" i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2000" i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hu-HU" sz="2000" i="1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Miner</a:t>
            </a:r>
            <a:r>
              <a:rPr lang="hu-HU" sz="2000" i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projekt, </a:t>
            </a:r>
            <a:r>
              <a:rPr lang="hu-HU" sz="2000" i="1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poc</a:t>
            </a:r>
            <a:r>
              <a:rPr lang="hu-HU" sz="2000" i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hu-HU" sz="2000" i="1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miner_poc_grpc_client_statem.erl</a:t>
            </a:r>
            <a:r>
              <a:rPr lang="hu-HU" sz="2000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fájl, 678-695</a:t>
            </a:r>
            <a:r>
              <a:rPr lang="hu-HU" sz="2000" i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sor)</a:t>
            </a:r>
            <a:endParaRPr lang="hu-HU" sz="2000" i="1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Tartalom helye 15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64" y="1898648"/>
            <a:ext cx="5707686" cy="3410899"/>
          </a:xfrm>
        </p:spPr>
      </p:pic>
      <p:pic>
        <p:nvPicPr>
          <p:cNvPr id="17" name="Tartalom helye 16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377" y="1898648"/>
            <a:ext cx="4974384" cy="4370208"/>
          </a:xfrm>
        </p:spPr>
      </p:pic>
      <p:sp>
        <p:nvSpPr>
          <p:cNvPr id="18" name="Szövegdoboz 17"/>
          <p:cNvSpPr txBox="1"/>
          <p:nvPr/>
        </p:nvSpPr>
        <p:spPr>
          <a:xfrm>
            <a:off x="2356612" y="5309547"/>
            <a:ext cx="2266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Transzformáció előtt</a:t>
            </a:r>
            <a:endParaRPr lang="hu-HU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zövegdoboz 18"/>
          <p:cNvSpPr txBox="1"/>
          <p:nvPr/>
        </p:nvSpPr>
        <p:spPr>
          <a:xfrm>
            <a:off x="7988374" y="6268856"/>
            <a:ext cx="2279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Transzformáció után</a:t>
            </a:r>
            <a:endParaRPr lang="hu-HU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334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ím 1"/>
          <p:cNvSpPr txBox="1">
            <a:spLocks/>
          </p:cNvSpPr>
          <p:nvPr/>
        </p:nvSpPr>
        <p:spPr>
          <a:xfrm>
            <a:off x="-323850" y="4746625"/>
            <a:ext cx="12192000" cy="733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u-H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Tartalom helye 19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1943599"/>
            <a:ext cx="8985250" cy="1670068"/>
          </a:xfrm>
        </p:spPr>
      </p:pic>
      <p:pic>
        <p:nvPicPr>
          <p:cNvPr id="21" name="Tartalom helye 20"/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4233247"/>
            <a:ext cx="8985250" cy="1961318"/>
          </a:xfrm>
        </p:spPr>
      </p:pic>
      <p:sp>
        <p:nvSpPr>
          <p:cNvPr id="19" name="Cím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36675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hu-HU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Nem biztonságos</a:t>
            </a:r>
            <a:r>
              <a:rPr lang="hu-HU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függvény </a:t>
            </a:r>
            <a:r>
              <a:rPr lang="hu-HU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cseréje</a:t>
            </a:r>
            <a:r>
              <a:rPr lang="hu-HU" sz="2000" i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hu-HU" sz="2000" i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2000" i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hu-HU" sz="2000" i="1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Miner</a:t>
            </a:r>
            <a:r>
              <a:rPr lang="hu-HU" sz="2000" i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projekt, </a:t>
            </a:r>
            <a:r>
              <a:rPr lang="hu-HU" sz="2000" i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miner_lora.erl</a:t>
            </a:r>
            <a:r>
              <a:rPr lang="hu-HU" sz="2000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fájl, 759-765. </a:t>
            </a:r>
            <a:r>
              <a:rPr lang="hu-HU" sz="2000" i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sor)</a:t>
            </a:r>
            <a:endParaRPr lang="hu-HU" sz="2000" i="1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zövegdoboz 21"/>
          <p:cNvSpPr txBox="1"/>
          <p:nvPr/>
        </p:nvSpPr>
        <p:spPr>
          <a:xfrm>
            <a:off x="4495662" y="3620532"/>
            <a:ext cx="2266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Transzformáció előtt</a:t>
            </a:r>
            <a:endParaRPr lang="hu-HU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zövegdoboz 22"/>
          <p:cNvSpPr txBox="1"/>
          <p:nvPr/>
        </p:nvSpPr>
        <p:spPr>
          <a:xfrm>
            <a:off x="4632543" y="6197225"/>
            <a:ext cx="2279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Transzformáció után</a:t>
            </a:r>
            <a:endParaRPr lang="hu-HU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848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wrap="square" anchor="ctr" anchorCtr="0">
            <a:normAutofit/>
          </a:bodyPr>
          <a:lstStyle/>
          <a:p>
            <a:pPr algn="ctr"/>
            <a:r>
              <a:rPr lang="hu-HU" sz="5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Köszönöm a figyelmet!</a:t>
            </a:r>
            <a:endParaRPr lang="hu-HU" sz="5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84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76301" y="1825625"/>
            <a:ext cx="6362700" cy="4351338"/>
          </a:xfrm>
        </p:spPr>
        <p:txBody>
          <a:bodyPr>
            <a:normAutofit/>
          </a:bodyPr>
          <a:lstStyle/>
          <a:p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Kritikus rendszerek az iparág minden területén.</a:t>
            </a:r>
          </a:p>
          <a:p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Jobb minőségű kód, ha a lehetséges sérülékenységeket korán azonosítják.</a:t>
            </a:r>
          </a:p>
          <a:p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Szabványok:</a:t>
            </a:r>
            <a:r>
              <a:rPr lang="hu-HU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hu-H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ISO/IEC 27001: A forráskód és a fejlesztési folyamat biztonságára irányul.</a:t>
            </a:r>
          </a:p>
          <a:p>
            <a:pPr lvl="1"/>
            <a:r>
              <a:rPr lang="hu-H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OWASP: Fejlesztői irányelvekre és a kódban előforduló különböző sérülékenységekre összpontosít.</a:t>
            </a:r>
          </a:p>
        </p:txBody>
      </p:sp>
      <p:sp>
        <p:nvSpPr>
          <p:cNvPr id="4" name="Cím 1"/>
          <p:cNvSpPr txBox="1">
            <a:spLocks/>
          </p:cNvSpPr>
          <p:nvPr/>
        </p:nvSpPr>
        <p:spPr>
          <a:xfrm>
            <a:off x="0" y="365125"/>
            <a:ext cx="12192000" cy="733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 Forráskód biztonsága</a:t>
            </a:r>
            <a:endParaRPr lang="hu-H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Csoportba foglalás 7"/>
          <p:cNvGrpSpPr/>
          <p:nvPr/>
        </p:nvGrpSpPr>
        <p:grpSpPr>
          <a:xfrm>
            <a:off x="6372226" y="1705197"/>
            <a:ext cx="5819774" cy="3600000"/>
            <a:chOff x="6372226" y="1705197"/>
            <a:chExt cx="5819774" cy="3600000"/>
          </a:xfrm>
        </p:grpSpPr>
        <p:sp>
          <p:nvSpPr>
            <p:cNvPr id="2" name="Téglalap 1"/>
            <p:cNvSpPr/>
            <p:nvPr/>
          </p:nvSpPr>
          <p:spPr>
            <a:xfrm>
              <a:off x="6372226" y="2562223"/>
              <a:ext cx="5819774" cy="1619249"/>
            </a:xfrm>
            <a:prstGeom prst="rect">
              <a:avLst/>
            </a:prstGeom>
            <a:gradFill flip="none" rotWithShape="1">
              <a:gsLst>
                <a:gs pos="20000">
                  <a:srgbClr val="124963">
                    <a:alpha val="20000"/>
                  </a:srgbClr>
                </a:gs>
                <a:gs pos="68000">
                  <a:srgbClr val="1F7599">
                    <a:alpha val="40000"/>
                  </a:srgbClr>
                </a:gs>
                <a:gs pos="100000">
                  <a:srgbClr val="66BDE0">
                    <a:alpha val="2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pic>
          <p:nvPicPr>
            <p:cNvPr id="7" name="Kép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2000" y="1705197"/>
              <a:ext cx="3600000" cy="360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2322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Csoportba foglalás 9"/>
          <p:cNvGrpSpPr/>
          <p:nvPr/>
        </p:nvGrpSpPr>
        <p:grpSpPr>
          <a:xfrm>
            <a:off x="6372226" y="1705196"/>
            <a:ext cx="5819774" cy="3600000"/>
            <a:chOff x="6372226" y="1705196"/>
            <a:chExt cx="5819774" cy="3600000"/>
          </a:xfrm>
        </p:grpSpPr>
        <p:sp>
          <p:nvSpPr>
            <p:cNvPr id="8" name="Téglalap 7"/>
            <p:cNvSpPr/>
            <p:nvPr/>
          </p:nvSpPr>
          <p:spPr>
            <a:xfrm>
              <a:off x="6372226" y="2562222"/>
              <a:ext cx="5819774" cy="1619249"/>
            </a:xfrm>
            <a:prstGeom prst="rect">
              <a:avLst/>
            </a:prstGeom>
            <a:gradFill flip="none" rotWithShape="1">
              <a:gsLst>
                <a:gs pos="20000">
                  <a:srgbClr val="124963">
                    <a:alpha val="20000"/>
                  </a:srgbClr>
                </a:gs>
                <a:gs pos="68000">
                  <a:srgbClr val="1F7599">
                    <a:alpha val="40000"/>
                  </a:srgbClr>
                </a:gs>
                <a:gs pos="100000">
                  <a:srgbClr val="66BDE0">
                    <a:alpha val="2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pic>
          <p:nvPicPr>
            <p:cNvPr id="9" name="Kép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2000" y="1705196"/>
              <a:ext cx="3600000" cy="3600000"/>
            </a:xfrm>
            <a:prstGeom prst="rect">
              <a:avLst/>
            </a:prstGeom>
          </p:spPr>
        </p:pic>
      </p:grp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76301" y="1825624"/>
            <a:ext cx="6362700" cy="4803775"/>
          </a:xfrm>
        </p:spPr>
        <p:txBody>
          <a:bodyPr>
            <a:normAutofit fontScale="92500" lnSpcReduction="20000"/>
          </a:bodyPr>
          <a:lstStyle/>
          <a:p>
            <a:r>
              <a:rPr lang="hu-HU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Deklaratív funkcionális programozási nyelv, eredetileg telekommunikációs rendszerekre fejlesztettek ki.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Legfontosabb nyelvi jellemzői: 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megváltoztathatatlan </a:t>
            </a:r>
            <a:r>
              <a:rPr lang="hu-HU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adatszerkezetek, </a:t>
            </a:r>
            <a:endParaRPr lang="hu-HU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elosztottság támogatása, </a:t>
            </a:r>
          </a:p>
          <a:p>
            <a:pPr lvl="1"/>
            <a:r>
              <a:rPr lang="hu-HU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párhuzamosság,</a:t>
            </a:r>
            <a:endParaRPr lang="hu-HU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hibatűrő modell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nyelv gyakori sérülékenységei: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Együttműködésből fakadó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Konkurens programozásból eredő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Elosztott programozásból adódó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Beszúrásos támadások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Memória túlterhelés</a:t>
            </a:r>
          </a:p>
        </p:txBody>
      </p:sp>
      <p:sp>
        <p:nvSpPr>
          <p:cNvPr id="4" name="Cím 1"/>
          <p:cNvSpPr txBox="1">
            <a:spLocks/>
          </p:cNvSpPr>
          <p:nvPr/>
        </p:nvSpPr>
        <p:spPr>
          <a:xfrm>
            <a:off x="0" y="365125"/>
            <a:ext cx="12192000" cy="733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hu-HU" sz="4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Erlang</a:t>
            </a:r>
            <a:r>
              <a:rPr lang="hu-HU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és gyakori sérülékenységei</a:t>
            </a:r>
            <a:endParaRPr lang="hu-HU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68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76301" y="1825624"/>
            <a:ext cx="6362700" cy="4752975"/>
          </a:xfrm>
        </p:spPr>
        <p:txBody>
          <a:bodyPr>
            <a:normAutofit/>
          </a:bodyPr>
          <a:lstStyle/>
          <a:p>
            <a:r>
              <a:rPr lang="hu-HU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statikus kódelemzés költséghatékonyabbá teszi a fejlesztési folyamatokat. Futás előtt átvizsgálja a kódot, ezzel nő a kód minősége és biztonsága.</a:t>
            </a:r>
          </a:p>
          <a:p>
            <a:r>
              <a:rPr lang="hu-HU" sz="2400" dirty="0" err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RefactorErl</a:t>
            </a:r>
            <a:r>
              <a:rPr lang="hu-HU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statikus elemző és transzformáló eszköz:</a:t>
            </a:r>
          </a:p>
          <a:p>
            <a:pPr lvl="1"/>
            <a:r>
              <a:rPr lang="hu-HU" sz="2000" dirty="0" err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Kódbeli</a:t>
            </a:r>
            <a:r>
              <a:rPr lang="hu-HU" sz="20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refaktorálások</a:t>
            </a:r>
            <a:r>
              <a:rPr lang="hu-HU" sz="20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amelyek nem változtatják meg a program viselkedését</a:t>
            </a:r>
          </a:p>
          <a:p>
            <a:pPr lvl="1"/>
            <a:r>
              <a:rPr lang="hu-HU" sz="20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Különféle lekérdezések, elemzések</a:t>
            </a:r>
          </a:p>
          <a:p>
            <a:pPr lvl="1"/>
            <a:r>
              <a:rPr lang="hu-HU" sz="20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Szemantikus programgráfban reprezentálja a forráskódot, elemzés során ezt járja </a:t>
            </a:r>
            <a:r>
              <a:rPr lang="hu-HU" sz="20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</a:p>
        </p:txBody>
      </p:sp>
      <p:sp>
        <p:nvSpPr>
          <p:cNvPr id="4" name="Cím 1"/>
          <p:cNvSpPr txBox="1">
            <a:spLocks/>
          </p:cNvSpPr>
          <p:nvPr/>
        </p:nvSpPr>
        <p:spPr>
          <a:xfrm>
            <a:off x="0" y="365125"/>
            <a:ext cx="12192000" cy="733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Statikus kódelemzés és </a:t>
            </a:r>
            <a:r>
              <a:rPr lang="hu-HU" sz="4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RefactorErl</a:t>
            </a:r>
            <a:endParaRPr lang="hu-HU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Csoportba foglalás 1"/>
          <p:cNvGrpSpPr/>
          <p:nvPr/>
        </p:nvGrpSpPr>
        <p:grpSpPr>
          <a:xfrm>
            <a:off x="6372226" y="1704975"/>
            <a:ext cx="5819774" cy="3600000"/>
            <a:chOff x="6372226" y="1704975"/>
            <a:chExt cx="5819774" cy="3600000"/>
          </a:xfrm>
        </p:grpSpPr>
        <p:sp>
          <p:nvSpPr>
            <p:cNvPr id="8" name="Téglalap 7"/>
            <p:cNvSpPr/>
            <p:nvPr/>
          </p:nvSpPr>
          <p:spPr>
            <a:xfrm>
              <a:off x="6372226" y="2562222"/>
              <a:ext cx="5819774" cy="1619249"/>
            </a:xfrm>
            <a:prstGeom prst="rect">
              <a:avLst/>
            </a:prstGeom>
            <a:gradFill flip="none" rotWithShape="1">
              <a:gsLst>
                <a:gs pos="20000">
                  <a:srgbClr val="124963">
                    <a:alpha val="20000"/>
                  </a:srgbClr>
                </a:gs>
                <a:gs pos="68000">
                  <a:srgbClr val="1F7599">
                    <a:alpha val="40000"/>
                  </a:srgbClr>
                </a:gs>
                <a:gs pos="100000">
                  <a:srgbClr val="66BDE0">
                    <a:alpha val="2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pic>
          <p:nvPicPr>
            <p:cNvPr id="10" name="Kép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2000" y="1704975"/>
              <a:ext cx="3600000" cy="360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503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1"/>
          <p:cNvGrpSpPr/>
          <p:nvPr/>
        </p:nvGrpSpPr>
        <p:grpSpPr>
          <a:xfrm>
            <a:off x="6372226" y="1704975"/>
            <a:ext cx="5819774" cy="3600000"/>
            <a:chOff x="6372226" y="1704975"/>
            <a:chExt cx="5819774" cy="3600000"/>
          </a:xfrm>
        </p:grpSpPr>
        <p:sp>
          <p:nvSpPr>
            <p:cNvPr id="8" name="Téglalap 7"/>
            <p:cNvSpPr/>
            <p:nvPr/>
          </p:nvSpPr>
          <p:spPr>
            <a:xfrm>
              <a:off x="6372226" y="2562222"/>
              <a:ext cx="5819774" cy="1619249"/>
            </a:xfrm>
            <a:prstGeom prst="rect">
              <a:avLst/>
            </a:prstGeom>
            <a:gradFill flip="none" rotWithShape="1">
              <a:gsLst>
                <a:gs pos="20000">
                  <a:srgbClr val="124963">
                    <a:alpha val="20000"/>
                  </a:srgbClr>
                </a:gs>
                <a:gs pos="68000">
                  <a:srgbClr val="1F7599">
                    <a:alpha val="40000"/>
                  </a:srgbClr>
                </a:gs>
                <a:gs pos="100000">
                  <a:srgbClr val="66BDE0">
                    <a:alpha val="2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pic>
          <p:nvPicPr>
            <p:cNvPr id="10" name="Kép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2000" y="1704975"/>
              <a:ext cx="3600000" cy="3600000"/>
            </a:xfrm>
            <a:prstGeom prst="rect">
              <a:avLst/>
            </a:prstGeom>
          </p:spPr>
        </p:pic>
      </p:grp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76301" y="1825624"/>
            <a:ext cx="6362700" cy="4752975"/>
          </a:xfrm>
        </p:spPr>
        <p:txBody>
          <a:bodyPr>
            <a:normAutofit/>
          </a:bodyPr>
          <a:lstStyle/>
          <a:p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Statikus </a:t>
            </a:r>
            <a:r>
              <a:rPr lang="hu-HU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elemző és transzformáló </a:t>
            </a:r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eszköz</a:t>
            </a:r>
          </a:p>
          <a:p>
            <a:r>
              <a:rPr lang="hu-HU" sz="2400" dirty="0" err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Kódbeli</a:t>
            </a:r>
            <a:r>
              <a:rPr lang="hu-HU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400" dirty="0" err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refaktorálások</a:t>
            </a:r>
            <a:r>
              <a:rPr lang="hu-HU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amelyek nem változtatják meg a program viselkedését</a:t>
            </a:r>
          </a:p>
          <a:p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Különféle </a:t>
            </a:r>
            <a:r>
              <a:rPr lang="hu-HU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lekérdezések, elemzések</a:t>
            </a:r>
          </a:p>
          <a:p>
            <a:r>
              <a:rPr lang="hu-HU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Szemantikus programgráfban reprezentálja a forráskódot, elemzés során ezt járja </a:t>
            </a:r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</a:p>
        </p:txBody>
      </p:sp>
      <p:sp>
        <p:nvSpPr>
          <p:cNvPr id="4" name="Cím 1"/>
          <p:cNvSpPr txBox="1">
            <a:spLocks/>
          </p:cNvSpPr>
          <p:nvPr/>
        </p:nvSpPr>
        <p:spPr>
          <a:xfrm>
            <a:off x="0" y="365125"/>
            <a:ext cx="12192000" cy="733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RefactorErl</a:t>
            </a:r>
            <a:endParaRPr lang="hu-HU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22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/>
          <p:nvPr/>
        </p:nvSpPr>
        <p:spPr>
          <a:xfrm>
            <a:off x="6372226" y="2562222"/>
            <a:ext cx="5819774" cy="1619249"/>
          </a:xfrm>
          <a:prstGeom prst="rect">
            <a:avLst/>
          </a:prstGeom>
          <a:gradFill flip="none" rotWithShape="1">
            <a:gsLst>
              <a:gs pos="20000">
                <a:srgbClr val="124963">
                  <a:alpha val="20000"/>
                </a:srgbClr>
              </a:gs>
              <a:gs pos="68000">
                <a:srgbClr val="1F7599">
                  <a:alpha val="40000"/>
                </a:srgbClr>
              </a:gs>
              <a:gs pos="100000">
                <a:srgbClr val="66BDE0">
                  <a:alpha val="2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76301" y="1825624"/>
            <a:ext cx="6362700" cy="4752975"/>
          </a:xfrm>
        </p:spPr>
        <p:txBody>
          <a:bodyPr>
            <a:normAutofit/>
          </a:bodyPr>
          <a:lstStyle/>
          <a:p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következő kód szemantikus programgráfját a lenti hivatkozáson látható módon hozta létre a </a:t>
            </a:r>
            <a:r>
              <a:rPr lang="hu-HU" sz="2400" dirty="0" err="1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RefactorErl</a:t>
            </a:r>
            <a:r>
              <a:rPr lang="hu-HU" sz="2400" dirty="0" smtClean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eszköz.</a:t>
            </a:r>
          </a:p>
          <a:p>
            <a:pPr marL="0" indent="0">
              <a:buNone/>
            </a:pPr>
            <a:endParaRPr lang="hu-HU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 action="ppaction://hlinkfile"/>
              </a:rPr>
              <a:t>Szemantikus programgráf képe</a:t>
            </a:r>
            <a:endParaRPr lang="hu-HU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ím 1"/>
          <p:cNvSpPr txBox="1">
            <a:spLocks/>
          </p:cNvSpPr>
          <p:nvPr/>
        </p:nvSpPr>
        <p:spPr>
          <a:xfrm>
            <a:off x="0" y="365125"/>
            <a:ext cx="12192000" cy="733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Szemantikus </a:t>
            </a:r>
            <a:r>
              <a:rPr lang="hu-HU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programgráf</a:t>
            </a:r>
            <a:endParaRPr lang="hu-HU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Lekerekített téglalap 6"/>
          <p:cNvSpPr/>
          <p:nvPr/>
        </p:nvSpPr>
        <p:spPr>
          <a:xfrm>
            <a:off x="1133476" y="3962394"/>
            <a:ext cx="5848349" cy="1892302"/>
          </a:xfrm>
          <a:prstGeom prst="roundRect">
            <a:avLst>
              <a:gd name="adj" fmla="val 21732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sz="2000" dirty="0" smtClean="0">
                <a:latin typeface="Consolas" panose="020B0609020204030204" pitchFamily="49" charset="0"/>
              </a:rPr>
              <a:t>-</a:t>
            </a:r>
            <a:r>
              <a:rPr lang="hu-HU" sz="2000" dirty="0" err="1" smtClean="0">
                <a:solidFill>
                  <a:srgbClr val="B27BCB"/>
                </a:solidFill>
                <a:latin typeface="Consolas" panose="020B0609020204030204" pitchFamily="49" charset="0"/>
              </a:rPr>
              <a:t>module</a:t>
            </a:r>
            <a:r>
              <a:rPr lang="hu-HU" sz="2000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sz="2000" dirty="0" err="1" smtClean="0">
                <a:solidFill>
                  <a:srgbClr val="2BC7A2"/>
                </a:solidFill>
                <a:latin typeface="Consolas" panose="020B0609020204030204" pitchFamily="49" charset="0"/>
              </a:rPr>
              <a:t>test_code</a:t>
            </a:r>
            <a:r>
              <a:rPr lang="hu-HU" sz="2000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sz="20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hu-HU" sz="20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-</a:t>
            </a:r>
            <a:r>
              <a:rPr lang="hu-HU" sz="2000" dirty="0" smtClean="0">
                <a:solidFill>
                  <a:srgbClr val="B27BCB"/>
                </a:solidFill>
                <a:latin typeface="Consolas" panose="020B0609020204030204" pitchFamily="49" charset="0"/>
              </a:rPr>
              <a:t>export</a:t>
            </a:r>
            <a:r>
              <a:rPr lang="hu-HU" sz="2000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sz="2000" dirty="0" smtClean="0">
                <a:solidFill>
                  <a:srgbClr val="B27BCB"/>
                </a:solidFill>
                <a:latin typeface="Consolas" panose="020B0609020204030204" pitchFamily="49" charset="0"/>
              </a:rPr>
              <a:t>[</a:t>
            </a:r>
            <a:r>
              <a:rPr lang="hu-HU" sz="2000" dirty="0" smtClean="0">
                <a:solidFill>
                  <a:srgbClr val="FCF5C0"/>
                </a:solidFill>
                <a:latin typeface="Consolas" panose="020B0609020204030204" pitchFamily="49" charset="0"/>
              </a:rPr>
              <a:t>test/1</a:t>
            </a:r>
            <a:r>
              <a:rPr lang="hu-HU" sz="2000" dirty="0" smtClean="0">
                <a:solidFill>
                  <a:srgbClr val="B27BCB"/>
                </a:solidFill>
                <a:latin typeface="Consolas" panose="020B0609020204030204" pitchFamily="49" charset="0"/>
              </a:rPr>
              <a:t>]</a:t>
            </a:r>
            <a:r>
              <a:rPr lang="hu-HU" sz="2000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sz="20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endParaRPr lang="hu-HU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sz="2000" dirty="0">
                <a:solidFill>
                  <a:srgbClr val="FCF5C0"/>
                </a:solidFill>
                <a:latin typeface="Consolas" panose="020B0609020204030204" pitchFamily="49" charset="0"/>
              </a:rPr>
              <a:t>t</a:t>
            </a:r>
            <a:r>
              <a:rPr lang="hu-HU" sz="2000" dirty="0" smtClean="0">
                <a:solidFill>
                  <a:srgbClr val="FCF5C0"/>
                </a:solidFill>
                <a:latin typeface="Consolas" panose="020B0609020204030204" pitchFamily="49" charset="0"/>
              </a:rPr>
              <a:t>est</a:t>
            </a:r>
            <a:r>
              <a:rPr lang="hu-HU" sz="2000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sz="2000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Arg</a:t>
            </a:r>
            <a:r>
              <a:rPr lang="hu-HU" sz="2000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sz="20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sz="20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hu-HU" sz="2000" dirty="0" err="1" smtClean="0">
                <a:solidFill>
                  <a:srgbClr val="2BC7A2"/>
                </a:solidFill>
                <a:latin typeface="Consolas" panose="020B0609020204030204" pitchFamily="49" charset="0"/>
              </a:rPr>
              <a:t>io</a:t>
            </a:r>
            <a:r>
              <a:rPr lang="hu-HU" sz="2000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hu-HU" sz="2000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format</a:t>
            </a:r>
            <a:r>
              <a:rPr lang="hu-HU" sz="2000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sz="2000" dirty="0" smtClean="0">
                <a:solidFill>
                  <a:srgbClr val="E89874"/>
                </a:solidFill>
                <a:latin typeface="Consolas" panose="020B0609020204030204" pitchFamily="49" charset="0"/>
              </a:rPr>
              <a:t>”Hello World! ” </a:t>
            </a:r>
            <a:r>
              <a:rPr lang="hu-HU" sz="20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++ </a:t>
            </a:r>
            <a:r>
              <a:rPr lang="hu-HU" sz="2000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Arg</a:t>
            </a:r>
            <a:r>
              <a:rPr lang="hu-HU" sz="2000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sz="20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sz="2000" dirty="0">
              <a:latin typeface="Consolas" panose="020B0609020204030204" pitchFamily="49" charset="0"/>
            </a:endParaRP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000" y="1751846"/>
            <a:ext cx="324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68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rtalom helye 2"/>
          <p:cNvSpPr>
            <a:spLocks noGrp="1"/>
          </p:cNvSpPr>
          <p:nvPr>
            <p:ph idx="1"/>
          </p:nvPr>
        </p:nvSpPr>
        <p:spPr>
          <a:xfrm>
            <a:off x="1119998" y="2199625"/>
            <a:ext cx="10233800" cy="4005913"/>
          </a:xfrm>
        </p:spPr>
        <p:txBody>
          <a:bodyPr/>
          <a:lstStyle/>
          <a:p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Transzformáció előtt</a:t>
            </a:r>
          </a:p>
          <a:p>
            <a:pPr marL="0" indent="0">
              <a:buNone/>
            </a:pPr>
            <a:r>
              <a:rPr lang="hu-HU" dirty="0" smtClean="0"/>
              <a:t/>
            </a:r>
            <a:br>
              <a:rPr lang="hu-HU" dirty="0" smtClean="0"/>
            </a:br>
            <a:endParaRPr lang="hu-HU" dirty="0" smtClean="0"/>
          </a:p>
          <a:p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Transzformáció után</a:t>
            </a:r>
            <a:endParaRPr lang="hu-H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798" cy="1489306"/>
          </a:xfrm>
        </p:spPr>
        <p:txBody>
          <a:bodyPr>
            <a:normAutofit/>
          </a:bodyPr>
          <a:lstStyle/>
          <a:p>
            <a:pPr algn="ctr"/>
            <a:r>
              <a:rPr lang="hu-HU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 Implementált transzformációk bemutatása – </a:t>
            </a:r>
            <a:r>
              <a:rPr lang="hu-HU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os:cmd</a:t>
            </a:r>
            <a:endParaRPr lang="hu-H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Lekerekített téglalap 3"/>
          <p:cNvSpPr/>
          <p:nvPr/>
        </p:nvSpPr>
        <p:spPr>
          <a:xfrm>
            <a:off x="1119997" y="2571101"/>
            <a:ext cx="3267074" cy="902579"/>
          </a:xfrm>
          <a:prstGeom prst="roundRect">
            <a:avLst>
              <a:gd name="adj" fmla="val 41956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do_command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Expr1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 smtClean="0">
                <a:solidFill>
                  <a:srgbClr val="2BC7A2"/>
                </a:solidFill>
                <a:latin typeface="Consolas" panose="020B0609020204030204" pitchFamily="49" charset="0"/>
              </a:rPr>
              <a:t>os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cmd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Expr1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>
              <a:latin typeface="Consolas" panose="020B0609020204030204" pitchFamily="49" charset="0"/>
            </a:endParaRPr>
          </a:p>
        </p:txBody>
      </p:sp>
      <p:sp>
        <p:nvSpPr>
          <p:cNvPr id="13" name="Téglalap 12"/>
          <p:cNvSpPr/>
          <p:nvPr/>
        </p:nvSpPr>
        <p:spPr>
          <a:xfrm>
            <a:off x="6353801" y="2380149"/>
            <a:ext cx="5819774" cy="1619249"/>
          </a:xfrm>
          <a:prstGeom prst="rect">
            <a:avLst/>
          </a:prstGeom>
          <a:gradFill flip="none" rotWithShape="1">
            <a:gsLst>
              <a:gs pos="20000">
                <a:srgbClr val="124963">
                  <a:alpha val="20000"/>
                </a:srgbClr>
              </a:gs>
              <a:gs pos="68000">
                <a:srgbClr val="1F7599">
                  <a:alpha val="40000"/>
                </a:srgbClr>
              </a:gs>
              <a:gs pos="100000">
                <a:srgbClr val="66BDE0">
                  <a:alpha val="2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noFill/>
            </a:endParaRPr>
          </a:p>
        </p:txBody>
      </p:sp>
      <p:sp>
        <p:nvSpPr>
          <p:cNvPr id="14" name="Szövegdoboz 13"/>
          <p:cNvSpPr txBox="1"/>
          <p:nvPr/>
        </p:nvSpPr>
        <p:spPr>
          <a:xfrm>
            <a:off x="8029575" y="2528053"/>
            <a:ext cx="4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Megkeresem az </a:t>
            </a:r>
            <a:r>
              <a:rPr lang="hu-HU" sz="1600" i="1" dirty="0" err="1" smtClean="0">
                <a:latin typeface="Consolas" panose="020B0609020204030204" pitchFamily="49" charset="0"/>
                <a:cs typeface="Arial" panose="020B0604020202020204" pitchFamily="34" charset="0"/>
              </a:rPr>
              <a:t>os:cmd</a:t>
            </a:r>
            <a:r>
              <a:rPr lang="hu-HU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függvény bemeneti paraméterét, majd egy </a:t>
            </a:r>
            <a:r>
              <a:rPr lang="hu-HU" sz="1600" i="1" dirty="0" err="1" smtClean="0">
                <a:latin typeface="Consolas" panose="020B0609020204030204" pitchFamily="49" charset="0"/>
                <a:cs typeface="Arial" panose="020B0604020202020204" pitchFamily="34" charset="0"/>
              </a:rPr>
              <a:t>case</a:t>
            </a:r>
            <a:r>
              <a:rPr lang="hu-HU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kifejezésben alkalmazom rá az újonnan beszúrt ellenőrző függvényt. Az eredménytől függően fut tovább vagy terminál a kód.</a:t>
            </a:r>
          </a:p>
        </p:txBody>
      </p:sp>
      <p:sp>
        <p:nvSpPr>
          <p:cNvPr id="5" name="Lekerekített téglalap 4"/>
          <p:cNvSpPr/>
          <p:nvPr/>
        </p:nvSpPr>
        <p:spPr>
          <a:xfrm>
            <a:off x="1119997" y="3889103"/>
            <a:ext cx="6404753" cy="2845071"/>
          </a:xfrm>
          <a:prstGeom prst="roundRect">
            <a:avLst>
              <a:gd name="adj" fmla="val 18500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do_command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Expr1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 smtClean="0">
                <a:solidFill>
                  <a:srgbClr val="B27BCB"/>
                </a:solidFill>
                <a:latin typeface="Consolas" panose="020B0609020204030204" pitchFamily="49" charset="0"/>
              </a:rPr>
              <a:t>case</a:t>
            </a:r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check_input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Expr1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of</a:t>
            </a:r>
          </a:p>
          <a:p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     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true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throw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Error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false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 </a:t>
            </a:r>
            <a:r>
              <a:rPr lang="hu-HU" dirty="0" err="1">
                <a:solidFill>
                  <a:srgbClr val="2BC7A2"/>
                </a:solidFill>
                <a:latin typeface="Consolas" panose="020B0609020204030204" pitchFamily="49" charset="0"/>
              </a:rPr>
              <a:t>os</a:t>
            </a:r>
            <a:r>
              <a:rPr lang="hu-HU" dirty="0" err="1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hu-HU" dirty="0" err="1">
                <a:solidFill>
                  <a:srgbClr val="FCF5C0"/>
                </a:solidFill>
                <a:latin typeface="Consolas" panose="020B0609020204030204" pitchFamily="49" charset="0"/>
              </a:rPr>
              <a:t>cmd</a:t>
            </a:r>
            <a:r>
              <a:rPr lang="hu-HU" dirty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Expr1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endParaRPr lang="hu-HU" dirty="0">
              <a:solidFill>
                <a:srgbClr val="B27BCB"/>
              </a:solidFill>
              <a:latin typeface="Consolas" panose="020B0609020204030204" pitchFamily="49" charset="0"/>
            </a:endParaRPr>
          </a:p>
          <a:p>
            <a:r>
              <a:rPr lang="hu-HU" dirty="0">
                <a:solidFill>
                  <a:srgbClr val="B27BCB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   end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endParaRPr lang="hu-HU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check_input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Pattern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hu-HU" dirty="0" err="1" smtClean="0">
                <a:solidFill>
                  <a:srgbClr val="2BC7A2"/>
                </a:solidFill>
                <a:latin typeface="Consolas" panose="020B0609020204030204" pitchFamily="49" charset="0"/>
              </a:rPr>
              <a:t>lists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any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rgbClr val="B27BCB"/>
                </a:solidFill>
                <a:latin typeface="Consolas" panose="020B0609020204030204" pitchFamily="49" charset="0"/>
              </a:rPr>
              <a:t>fun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(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E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  <a:r>
              <a:rPr lang="hu-HU" dirty="0" smtClean="0">
                <a:solidFill>
                  <a:srgbClr val="2BC7A2"/>
                </a:solidFill>
                <a:latin typeface="Consolas" panose="020B0609020204030204" pitchFamily="49" charset="0"/>
              </a:rPr>
              <a:t> </a:t>
            </a:r>
            <a:r>
              <a:rPr lang="hu-HU" dirty="0" err="1" smtClean="0">
                <a:solidFill>
                  <a:srgbClr val="2BC7A2"/>
                </a:solidFill>
                <a:latin typeface="Consolas" panose="020B0609020204030204" pitchFamily="49" charset="0"/>
              </a:rPr>
              <a:t>string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find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Pattern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E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)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=/= </a:t>
            </a:r>
            <a:r>
              <a:rPr lang="hu-HU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nomatch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end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[</a:t>
            </a:r>
            <a:r>
              <a:rPr lang="hu-HU" dirty="0" smtClean="0">
                <a:solidFill>
                  <a:srgbClr val="E89874"/>
                </a:solidFill>
                <a:latin typeface="Consolas" panose="020B0609020204030204" pitchFamily="49" charset="0"/>
              </a:rPr>
              <a:t>”;”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hu-HU" dirty="0" smtClean="0">
                <a:solidFill>
                  <a:srgbClr val="E89874"/>
                </a:solidFill>
                <a:latin typeface="Consolas" panose="020B0609020204030204" pitchFamily="49" charset="0"/>
              </a:rPr>
              <a:t>”</a:t>
            </a:r>
            <a:r>
              <a:rPr lang="hu-HU" dirty="0" smtClean="0">
                <a:solidFill>
                  <a:srgbClr val="E89874"/>
                </a:solidFill>
              </a:rPr>
              <a:t>&amp;&amp;</a:t>
            </a:r>
            <a:r>
              <a:rPr lang="hu-HU" dirty="0" smtClean="0">
                <a:solidFill>
                  <a:srgbClr val="E89874"/>
                </a:solidFill>
                <a:latin typeface="Consolas" panose="020B0609020204030204" pitchFamily="49" charset="0"/>
              </a:rPr>
              <a:t>”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hu-HU" dirty="0" smtClean="0">
                <a:solidFill>
                  <a:srgbClr val="E89874"/>
                </a:solidFill>
                <a:latin typeface="Consolas" panose="020B0609020204030204" pitchFamily="49" charset="0"/>
              </a:rPr>
              <a:t> ”|”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]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252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églalap 9"/>
          <p:cNvSpPr/>
          <p:nvPr/>
        </p:nvSpPr>
        <p:spPr>
          <a:xfrm>
            <a:off x="6353801" y="2380149"/>
            <a:ext cx="5819774" cy="1619249"/>
          </a:xfrm>
          <a:prstGeom prst="rect">
            <a:avLst/>
          </a:prstGeom>
          <a:gradFill flip="none" rotWithShape="1">
            <a:gsLst>
              <a:gs pos="20000">
                <a:srgbClr val="124963">
                  <a:alpha val="20000"/>
                </a:srgbClr>
              </a:gs>
              <a:gs pos="68000">
                <a:srgbClr val="1F7599">
                  <a:alpha val="40000"/>
                </a:srgbClr>
              </a:gs>
              <a:gs pos="100000">
                <a:srgbClr val="66BDE0">
                  <a:alpha val="2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noFill/>
            </a:endParaRPr>
          </a:p>
        </p:txBody>
      </p:sp>
      <p:sp>
        <p:nvSpPr>
          <p:cNvPr id="9" name="Tartalom helye 2"/>
          <p:cNvSpPr>
            <a:spLocks noGrp="1"/>
          </p:cNvSpPr>
          <p:nvPr>
            <p:ph idx="1"/>
          </p:nvPr>
        </p:nvSpPr>
        <p:spPr>
          <a:xfrm>
            <a:off x="1119998" y="2199625"/>
            <a:ext cx="10233800" cy="4005913"/>
          </a:xfrm>
        </p:spPr>
        <p:txBody>
          <a:bodyPr/>
          <a:lstStyle/>
          <a:p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Transzformáció előtt</a:t>
            </a:r>
          </a:p>
          <a:p>
            <a:pPr marL="0" indent="0">
              <a:buNone/>
            </a:pPr>
            <a:r>
              <a:rPr lang="hu-HU" dirty="0" smtClean="0"/>
              <a:t/>
            </a:r>
            <a:br>
              <a:rPr lang="hu-HU" dirty="0" smtClean="0"/>
            </a:br>
            <a:endParaRPr lang="hu-HU" dirty="0" smtClean="0"/>
          </a:p>
          <a:p>
            <a:endParaRPr lang="hu-HU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Transzformáció után</a:t>
            </a:r>
            <a:endParaRPr lang="hu-H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Lekerekített téglalap 4"/>
          <p:cNvSpPr/>
          <p:nvPr/>
        </p:nvSpPr>
        <p:spPr>
          <a:xfrm>
            <a:off x="1231900" y="2573881"/>
            <a:ext cx="5587999" cy="1139825"/>
          </a:xfrm>
          <a:prstGeom prst="roundRect">
            <a:avLst>
              <a:gd name="adj" fmla="val 34267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spawn_link_fun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Pid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=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spawn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rgbClr val="B27BCB"/>
                </a:solidFill>
                <a:latin typeface="Consolas" panose="020B0609020204030204" pitchFamily="49" charset="0"/>
              </a:rPr>
              <a:t>fun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()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 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Expr_body1</a:t>
            </a:r>
            <a:r>
              <a:rPr lang="hu-HU" dirty="0" smtClean="0">
                <a:solidFill>
                  <a:srgbClr val="2BC7A2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end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hu-HU" dirty="0" smtClean="0">
                <a:solidFill>
                  <a:srgbClr val="FCF5C0"/>
                </a:solidFill>
                <a:latin typeface="Consolas" panose="020B0609020204030204" pitchFamily="49" charset="0"/>
              </a:rPr>
              <a:t>link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chemeClr val="tx2"/>
                </a:solidFill>
                <a:latin typeface="Consolas" panose="020B0609020204030204" pitchFamily="49" charset="0"/>
              </a:rPr>
              <a:t>Pid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Cím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36675"/>
          </a:xfrm>
        </p:spPr>
        <p:txBody>
          <a:bodyPr>
            <a:normAutofit/>
          </a:bodyPr>
          <a:lstStyle/>
          <a:p>
            <a:pPr algn="ctr"/>
            <a:r>
              <a:rPr lang="hu-HU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 Implementált transzformációk bemutatása – </a:t>
            </a:r>
            <a:br>
              <a:rPr lang="hu-HU" sz="4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spawn</a:t>
            </a:r>
            <a:r>
              <a:rPr lang="hu-HU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és link</a:t>
            </a:r>
            <a:endParaRPr lang="hu-H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zövegdoboz 10"/>
          <p:cNvSpPr txBox="1"/>
          <p:nvPr/>
        </p:nvSpPr>
        <p:spPr>
          <a:xfrm>
            <a:off x="8354050" y="2281832"/>
            <a:ext cx="38195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A megadott </a:t>
            </a:r>
            <a:r>
              <a:rPr lang="hu-HU" sz="1600" i="1" dirty="0" err="1" smtClean="0">
                <a:latin typeface="Consolas" panose="020B0609020204030204" pitchFamily="49" charset="0"/>
                <a:cs typeface="Arial" panose="020B0604020202020204" pitchFamily="34" charset="0"/>
              </a:rPr>
              <a:t>spawn</a:t>
            </a:r>
            <a:r>
              <a:rPr lang="hu-HU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függvényhez megkeresem a hozzátartozó </a:t>
            </a:r>
            <a:r>
              <a:rPr lang="hu-HU" sz="1600" i="1" dirty="0" smtClean="0">
                <a:latin typeface="Consolas" panose="020B0609020204030204" pitchFamily="49" charset="0"/>
                <a:cs typeface="Arial" panose="020B0604020202020204" pitchFamily="34" charset="0"/>
              </a:rPr>
              <a:t>link</a:t>
            </a:r>
            <a:r>
              <a:rPr lang="hu-HU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függvényt (léteznie kell), majd az eredeti </a:t>
            </a:r>
            <a:r>
              <a:rPr lang="hu-HU" sz="1600" i="1" dirty="0" err="1" smtClean="0">
                <a:latin typeface="Consolas" panose="020B0609020204030204" pitchFamily="49" charset="0"/>
                <a:cs typeface="Arial" panose="020B0604020202020204" pitchFamily="34" charset="0"/>
              </a:rPr>
              <a:t>spawn</a:t>
            </a:r>
            <a:r>
              <a:rPr lang="hu-HU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hívást kicserélem az atomi </a:t>
            </a:r>
            <a:r>
              <a:rPr lang="hu-HU" sz="1600" i="1" dirty="0" err="1" smtClean="0">
                <a:latin typeface="Consolas" panose="020B0609020204030204" pitchFamily="49" charset="0"/>
                <a:cs typeface="Arial" panose="020B0604020202020204" pitchFamily="34" charset="0"/>
              </a:rPr>
              <a:t>spawn_link</a:t>
            </a:r>
            <a:r>
              <a:rPr lang="hu-HU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függvényre a paraméterek változtatása nélkül. Végezetül törlöm a </a:t>
            </a:r>
            <a:r>
              <a:rPr lang="hu-HU" sz="1600" i="1" dirty="0" smtClean="0">
                <a:latin typeface="Consolas" panose="020B0609020204030204" pitchFamily="49" charset="0"/>
                <a:cs typeface="Arial" panose="020B0604020202020204" pitchFamily="34" charset="0"/>
              </a:rPr>
              <a:t>link</a:t>
            </a:r>
            <a:r>
              <a:rPr lang="hu-HU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függvényt.</a:t>
            </a:r>
          </a:p>
        </p:txBody>
      </p:sp>
      <p:sp>
        <p:nvSpPr>
          <p:cNvPr id="12" name="Lekerekített téglalap 11"/>
          <p:cNvSpPr/>
          <p:nvPr/>
        </p:nvSpPr>
        <p:spPr>
          <a:xfrm>
            <a:off x="1231900" y="4373654"/>
            <a:ext cx="6197600" cy="835609"/>
          </a:xfrm>
          <a:prstGeom prst="roundRect">
            <a:avLst>
              <a:gd name="adj" fmla="val 42250"/>
            </a:avLst>
          </a:prstGeom>
          <a:solidFill>
            <a:srgbClr val="1E1E1E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spawn_link_fun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</a:t>
            </a:r>
          </a:p>
          <a:p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Pid</a:t>
            </a:r>
            <a:r>
              <a:rPr lang="hu-HU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= </a:t>
            </a:r>
            <a:r>
              <a:rPr lang="hu-HU" dirty="0" err="1" smtClean="0">
                <a:solidFill>
                  <a:srgbClr val="FCF5C0"/>
                </a:solidFill>
                <a:latin typeface="Consolas" panose="020B0609020204030204" pitchFamily="49" charset="0"/>
              </a:rPr>
              <a:t>spawn_link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</a:t>
            </a:r>
            <a:r>
              <a:rPr lang="hu-HU" dirty="0" err="1" smtClean="0">
                <a:solidFill>
                  <a:srgbClr val="B27BCB"/>
                </a:solidFill>
                <a:latin typeface="Consolas" panose="020B0609020204030204" pitchFamily="49" charset="0"/>
              </a:rPr>
              <a:t>fun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()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 -&gt; </a:t>
            </a:r>
            <a:r>
              <a:rPr lang="hu-HU" dirty="0" smtClean="0">
                <a:solidFill>
                  <a:schemeClr val="tx2"/>
                </a:solidFill>
                <a:latin typeface="Consolas" panose="020B0609020204030204" pitchFamily="49" charset="0"/>
              </a:rPr>
              <a:t>Expr_body1</a:t>
            </a:r>
            <a:r>
              <a:rPr lang="hu-HU" dirty="0" smtClean="0">
                <a:solidFill>
                  <a:srgbClr val="2BC7A2"/>
                </a:solidFill>
                <a:latin typeface="Consolas" panose="020B0609020204030204" pitchFamily="49" charset="0"/>
              </a:rPr>
              <a:t> </a:t>
            </a:r>
            <a:r>
              <a:rPr lang="hu-HU" dirty="0" smtClean="0">
                <a:solidFill>
                  <a:srgbClr val="B27BCB"/>
                </a:solidFill>
                <a:latin typeface="Consolas" panose="020B0609020204030204" pitchFamily="49" charset="0"/>
              </a:rPr>
              <a:t>end</a:t>
            </a:r>
            <a:r>
              <a:rPr lang="hu-HU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)</a:t>
            </a:r>
            <a:r>
              <a:rPr lang="hu-HU" dirty="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hu-HU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277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élység">
  <a:themeElements>
    <a:clrScheme name="4. egyéni séma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BEE7EE"/>
      </a:hlink>
      <a:folHlink>
        <a:srgbClr val="BEE7EE"/>
      </a:folHlink>
    </a:clrScheme>
    <a:fontScheme name="Mélység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élység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TM04033923[[fn=Mélység]]</Template>
  <TotalTime>2219</TotalTime>
  <Words>2711</Words>
  <Application>Microsoft Office PowerPoint</Application>
  <PresentationFormat>Szélesvásznú</PresentationFormat>
  <Paragraphs>357</Paragraphs>
  <Slides>22</Slides>
  <Notes>22</Notes>
  <HiddenSlides>7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Corbel</vt:lpstr>
      <vt:lpstr>Mélység</vt:lpstr>
      <vt:lpstr>Nem biztonságos kód biztonságossá transzformálása a RefactorErl segítségével 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Atomgenerálást korlátozó transzformáció (Miner projekt, poc/miner_poc_grpc_client_statem.erl fájl, 678-695. sor)</vt:lpstr>
      <vt:lpstr> Nem biztonságos függvény cseréje (Miner projekt, miner_lora.erl fájl, 759-765. sor)</vt:lpstr>
      <vt:lpstr>Köszönöm a figyelmet!</vt:lpstr>
      <vt:lpstr>PowerPoint-bemutató</vt:lpstr>
      <vt:lpstr>PowerPoint-bemutató</vt:lpstr>
      <vt:lpstr>PowerPoint-bemutató</vt:lpstr>
      <vt:lpstr>PowerPoint-bemutató</vt:lpstr>
      <vt:lpstr>PowerPoint-bemutató</vt:lpstr>
      <vt:lpstr>  Implementált transzformációk bemutatása – os:cmd</vt:lpstr>
      <vt:lpstr>  Implementált transzformációk bemutatása –  spawn és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Nem biztonságos kód biztonságossá transzformálása a RefactorErl segítségével</dc:title>
  <dc:creator>Juhász Nelli</dc:creator>
  <cp:lastModifiedBy>Juhász Nelli</cp:lastModifiedBy>
  <cp:revision>212</cp:revision>
  <dcterms:created xsi:type="dcterms:W3CDTF">2025-12-03T15:39:13Z</dcterms:created>
  <dcterms:modified xsi:type="dcterms:W3CDTF">2026-01-18T18:38:51Z</dcterms:modified>
</cp:coreProperties>
</file>