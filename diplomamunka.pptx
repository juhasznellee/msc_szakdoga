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4"/>
  </p:notesMasterIdLst>
  <p:sldIdLst>
    <p:sldId id="256" r:id="rId2"/>
    <p:sldId id="283" r:id="rId3"/>
    <p:sldId id="266" r:id="rId4"/>
    <p:sldId id="271" r:id="rId5"/>
    <p:sldId id="268" r:id="rId6"/>
    <p:sldId id="274" r:id="rId7"/>
    <p:sldId id="284" r:id="rId8"/>
    <p:sldId id="278" r:id="rId9"/>
    <p:sldId id="279" r:id="rId10"/>
    <p:sldId id="280" r:id="rId11"/>
    <p:sldId id="269" r:id="rId12"/>
    <p:sldId id="263" r:id="rId13"/>
    <p:sldId id="272" r:id="rId14"/>
    <p:sldId id="273" r:id="rId15"/>
    <p:sldId id="282" r:id="rId16"/>
    <p:sldId id="262" r:id="rId17"/>
    <p:sldId id="264" r:id="rId18"/>
    <p:sldId id="265" r:id="rId19"/>
    <p:sldId id="281" r:id="rId20"/>
    <p:sldId id="267" r:id="rId21"/>
    <p:sldId id="260" r:id="rId22"/>
    <p:sldId id="27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938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elkerülhető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r>
              <a:rPr lang="hu-HU" baseline="0" dirty="0" smtClean="0"/>
              <a:t>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 általánosan</a:t>
            </a:r>
            <a:r>
              <a:rPr lang="hu-HU" baseline="0" dirty="0" smtClean="0"/>
              <a:t> bemutatnám a </a:t>
            </a:r>
            <a:r>
              <a:rPr lang="hu-HU" sz="12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korlátozására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írt transzformációt.</a:t>
            </a: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  <a:p>
            <a:r>
              <a:rPr lang="hu-HU" baseline="0" dirty="0" smtClean="0"/>
              <a:t>Röviden összefoglalva úgy működik, hogy megkeresem a megbízhatatlan listát, ami meghatározza a létrehozandó atomok számát, illetve a sérülékenynek ítélt részt. Az adott fájl végére beszúrom az ellenőrző függvényt, amelyben egy előre definiált mennyiségkorlátozás szerepel. Ezt az újonnan beszúrt függvényt alkalmazom egy </a:t>
            </a:r>
            <a:r>
              <a:rPr lang="hu-HU" baseline="0" dirty="0" err="1" smtClean="0"/>
              <a:t>case</a:t>
            </a:r>
            <a:r>
              <a:rPr lang="hu-HU" baseline="0" dirty="0" smtClean="0"/>
              <a:t> kifejezés segítségével a generáló listára. Ha teljesül a feltétel, miszerint a futás száma kisebb, mint a korlátozás értéke, akkor végrehajtható a sérülékenynek ítélt rész. Ellenkező esetben terminál a kód.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informatika és annak fejlődése rengeteg iparágra nagy hatással van.</a:t>
            </a:r>
            <a:r>
              <a:rPr lang="hu-HU" baseline="0" dirty="0" smtClean="0"/>
              <a:t> Ezzel párhuzamosan a </a:t>
            </a:r>
            <a:r>
              <a:rPr lang="hu-HU" baseline="0" dirty="0" err="1" smtClean="0"/>
              <a:t>kibertámadások</a:t>
            </a:r>
            <a:r>
              <a:rPr lang="hu-HU" baseline="0" dirty="0" smtClean="0"/>
              <a:t> száma és komplexitása is egyre csak nő, </a:t>
            </a:r>
            <a:r>
              <a:rPr lang="hu-HU" dirty="0" smtClean="0"/>
              <a:t>éppen</a:t>
            </a:r>
            <a:r>
              <a:rPr lang="hu-HU" baseline="0" dirty="0" smtClean="0"/>
              <a:t> ezért nagyon fontos a rendszerek megfelelő védelme</a:t>
            </a:r>
            <a:r>
              <a:rPr lang="hu-HU" dirty="0" smtClean="0"/>
              <a:t>. Egyetlen</a:t>
            </a:r>
            <a:r>
              <a:rPr lang="hu-HU" baseline="0" dirty="0" smtClean="0"/>
              <a:t> sérülékenység is elegendő lehet ahhoz, hogy a támadók hozzáférhessenek érzékeny adatokhoz, </a:t>
            </a:r>
            <a:r>
              <a:rPr lang="hu-HU" dirty="0" smtClean="0"/>
              <a:t>befolyásolhassák</a:t>
            </a:r>
            <a:r>
              <a:rPr lang="hu-HU" baseline="0" dirty="0" smtClean="0"/>
              <a:t> a vállalatok működését vagy </a:t>
            </a:r>
            <a:r>
              <a:rPr lang="hu-HU" dirty="0" smtClean="0"/>
              <a:t>akár megbéníthassák az egész rendszert.</a:t>
            </a:r>
          </a:p>
          <a:p>
            <a:endParaRPr lang="hu-HU" dirty="0" smtClean="0"/>
          </a:p>
          <a:p>
            <a:r>
              <a:rPr lang="hu-HU" dirty="0" smtClean="0"/>
              <a:t>Ahhoz,</a:t>
            </a:r>
            <a:r>
              <a:rPr lang="hu-HU" baseline="0" dirty="0" smtClean="0"/>
              <a:t> hogy a kód minél jobb minőségű és megbízhatóbb legyen, elengedhetetlen a lehetséges sérülékenységek korai azonosítása.</a:t>
            </a:r>
          </a:p>
          <a:p>
            <a:endParaRPr lang="hu-HU" baseline="0" dirty="0" smtClean="0"/>
          </a:p>
          <a:p>
            <a:r>
              <a:rPr lang="hu-HU" baseline="0" dirty="0" smtClean="0"/>
              <a:t>Éppen ezért </a:t>
            </a:r>
            <a:r>
              <a:rPr lang="hu-HU" dirty="0" smtClean="0"/>
              <a:t>több szabvány és</a:t>
            </a:r>
            <a:r>
              <a:rPr lang="hu-HU" baseline="0" dirty="0" smtClean="0"/>
              <a:t> irányelv is létrejött annak érdekében, hogy a vállalatok biztonságosabbá tegyék a </a:t>
            </a:r>
            <a:r>
              <a:rPr lang="hu-HU" baseline="0" dirty="0" err="1" smtClean="0"/>
              <a:t>szoftvereiket</a:t>
            </a:r>
            <a:r>
              <a:rPr lang="hu-HU" baseline="0" dirty="0" smtClean="0"/>
              <a:t> már a fejlesztés korai fázisában. A legelterjedtebb nemzetközi információbiztonsági szabvány az 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27001, amely n</a:t>
            </a:r>
            <a:r>
              <a:rPr lang="hu-HU" dirty="0" smtClean="0"/>
              <a:t>emcsak a kód biztonságára fókuszál, hanem a teljes fejlesztési folyamatra is. Fontos, hogy ott is érvényesüljenek a biztonsági szempontok, mint például a megfelelő jogosultságkezelés, a verziókövetés és a fejlesztési </a:t>
            </a:r>
            <a:r>
              <a:rPr lang="hu-HU" dirty="0" err="1" smtClean="0"/>
              <a:t>környezetek</a:t>
            </a:r>
            <a:r>
              <a:rPr lang="hu-HU" dirty="0" smtClean="0"/>
              <a:t> megfelelő védelme. Egyik fő alapelve, hogy a biztonsági szabályozásokat a kockázatelemzés alapján kell meghatározni, és nem egy előre megadott sablon szerint. Egy</a:t>
            </a:r>
            <a:r>
              <a:rPr lang="hu-HU" baseline="0" dirty="0" smtClean="0"/>
              <a:t> másik ismertebb irányelveket kiadó szervezet az OWASP, amely a </a:t>
            </a:r>
            <a:r>
              <a:rPr lang="hu-HU" dirty="0" smtClean="0"/>
              <a:t>fejlesztői irányelvekre és a kódot érintő különböző sérülékenységekre összpontosít.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forráskódú, deklaratív funkcionális programozási nyelv, amelyet eredetileg a telekommunikációs rendszerek fejlesztésére hozott létre az Ericsson. Alapvető feladata, hogy egyszerűvé tegye a párhuzamosan futtatható elosztott rendszerek készítését.</a:t>
            </a:r>
            <a:r>
              <a:rPr lang="hu-HU" baseline="0" dirty="0" smtClean="0"/>
              <a:t> </a:t>
            </a:r>
            <a:r>
              <a:rPr lang="hu-HU" dirty="0" smtClean="0"/>
              <a:t>Sok vállalkozás által kedvelt nyelv, mivel több olyan tulajdonsággal is rendelkezik, amelyek jelentősen elősegítik a biztonságos fejlesztést és a támadásokkal szembeni védelmet. A legfontosabb jellemzői közé tartozik a megváltoztathatatlan adatszerkezetek biztosítása, az elosztottság támogatása, a párhuzamosság megvalósítása és a hibatűrő modell.</a:t>
            </a:r>
          </a:p>
          <a:p>
            <a:endParaRPr lang="hu-HU" dirty="0" smtClean="0"/>
          </a:p>
          <a:p>
            <a:r>
              <a:rPr lang="hu-HU" dirty="0" smtClean="0"/>
              <a:t>Megváltoztathatatlan adatszerkezet: A funkcionális nyelvcsaládba való tartozás miatt az </a:t>
            </a:r>
            <a:r>
              <a:rPr lang="hu-HU" dirty="0" err="1" smtClean="0"/>
              <a:t>Erlangban</a:t>
            </a:r>
            <a:r>
              <a:rPr lang="hu-HU" dirty="0" smtClean="0"/>
              <a:t> az adatok létrehozás után nem módosíthatók.</a:t>
            </a:r>
          </a:p>
          <a:p>
            <a:endParaRPr lang="hu-HU" dirty="0" smtClean="0"/>
          </a:p>
          <a:p>
            <a:r>
              <a:rPr lang="hu-HU" dirty="0" smtClean="0"/>
              <a:t>Konkurens programozás:</a:t>
            </a:r>
            <a:r>
              <a:rPr lang="hu-HU" baseline="0" dirty="0" smtClean="0"/>
              <a:t> </a:t>
            </a:r>
            <a:r>
              <a:rPr lang="hu-HU" dirty="0" smtClean="0"/>
              <a:t>A folyamatok egymástól teljesen elszigetelve, izoláltan futnak anélkül, hogy kihatással lennének a másik szálra. Saját memóriaterülettel rendelkeznek, és csakis üzenetküldéseken keresztül kommunikálnak egymással. </a:t>
            </a:r>
          </a:p>
          <a:p>
            <a:endParaRPr lang="hu-HU" dirty="0" smtClean="0"/>
          </a:p>
          <a:p>
            <a:r>
              <a:rPr lang="hu-HU" dirty="0" smtClean="0"/>
              <a:t>Elosztott programozás: A folyamatok akár több virtuális gépen is szétoszthatók, amelyek között az információáramlás változatlanul működik. A csomópontok között a kommunikáció transzparens, így ha kiesik egy pont, a többi ugyanúgy tud tovább működni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Hibatűrési modell: A nyelv "</a:t>
            </a:r>
            <a:r>
              <a:rPr lang="hu-HU" dirty="0" err="1" smtClean="0"/>
              <a:t>Let</a:t>
            </a:r>
            <a:r>
              <a:rPr lang="hu-HU" dirty="0" smtClean="0"/>
              <a:t> it </a:t>
            </a:r>
            <a:r>
              <a:rPr lang="hu-HU" dirty="0" err="1" smtClean="0"/>
              <a:t>crash</a:t>
            </a:r>
            <a:r>
              <a:rPr lang="hu-HU" dirty="0" smtClean="0"/>
              <a:t>„</a:t>
            </a:r>
            <a:r>
              <a:rPr lang="hu-HU" baseline="0" dirty="0" smtClean="0"/>
              <a:t> </a:t>
            </a:r>
            <a:r>
              <a:rPr lang="hu-HU" dirty="0" smtClean="0"/>
              <a:t>filozófiája szerint nem minden hibát kell megelőzni, hanem gondoskodni kell arról, hogy a hibák ne terjedhessenek tovább a rendszerben. Ha egy folyamat hibát észlel, akkor leáll, és annak helyreállítását egy felügyelő (</a:t>
            </a:r>
            <a:r>
              <a:rPr lang="hu-HU" dirty="0" err="1" smtClean="0"/>
              <a:t>supervisor</a:t>
            </a:r>
            <a:r>
              <a:rPr lang="hu-HU" dirty="0" smtClean="0"/>
              <a:t>) folyamat végzi</a:t>
            </a:r>
            <a:r>
              <a:rPr lang="hu-HU" baseline="0" dirty="0" smtClean="0"/>
              <a:t> (például </a:t>
            </a:r>
            <a:r>
              <a:rPr lang="hu-HU" baseline="0" dirty="0" err="1" smtClean="0"/>
              <a:t>ú</a:t>
            </a:r>
            <a:r>
              <a:rPr lang="hu-HU" dirty="0" err="1" smtClean="0"/>
              <a:t>jraindíthatja</a:t>
            </a:r>
            <a:r>
              <a:rPr lang="hu-HU" dirty="0" smtClean="0"/>
              <a:t> a problémás folyamatot).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Együttműködésből:</a:t>
            </a:r>
            <a:r>
              <a:rPr lang="hu-HU" baseline="0" dirty="0" smtClean="0"/>
              <a:t> </a:t>
            </a:r>
            <a:r>
              <a:rPr lang="hu-HU" dirty="0" err="1" smtClean="0"/>
              <a:t>Porthasználat</a:t>
            </a:r>
            <a:r>
              <a:rPr lang="hu-HU" dirty="0" smtClean="0"/>
              <a:t>, Dinamikusan betölthető driverek,</a:t>
            </a:r>
            <a:r>
              <a:rPr lang="hu-HU" baseline="0" dirty="0" smtClean="0"/>
              <a:t> </a:t>
            </a:r>
            <a:r>
              <a:rPr lang="hu-HU" dirty="0" smtClean="0"/>
              <a:t>NIF-</a:t>
            </a:r>
            <a:r>
              <a:rPr lang="hu-HU" dirty="0" err="1" smtClean="0"/>
              <a:t>ek</a:t>
            </a:r>
            <a:r>
              <a:rPr lang="hu-HU" dirty="0" smtClean="0"/>
              <a:t> (C nyelven írt külső függvények)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Konkurens programozásból:</a:t>
            </a:r>
            <a:r>
              <a:rPr lang="hu-HU" baseline="0" dirty="0" smtClean="0"/>
              <a:t> </a:t>
            </a:r>
            <a:r>
              <a:rPr lang="hu-HU" dirty="0" smtClean="0"/>
              <a:t>Folyamatkezelés (</a:t>
            </a:r>
            <a:r>
              <a:rPr lang="hu-HU" dirty="0" err="1" smtClean="0"/>
              <a:t>spawn</a:t>
            </a:r>
            <a:r>
              <a:rPr lang="hu-HU" dirty="0" smtClean="0"/>
              <a:t>-link) - versenyhelyzet, Ütemezés állítás - éheztetés, ETS tábla kezelés – versenyhelyzet, inkonzisztens állapot.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Elosztott programozásból: Hálózati hozzáférés, </a:t>
            </a:r>
            <a:r>
              <a:rPr lang="hu-HU" dirty="0" err="1" smtClean="0"/>
              <a:t>SSl</a:t>
            </a:r>
            <a:r>
              <a:rPr lang="hu-HU" dirty="0" smtClean="0"/>
              <a:t>/TLS beállítások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Beszúrásos támadások: OS parancsok,</a:t>
            </a:r>
            <a:r>
              <a:rPr lang="hu-HU" baseline="0" dirty="0" smtClean="0"/>
              <a:t> </a:t>
            </a:r>
            <a:r>
              <a:rPr lang="hu-HU" dirty="0" smtClean="0"/>
              <a:t>Fájlokkal kapcsolatos műveletek, Dinamikusan fordított és betöltött programkódok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Memória túlterhelés:</a:t>
            </a:r>
            <a:r>
              <a:rPr lang="hu-HU" baseline="0" dirty="0" smtClean="0"/>
              <a:t> </a:t>
            </a:r>
            <a:r>
              <a:rPr lang="hu-HU" dirty="0" smtClean="0"/>
              <a:t>Az atomok értékei egy globális, fix mérettel rendelkező atomtáblában tárolódnak. Az új atomok futásidőben kerülnek be a táblába, viszont a fel nem használtak eltávolítására nincs lehetőség. Amint az atomok száma meghaladja a tábla maximális értékét, a virtuális gép összeomolhat, és szolgáltatáskiesést (</a:t>
            </a:r>
            <a:r>
              <a:rPr lang="hu-HU" dirty="0" err="1" smtClean="0"/>
              <a:t>DoS</a:t>
            </a:r>
            <a:r>
              <a:rPr lang="hu-HU" dirty="0" smtClean="0"/>
              <a:t> / </a:t>
            </a:r>
            <a:r>
              <a:rPr lang="hu-HU" dirty="0" err="1" smtClean="0"/>
              <a:t>DDoS</a:t>
            </a:r>
            <a:r>
              <a:rPr lang="hu-HU" dirty="0" smtClean="0"/>
              <a:t>) eredményezhet. Ezért óvatosan kell kezelni a dinamikus atomképzést és az adatok </a:t>
            </a:r>
            <a:r>
              <a:rPr lang="hu-HU" dirty="0" err="1" smtClean="0"/>
              <a:t>deszerializálását</a:t>
            </a:r>
            <a:r>
              <a:rPr lang="hu-HU" dirty="0" smtClean="0"/>
              <a:t> (</a:t>
            </a:r>
            <a:r>
              <a:rPr lang="hu-HU" dirty="0" err="1" smtClean="0"/>
              <a:t>stringből</a:t>
            </a:r>
            <a:r>
              <a:rPr lang="hu-HU" dirty="0" smtClean="0"/>
              <a:t> objektum) eredményező</a:t>
            </a:r>
            <a:r>
              <a:rPr lang="hu-HU" baseline="0" dirty="0" smtClean="0"/>
              <a:t> függvényeket, illetve célszerű ellenőrizni a bemeneti paramétereiket is.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Szoftverfejlesztés közben az ember könnyen követhet el olyan hibákat, amelyek csak futási időben jönnek elő. Ezek az esetek lassítják a fejlesztési folyamatot, és megbízhatatlanná teszik a rendszert.</a:t>
            </a:r>
          </a:p>
          <a:p>
            <a:endParaRPr lang="hu-HU" dirty="0" smtClean="0"/>
          </a:p>
          <a:p>
            <a:r>
              <a:rPr lang="hu-HU" dirty="0" smtClean="0"/>
              <a:t>Az ilyen jellegű problémák kezelésére fejlesztették ki az automatizált elemző szoftvereket, amelyek statikus kódelemzés segítségével képesek költséghatékonyabbá tenni a fejlesztési folyamatokat. Minél hamarabb találják meg a hibát, annál olcsóbb és egyszerűbb lesz a javítása.</a:t>
            </a:r>
          </a:p>
          <a:p>
            <a:r>
              <a:rPr lang="hu-HU" dirty="0" smtClean="0"/>
              <a:t>A forráskódot még futtatás előtt átvizsgálja a program, vagy még mielőtt egy ember letesztelné a szoftver működését. Így már a fejlesztés elején ki lehet javítani a hibákat vagy a lehetséges sérülékenységeket,</a:t>
            </a:r>
            <a:r>
              <a:rPr lang="hu-HU" baseline="0" dirty="0" smtClean="0"/>
              <a:t> így jelentősen nő a kód minősége, </a:t>
            </a:r>
            <a:r>
              <a:rPr lang="hu-HU" dirty="0" smtClean="0"/>
              <a:t>karbantarthatósága és biztonsága.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642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90661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images/spg_graph.PN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images/spg_graph.PNG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810871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857249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tx1">
                    <a:lumMod val="95000"/>
                  </a:schemeClr>
                </a:solidFill>
              </a:rPr>
              <a:t/>
            </a:r>
            <a:br>
              <a:rPr lang="hu-HU" dirty="0" smtClean="0">
                <a:solidFill>
                  <a:schemeClr val="tx1">
                    <a:lumMod val="95000"/>
                  </a:schemeClr>
                </a:solidFill>
              </a:rPr>
            </a:br>
            <a:endParaRPr lang="hu-HU" dirty="0" smtClean="0">
              <a:solidFill>
                <a:schemeClr val="tx1">
                  <a:lumMod val="95000"/>
                </a:schemeClr>
              </a:solidFill>
            </a:endParaRP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atomgenerálás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endParaRPr lang="hu-HU" sz="4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572400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1119997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10250" y="2711239"/>
            <a:ext cx="5985652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805411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4035697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27324" y="2706101"/>
            <a:ext cx="5572125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1119997" y="2712222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826895" y="4110076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891600" y="2973690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Szövegdoboz 23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27324" y="2712223"/>
            <a:ext cx="6231326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08448" y="2712222"/>
            <a:ext cx="5118876" cy="2562718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379220" y="4914304"/>
            <a:ext cx="3814680" cy="528999"/>
            <a:chOff x="1379220" y="4775291"/>
            <a:chExt cx="3814680" cy="528999"/>
          </a:xfrm>
        </p:grpSpPr>
        <p:sp>
          <p:nvSpPr>
            <p:cNvPr id="9" name="Szövegdoboz 8"/>
            <p:cNvSpPr txBox="1"/>
            <p:nvPr/>
          </p:nvSpPr>
          <p:spPr>
            <a:xfrm>
              <a:off x="2657221" y="5027291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81468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19390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424194" y="4504093"/>
            <a:ext cx="2636654" cy="400240"/>
            <a:chOff x="2424194" y="4256444"/>
            <a:chExt cx="2636654" cy="400240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8850" y="4256444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zövegdoboz 19"/>
          <p:cNvSpPr txBox="1"/>
          <p:nvPr/>
        </p:nvSpPr>
        <p:spPr>
          <a:xfrm>
            <a:off x="2387243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038861" y="245275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0226"/>
            <a:ext cx="10075545" cy="543561"/>
            <a:chOff x="1744980" y="3053106"/>
            <a:chExt cx="10075545" cy="543561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>
              <a:off x="1744980" y="3314159"/>
              <a:ext cx="10075545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820525" y="3053106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34544" y="2799784"/>
            <a:ext cx="2636654" cy="391145"/>
            <a:chOff x="2424194" y="4265539"/>
            <a:chExt cx="2636654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590490" y="530954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8217443" y="6268856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837908" y="361366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868024" y="6198591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222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kód szemantikus programgráfját a lenti hivatkozáson látható módon hozta létre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eszköz.</a:t>
            </a:r>
          </a:p>
          <a:p>
            <a:pPr marL="0" indent="0">
              <a:buNone/>
            </a:pPr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Szemantikus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programgráf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33476" y="396239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000" y="1751846"/>
            <a:ext cx="324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681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2243</TotalTime>
  <Words>2706</Words>
  <Application>Microsoft Office PowerPoint</Application>
  <PresentationFormat>Szélesvásznú</PresentationFormat>
  <Paragraphs>357</Paragraphs>
  <Slides>22</Slides>
  <Notes>22</Notes>
  <HiddenSlides>7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 Nem biztonságos függvény cseréje (Miner projekt, miner_lora.erl fájl, 759-765. sor)</vt:lpstr>
      <vt:lpstr>Köszönöm a figyelmet!</vt:lpstr>
      <vt:lpstr>PowerPoint-bemutató</vt:lpstr>
      <vt:lpstr>PowerPoint-bemutató</vt:lpstr>
      <vt:lpstr>PowerPoint-bemutató</vt:lpstr>
      <vt:lpstr>PowerPoint-bemutató</vt:lpstr>
      <vt:lpstr>PowerPoint-bemutató</vt:lpstr>
      <vt:lpstr>  Implementált transzformációk bemutatása – os:cmd</vt:lpstr>
      <vt:lpstr>  Implementált transzformációk bemutatása –  spawn és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218</cp:revision>
  <dcterms:created xsi:type="dcterms:W3CDTF">2025-12-03T15:39:13Z</dcterms:created>
  <dcterms:modified xsi:type="dcterms:W3CDTF">2026-01-18T21:59:51Z</dcterms:modified>
</cp:coreProperties>
</file>