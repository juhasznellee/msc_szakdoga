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67" r:id="rId1"/>
  </p:sldMasterIdLst>
  <p:notesMasterIdLst>
    <p:notesMasterId r:id="rId27"/>
  </p:notesMasterIdLst>
  <p:sldIdLst>
    <p:sldId id="256" r:id="rId2"/>
    <p:sldId id="283" r:id="rId3"/>
    <p:sldId id="287" r:id="rId4"/>
    <p:sldId id="266" r:id="rId5"/>
    <p:sldId id="285" r:id="rId6"/>
    <p:sldId id="271" r:id="rId7"/>
    <p:sldId id="288" r:id="rId8"/>
    <p:sldId id="268" r:id="rId9"/>
    <p:sldId id="274" r:id="rId10"/>
    <p:sldId id="284" r:id="rId11"/>
    <p:sldId id="278" r:id="rId12"/>
    <p:sldId id="279" r:id="rId13"/>
    <p:sldId id="280" r:id="rId14"/>
    <p:sldId id="269" r:id="rId15"/>
    <p:sldId id="263" r:id="rId16"/>
    <p:sldId id="272" r:id="rId17"/>
    <p:sldId id="286" r:id="rId18"/>
    <p:sldId id="289" r:id="rId19"/>
    <p:sldId id="282" r:id="rId20"/>
    <p:sldId id="273" r:id="rId21"/>
    <p:sldId id="260" r:id="rId22"/>
    <p:sldId id="270" r:id="rId23"/>
    <p:sldId id="262" r:id="rId24"/>
    <p:sldId id="264" r:id="rId25"/>
    <p:sldId id="265" r:id="rId2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A6A"/>
    <a:srgbClr val="103F55"/>
    <a:srgbClr val="68787F"/>
    <a:srgbClr val="F9441B"/>
    <a:srgbClr val="328792"/>
    <a:srgbClr val="0F394B"/>
    <a:srgbClr val="1F7498"/>
    <a:srgbClr val="217CA3"/>
    <a:srgbClr val="E89874"/>
    <a:srgbClr val="B27B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Közepesen sötét stíl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Közepesen sötét stílus 2 – 2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E25E649-3F16-4E02-A733-19D2CDBF48F0}" styleName="Közepesen sötét stílus 3 – 1. jelölőszín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39" autoAdjust="0"/>
    <p:restoredTop sz="64894" autoAdjust="0"/>
  </p:normalViewPr>
  <p:slideViewPr>
    <p:cSldViewPr snapToGrid="0">
      <p:cViewPr varScale="1">
        <p:scale>
          <a:sx n="106" d="100"/>
          <a:sy n="106" d="100"/>
        </p:scale>
        <p:origin x="1182" y="10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F92BB9-1BE5-4032-8E9C-0AD5DE3AFD4B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hu-HU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59CBF5-A446-4922-B374-CEAB447E0580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9338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</a:t>
            </a:r>
            <a:r>
              <a:rPr lang="hu-HU" baseline="0" dirty="0" smtClean="0"/>
              <a:t> diplomamunkám témája a nem biztonságos kód biztonságossá transzformálása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 eszköz segítségével. 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437613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Első körben</a:t>
            </a:r>
            <a:r>
              <a:rPr lang="hu-HU" baseline="0" dirty="0" smtClean="0"/>
              <a:t> röviden bemutatnám a </a:t>
            </a:r>
            <a:r>
              <a:rPr lang="hu-HU" baseline="0" dirty="0" err="1" smtClean="0"/>
              <a:t>RefactorErl</a:t>
            </a:r>
            <a:r>
              <a:rPr lang="hu-HU" baseline="0" dirty="0" smtClean="0"/>
              <a:t>-t azoknak, akik még nem ismerik.</a:t>
            </a:r>
          </a:p>
          <a:p>
            <a:endParaRPr lang="hu-HU" dirty="0" smtClean="0"/>
          </a:p>
          <a:p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egy nyílt forráskódú statikus elemző és transzformáló eszköz, amelyet az ELTE fejlesztett ki az </a:t>
            </a:r>
            <a:r>
              <a:rPr lang="hu-HU" dirty="0" err="1" smtClean="0"/>
              <a:t>Erlang</a:t>
            </a:r>
            <a:r>
              <a:rPr lang="hu-HU" dirty="0" smtClean="0"/>
              <a:t> nyelvhez. Elsősorban olyan </a:t>
            </a:r>
            <a:r>
              <a:rPr lang="hu-HU" dirty="0" err="1" smtClean="0"/>
              <a:t>refaktorálásokat</a:t>
            </a:r>
            <a:r>
              <a:rPr lang="hu-HU" dirty="0" smtClean="0"/>
              <a:t> implementáltak benne, amelyek biztonságosan alakítják át a kódot úgy, hogy a program viselkedése vagy jelentése nem változik</a:t>
            </a:r>
            <a:r>
              <a:rPr lang="hu-HU" baseline="0" dirty="0" smtClean="0"/>
              <a:t> meg</a:t>
            </a:r>
            <a:r>
              <a:rPr lang="hu-HU" dirty="0" smtClean="0"/>
              <a:t>. Mára</a:t>
            </a:r>
            <a:r>
              <a:rPr lang="hu-HU" baseline="0" dirty="0" smtClean="0"/>
              <a:t> már több funkcióval rendelkezik az eszköz, például elérhetők benne </a:t>
            </a:r>
            <a:r>
              <a:rPr lang="hu-HU" dirty="0" smtClean="0"/>
              <a:t>olyan elemzések és keresések,</a:t>
            </a:r>
            <a:r>
              <a:rPr lang="hu-HU" baseline="0" dirty="0" smtClean="0"/>
              <a:t> amelyek megmutatják a projektben előforduló sérülékenységeket.</a:t>
            </a:r>
            <a:endParaRPr lang="hu-HU" dirty="0" smtClean="0"/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RefactorErl</a:t>
            </a:r>
            <a:r>
              <a:rPr lang="hu-HU" dirty="0" smtClean="0"/>
              <a:t> az </a:t>
            </a:r>
            <a:r>
              <a:rPr lang="hu-HU" dirty="0" err="1" smtClean="0"/>
              <a:t>Erlang</a:t>
            </a:r>
            <a:r>
              <a:rPr lang="hu-HU" dirty="0" smtClean="0"/>
              <a:t> nyelven írt forráskódot egy szemantikus programgráfban reprezentálja, amelyet az elemzés során bejár.</a:t>
            </a:r>
            <a:r>
              <a:rPr lang="hu-HU" baseline="0" dirty="0" smtClean="0"/>
              <a:t>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Ez 3</a:t>
            </a:r>
            <a:r>
              <a:rPr lang="hu-HU" baseline="0" dirty="0" smtClean="0"/>
              <a:t> rétegből épül fel:</a:t>
            </a:r>
          </a:p>
          <a:p>
            <a:r>
              <a:rPr lang="hu-HU" baseline="0" dirty="0" smtClean="0"/>
              <a:t> - lexikális: </a:t>
            </a:r>
            <a:r>
              <a:rPr lang="hu-HU" baseline="0" dirty="0" err="1" smtClean="0"/>
              <a:t>tokeneket</a:t>
            </a:r>
            <a:r>
              <a:rPr lang="hu-HU" baseline="0" dirty="0" smtClean="0"/>
              <a:t> készít</a:t>
            </a:r>
          </a:p>
          <a:p>
            <a:r>
              <a:rPr lang="hu-HU" baseline="0" dirty="0" smtClean="0"/>
              <a:t> - szintaktikus: létrehozza a szintaxisfát a </a:t>
            </a:r>
            <a:r>
              <a:rPr lang="hu-HU" baseline="0" dirty="0" err="1" smtClean="0"/>
              <a:t>tokenekből</a:t>
            </a:r>
            <a:endParaRPr lang="hu-HU" baseline="0" dirty="0" smtClean="0"/>
          </a:p>
          <a:p>
            <a:r>
              <a:rPr lang="hu-HU" baseline="0" dirty="0" smtClean="0"/>
              <a:t> - szemantikus: információkkal és kapcsolatokkal bővíti ki a fát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18895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Most</a:t>
            </a:r>
            <a:r>
              <a:rPr lang="hu-HU" baseline="0" dirty="0" smtClean="0"/>
              <a:t> pedig ismertetem a problémát, amely egy részére a diplomamunkámban implementált transzformációk megoldást nyújtanak.</a:t>
            </a:r>
            <a:endParaRPr lang="hu-HU" dirty="0" smtClean="0"/>
          </a:p>
          <a:p>
            <a:endParaRPr lang="hu-HU" dirty="0" smtClean="0"/>
          </a:p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nyelvben több olyan függvény is előfordul, amelyek ránézésre nem jelentenek problémát, viszont bizonyos bemenetek vagy esetek mellett mégis komoly biztonsági kockázatot rejtenek. A </a:t>
            </a:r>
            <a:r>
              <a:rPr lang="hu-HU" dirty="0" err="1" smtClean="0"/>
              <a:t>RefactorErl</a:t>
            </a:r>
            <a:r>
              <a:rPr lang="hu-HU" dirty="0" smtClean="0"/>
              <a:t> eszköz segítségével azonosíthatók a forráskódban előforduló sebezhető hívások, így nagyobb eséllyel elkerülhetők az ebből adódó tipikus problémák, mint például az OS </a:t>
            </a:r>
            <a:r>
              <a:rPr lang="hu-HU" dirty="0" err="1" smtClean="0"/>
              <a:t>injection</a:t>
            </a:r>
            <a:r>
              <a:rPr lang="hu-HU" dirty="0" smtClean="0"/>
              <a:t> vagy az </a:t>
            </a:r>
            <a:r>
              <a:rPr lang="hu-HU" dirty="0" err="1" smtClean="0"/>
              <a:t>atomtúlcsordulás</a:t>
            </a:r>
            <a:r>
              <a:rPr lang="hu-HU" dirty="0" smtClean="0"/>
              <a:t>.</a:t>
            </a:r>
          </a:p>
          <a:p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Ezeket jelenleg manuálisan lehet csak kijavítani,</a:t>
            </a:r>
            <a:r>
              <a:rPr lang="hu-HU" sz="1200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viszont így fennáll annak a veszélye, hogy új hibák kerülnek bevezetésére. Ezen kívül nem lesz egységes a kód szerkezete, valamint a kézi javítás sokkal idő és költségigényesebb.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Az </a:t>
            </a:r>
            <a:r>
              <a:rPr lang="hu-HU" dirty="0" err="1" smtClean="0"/>
              <a:t>os:cmd</a:t>
            </a:r>
            <a:r>
              <a:rPr lang="hu-HU" dirty="0" smtClean="0"/>
              <a:t> paramétere egy megbízhatatlan külső forrásból származik,</a:t>
            </a:r>
            <a:r>
              <a:rPr lang="hu-HU" baseline="0" dirty="0" smtClean="0"/>
              <a:t> </a:t>
            </a:r>
            <a:r>
              <a:rPr lang="hu-HU" dirty="0" smtClean="0"/>
              <a:t>amelyet ellenőrzések nélkül egyszerűen végrehajt a kód. Ilyen formában ez a hívás azért nagyon veszélyes, mert bármilyen rosszindulatú parancs is lefuthat a szerveren. Itt például a program hiába vár a "</a:t>
            </a:r>
            <a:r>
              <a:rPr lang="hu-HU" dirty="0" err="1" smtClean="0"/>
              <a:t>cat</a:t>
            </a:r>
            <a:r>
              <a:rPr lang="hu-HU" dirty="0" smtClean="0"/>
              <a:t>" utasítás után egy fájlnevet, hogy kiírja annak tartalmát, a fájl megadása után a bemenethez még könnyedén hozzáilleszthetők OS utasítások, vagy akár felül is írható az eredeti parancs.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dirty="0" smtClean="0"/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dirty="0" smtClean="0"/>
              <a:t>A </a:t>
            </a:r>
            <a:r>
              <a:rPr lang="hu-HU" dirty="0" err="1" smtClean="0"/>
              <a:t>list_to_atom</a:t>
            </a:r>
            <a:r>
              <a:rPr lang="hu-HU" baseline="0" dirty="0" smtClean="0"/>
              <a:t> függvénnyel végrehajtott atomgenerálás </a:t>
            </a:r>
            <a:r>
              <a:rPr lang="hu-HU" dirty="0" smtClean="0"/>
              <a:t>annyi új atomot hoz létre, ahány elem van a generáló listában. Ránézésre a mérete ismeretlen, mivel az </a:t>
            </a:r>
            <a:r>
              <a:rPr lang="hu-HU" dirty="0" err="1" smtClean="0"/>
              <a:t>Arg</a:t>
            </a:r>
            <a:r>
              <a:rPr lang="hu-HU" dirty="0" smtClean="0"/>
              <a:t> egy bemeneti paraméter, tehát bármekkora lehet. Az </a:t>
            </a:r>
            <a:r>
              <a:rPr lang="hu-HU" dirty="0" err="1" smtClean="0"/>
              <a:t>Erlang</a:t>
            </a:r>
            <a:r>
              <a:rPr lang="hu-HU" dirty="0" smtClean="0"/>
              <a:t> atomtáblája fix méretű, és atomok törlésére futás közben nincs lehetőség. Ezért ha nincs limitálva az atomok létrehozásának száma, könnyen </a:t>
            </a:r>
            <a:r>
              <a:rPr lang="hu-HU" dirty="0" err="1" smtClean="0"/>
              <a:t>atomtúlcsordulás</a:t>
            </a:r>
            <a:r>
              <a:rPr lang="hu-HU" dirty="0" smtClean="0"/>
              <a:t> következhet be a rendszerben. 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sz="12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51649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Az </a:t>
            </a:r>
            <a:r>
              <a:rPr lang="hu-HU" dirty="0" err="1" smtClean="0"/>
              <a:t>Erlang</a:t>
            </a:r>
            <a:r>
              <a:rPr lang="hu-HU" dirty="0" smtClean="0"/>
              <a:t> egy </a:t>
            </a:r>
            <a:r>
              <a:rPr lang="hu-HU" dirty="0" err="1" smtClean="0"/>
              <a:t>memory</a:t>
            </a:r>
            <a:r>
              <a:rPr lang="hu-HU" dirty="0" smtClean="0"/>
              <a:t> </a:t>
            </a:r>
            <a:r>
              <a:rPr lang="hu-HU" dirty="0" err="1" smtClean="0"/>
              <a:t>safe</a:t>
            </a:r>
            <a:r>
              <a:rPr lang="hu-HU" dirty="0" smtClean="0"/>
              <a:t> nyelv, vagyis garantálja a memória biztonságos kezelését. Ennek ellenére</a:t>
            </a:r>
            <a:r>
              <a:rPr lang="hu-HU" baseline="0" dirty="0" smtClean="0"/>
              <a:t> ebben a programozási nyelvben is előfordulnak bizonyos sérülékenységek, melyek adódhatnak:</a:t>
            </a:r>
          </a:p>
          <a:p>
            <a:r>
              <a:rPr lang="hu-HU" baseline="0" dirty="0" smtClean="0"/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</a:t>
            </a: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baseline="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Valamint előfordulnak olyan esetek, amelyek Beszúrásos támadást vagy Memória túlterhelést eredményezhetnek.</a:t>
            </a:r>
          </a:p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2118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A diplomamunkámban a következő transzformációkat</a:t>
            </a:r>
            <a:r>
              <a:rPr lang="hu-HU" baseline="0" dirty="0" smtClean="0"/>
              <a:t> implementáltam, amelyek közül párat részletesebben bemutatok a továbbiakban.</a:t>
            </a:r>
          </a:p>
          <a:p>
            <a:endParaRPr lang="hu-HU" dirty="0" smtClean="0"/>
          </a:p>
          <a:p>
            <a:pPr marL="171450" indent="-171450">
              <a:buFontTx/>
              <a:buChar char="-"/>
            </a:pPr>
            <a:r>
              <a:rPr lang="hu-HU" dirty="0" smtClean="0"/>
              <a:t>Az első az </a:t>
            </a:r>
            <a:r>
              <a:rPr lang="hu-HU" dirty="0" err="1" smtClean="0"/>
              <a:t>os:cmd</a:t>
            </a:r>
            <a:r>
              <a:rPr lang="hu-HU" dirty="0" smtClean="0"/>
              <a:t> függvények bemeneti</a:t>
            </a:r>
            <a:r>
              <a:rPr lang="hu-HU" baseline="0" dirty="0" smtClean="0"/>
              <a:t> paraméterek tartalmának ellenőrzése -&gt; így elkerülhető az OS </a:t>
            </a:r>
            <a:r>
              <a:rPr lang="hu-HU" baseline="0" dirty="0" err="1" smtClean="0"/>
              <a:t>injection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második a </a:t>
            </a:r>
            <a:r>
              <a:rPr lang="hu-HU" baseline="0" dirty="0" err="1" smtClean="0"/>
              <a:t>list_to_atom</a:t>
            </a:r>
            <a:r>
              <a:rPr lang="hu-HU" baseline="0" dirty="0" smtClean="0"/>
              <a:t> függvényhívások számának </a:t>
            </a:r>
            <a:r>
              <a:rPr lang="hu-HU" sz="12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korlátozása</a:t>
            </a:r>
            <a:r>
              <a:rPr lang="hu-HU" baseline="0" dirty="0" smtClean="0"/>
              <a:t> -&gt; ezzel elkerülhető az </a:t>
            </a:r>
            <a:r>
              <a:rPr lang="hu-HU" baseline="0" dirty="0" err="1" smtClean="0"/>
              <a:t>atomtúlcsordulás</a:t>
            </a:r>
            <a:endParaRPr lang="hu-HU" baseline="0" dirty="0" smtClean="0"/>
          </a:p>
          <a:p>
            <a:pPr marL="171450" indent="-171450">
              <a:buFontTx/>
              <a:buChar char="-"/>
            </a:pPr>
            <a:r>
              <a:rPr lang="hu-HU" baseline="0" dirty="0" smtClean="0"/>
              <a:t>A következő a nem biztonságos függvények biztonságosra cserélése</a:t>
            </a:r>
          </a:p>
          <a:p>
            <a:pPr marL="171450" indent="-171450">
              <a:buFontTx/>
              <a:buChar char="-"/>
            </a:pPr>
            <a:r>
              <a:rPr lang="hu-HU" dirty="0" smtClean="0"/>
              <a:t>Végezetül a</a:t>
            </a:r>
            <a:r>
              <a:rPr lang="hu-HU" baseline="0" dirty="0" smtClean="0"/>
              <a:t> külön alkalmazott </a:t>
            </a:r>
            <a:r>
              <a:rPr lang="hu-HU" baseline="0" dirty="0" err="1" smtClean="0"/>
              <a:t>spawn</a:t>
            </a:r>
            <a:r>
              <a:rPr lang="hu-HU" baseline="0" dirty="0" smtClean="0"/>
              <a:t> és link függvények atomi összekapcsolása -&gt; mellyel megakadályozható a versenyhelyzetek kialakulása</a:t>
            </a:r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42186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baseline="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u-HU" baseline="0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694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27622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842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9024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41037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58138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2938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359761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32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5039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smtClean="0"/>
              <a:t>Összegezve, a dolgozatomban azzal foglalkoztam, hogy:</a:t>
            </a:r>
          </a:p>
          <a:p>
            <a:r>
              <a:rPr lang="hu-HU" baseline="0" dirty="0" smtClean="0"/>
              <a:t> - Megvizsgáltam az </a:t>
            </a:r>
            <a:r>
              <a:rPr lang="hu-HU" baseline="0" dirty="0" err="1" smtClean="0"/>
              <a:t>Erlang</a:t>
            </a:r>
            <a:r>
              <a:rPr lang="hu-HU" baseline="0" dirty="0" smtClean="0"/>
              <a:t> sérülékenységeit,</a:t>
            </a:r>
          </a:p>
          <a:p>
            <a:r>
              <a:rPr lang="hu-HU" baseline="0" dirty="0" smtClean="0"/>
              <a:t> - Ezek közül kiválasztva </a:t>
            </a:r>
            <a:r>
              <a:rPr lang="hu-HU" baseline="0" dirty="0" smtClean="0"/>
              <a:t>párat, transzformációkat definiáltam rájuk, amelyek biztonságosabb formára alakítják át a kódok</a:t>
            </a:r>
          </a:p>
          <a:p>
            <a:r>
              <a:rPr lang="hu-HU" baseline="0" dirty="0" smtClean="0"/>
              <a:t> - A megfogalmazott transzformációkat leimplementáltam</a:t>
            </a:r>
          </a:p>
          <a:p>
            <a:r>
              <a:rPr lang="hu-HU" baseline="0" dirty="0" smtClean="0"/>
              <a:t> - Majd ezeket lefuttattam </a:t>
            </a:r>
            <a:r>
              <a:rPr lang="hu-HU" baseline="0" dirty="0" err="1" smtClean="0"/>
              <a:t>open</a:t>
            </a:r>
            <a:r>
              <a:rPr lang="hu-HU" baseline="0" dirty="0" smtClean="0"/>
              <a:t> </a:t>
            </a:r>
            <a:r>
              <a:rPr lang="hu-HU" baseline="0" err="1" smtClean="0"/>
              <a:t>source</a:t>
            </a:r>
            <a:r>
              <a:rPr lang="hu-HU" baseline="0" smtClean="0"/>
              <a:t> projekteken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4001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00347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686549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4793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32592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78713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979688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221618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 smtClean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59CBF5-A446-4922-B374-CEAB447E0580}" type="slidenum">
              <a:rPr lang="hu-HU" smtClean="0"/>
              <a:t>25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09559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26307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6270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smtClean="0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4188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0669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84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38698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817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55278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9893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940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82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86955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1807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hu-HU" smtClean="0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92919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 smtClean="0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939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33089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48589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59731AD7-5972-4914-843B-2D1C931CBC7C}" type="datetimeFigureOut">
              <a:rPr lang="hu-HU" smtClean="0"/>
              <a:t>2026. 01. 19.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6749C963-4ADE-4FB4-B787-F120E7F3F11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0430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8" r:id="rId1"/>
    <p:sldLayoutId id="2147483969" r:id="rId2"/>
    <p:sldLayoutId id="2147483970" r:id="rId3"/>
    <p:sldLayoutId id="2147483971" r:id="rId4"/>
    <p:sldLayoutId id="2147483972" r:id="rId5"/>
    <p:sldLayoutId id="2147483973" r:id="rId6"/>
    <p:sldLayoutId id="2147483974" r:id="rId7"/>
    <p:sldLayoutId id="2147483975" r:id="rId8"/>
    <p:sldLayoutId id="2147483976" r:id="rId9"/>
    <p:sldLayoutId id="2147483977" r:id="rId10"/>
    <p:sldLayoutId id="2147483978" r:id="rId11"/>
    <p:sldLayoutId id="2147483979" r:id="rId12"/>
    <p:sldLayoutId id="2147483980" r:id="rId13"/>
    <p:sldLayoutId id="2147483981" r:id="rId14"/>
    <p:sldLayoutId id="2147483982" r:id="rId15"/>
    <p:sldLayoutId id="2147483983" r:id="rId16"/>
    <p:sldLayoutId id="2147483984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531495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kód biztonságossá transzformálása a </a:t>
            </a:r>
            <a:r>
              <a:rPr lang="hu-HU" sz="54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54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segítségével </a:t>
            </a:r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7600950" y="4476750"/>
            <a:ext cx="4591050" cy="533400"/>
          </a:xfrm>
        </p:spPr>
        <p:txBody>
          <a:bodyPr>
            <a:normAutofit/>
          </a:bodyPr>
          <a:lstStyle/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Budapest, 2026</a:t>
            </a:r>
            <a:endParaRPr lang="hu-H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Alcím 2"/>
          <p:cNvSpPr txBox="1">
            <a:spLocks/>
          </p:cNvSpPr>
          <p:nvPr/>
        </p:nvSpPr>
        <p:spPr>
          <a:xfrm>
            <a:off x="0" y="4476750"/>
            <a:ext cx="5632450" cy="533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kern="120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Juhász Alexandra Nelli</a:t>
            </a:r>
            <a:endParaRPr lang="hu-HU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9586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Csoportba foglalás 8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1" name="Kép 10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0" y="1825624"/>
            <a:ext cx="6438899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elemző és transzformáló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eszköz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nyelvhez</a:t>
            </a:r>
            <a:endParaRPr lang="hu-HU" sz="24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lekérdezések, elemzések</a:t>
            </a:r>
          </a:p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forráskódot</a:t>
            </a:r>
            <a:endParaRPr lang="hu-HU" sz="24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876300" y="4433884"/>
            <a:ext cx="5848349" cy="1892302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sz="2000" dirty="0" smtClean="0">
                <a:latin typeface="Consolas" panose="020B0609020204030204" pitchFamily="49" charset="0"/>
              </a:rPr>
              <a:t>-</a:t>
            </a:r>
            <a:r>
              <a:rPr lang="hu-HU" sz="2000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test_code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test/1</a:t>
            </a:r>
            <a:r>
              <a:rPr lang="hu-HU" sz="2000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sz="20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sz="2000" dirty="0">
                <a:solidFill>
                  <a:srgbClr val="FCF5C0"/>
                </a:solidFill>
                <a:latin typeface="Consolas" panose="020B0609020204030204" pitchFamily="49" charset="0"/>
              </a:rPr>
              <a:t>t</a:t>
            </a:r>
            <a:r>
              <a:rPr lang="hu-HU" sz="2000" dirty="0" smtClean="0">
                <a:solidFill>
                  <a:srgbClr val="FCF5C0"/>
                </a:solidFill>
                <a:latin typeface="Consolas" panose="020B0609020204030204" pitchFamily="49" charset="0"/>
              </a:rPr>
              <a:t>est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sz="2000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io</a:t>
            </a:r>
            <a:r>
              <a:rPr lang="hu-HU" sz="2000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sz="2000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format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sz="2000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”Hello World! ” 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sz="2000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sz="2000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sz="2000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16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760" y="0"/>
            <a:ext cx="7736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369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Csoportba foglalás 7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10" name="Téglalap 9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3" name="Kép 1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Probléma ismertetése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23953" y="3320713"/>
            <a:ext cx="4200522" cy="1650994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cmd_example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run_os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cat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++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felismeri az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Erlangban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előforduló sérülékenységeket, amelyek 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ránézésre nem jelentenek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problémát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Jelenleg manuálisan lehet csak kijavítani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123953" y="4971707"/>
            <a:ext cx="6872317" cy="1633999"/>
          </a:xfrm>
          <a:prstGeom prst="roundRect">
            <a:avLst>
              <a:gd name="adj" fmla="val 21732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smtClean="0">
                <a:latin typeface="Consolas" panose="020B0609020204030204" pitchFamily="49" charset="0"/>
              </a:rPr>
              <a:t>-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module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lta_example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export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/1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run_list_gen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87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389600" cy="4351338"/>
          </a:xfrm>
        </p:spPr>
        <p:txBody>
          <a:bodyPr/>
          <a:lstStyle/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gyakori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0" name="Csoportba foglalás 9"/>
          <p:cNvGrpSpPr/>
          <p:nvPr/>
        </p:nvGrpSpPr>
        <p:grpSpPr>
          <a:xfrm>
            <a:off x="6372226" y="1442940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8837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églalap 8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Tartalom helye 2"/>
          <p:cNvSpPr>
            <a:spLocks noGrp="1"/>
          </p:cNvSpPr>
          <p:nvPr>
            <p:ph idx="1"/>
          </p:nvPr>
        </p:nvSpPr>
        <p:spPr>
          <a:xfrm>
            <a:off x="876301" y="1713820"/>
            <a:ext cx="6362700" cy="4864780"/>
          </a:xfrm>
        </p:spPr>
        <p:txBody>
          <a:bodyPr>
            <a:normAutofit/>
          </a:bodyPr>
          <a:lstStyle/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 bemeneti paraméterek tartalmának ellenőrzése</a:t>
            </a:r>
          </a:p>
          <a:p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függvényhívások számának korlátozása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függvények biztonságosra cserélése (3 db)</a:t>
            </a:r>
          </a:p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atomi összekapcsolása</a:t>
            </a:r>
          </a:p>
        </p:txBody>
      </p:sp>
      <p:pic>
        <p:nvPicPr>
          <p:cNvPr id="6" name="Kép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770" y="-408154"/>
            <a:ext cx="7560000" cy="7560000"/>
          </a:xfrm>
          <a:prstGeom prst="rect">
            <a:avLst/>
          </a:prstGeom>
        </p:spPr>
      </p:pic>
      <p:sp>
        <p:nvSpPr>
          <p:cNvPr id="7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Definiált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2985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44855" y="1461047"/>
            <a:ext cx="5847145" cy="3915411"/>
            <a:chOff x="6372226" y="1442940"/>
            <a:chExt cx="5847145" cy="3915411"/>
          </a:xfrm>
        </p:grpSpPr>
        <p:sp>
          <p:nvSpPr>
            <p:cNvPr id="6" name="Téglalap 5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Tartalom helye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03960" y="1442940"/>
              <a:ext cx="3915411" cy="3915411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 lnSpcReduction="10000"/>
          </a:bodyPr>
          <a:lstStyle/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 használt </a:t>
            </a:r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és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atomi összekapcsolása</a:t>
            </a:r>
          </a:p>
          <a:p>
            <a:r>
              <a:rPr lang="hu-HU" dirty="0" smtClean="0">
                <a:solidFill>
                  <a:schemeClr val="tx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bemeneti paraméter ellenőrzés</a:t>
            </a:r>
          </a:p>
          <a:p>
            <a:r>
              <a:rPr lang="hu-HU" b="1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  <a:p>
            <a:pPr lvl="1"/>
            <a:r>
              <a:rPr lang="hu-HU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link_to_atom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korlátozása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függvényhívások cseréje</a:t>
            </a:r>
          </a:p>
          <a:p>
            <a:endParaRPr lang="hu-HU" dirty="0"/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csoportosítás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5120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églalap 18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6" y="2389521"/>
            <a:ext cx="5966604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119995" y="3891059"/>
            <a:ext cx="7242955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gen_atom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Expr2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21" name="Szövegdoboz 20"/>
          <p:cNvSpPr txBox="1"/>
          <p:nvPr/>
        </p:nvSpPr>
        <p:spPr>
          <a:xfrm>
            <a:off x="8344524" y="2281832"/>
            <a:ext cx="382905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 megbízhatatlan listát, és a sérülékeny részt. Beillesztek a fájlba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egy új ellenőrző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függvényt, majd ezt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 segítségével alkalmazom </a:t>
            </a:r>
            <a:r>
              <a:rPr lang="hu-HU" sz="1600" i="1" dirty="0">
                <a:latin typeface="Arial" panose="020B0604020202020204" pitchFamily="34" charset="0"/>
                <a:cs typeface="Arial" panose="020B0604020202020204" pitchFamily="34" charset="0"/>
              </a:rPr>
              <a:t>a generáló 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listára. Az ellenőrző függvény eredményétől függően fut tovább vagy terminál a kód.</a:t>
            </a:r>
          </a:p>
        </p:txBody>
      </p:sp>
      <p:sp>
        <p:nvSpPr>
          <p:cNvPr id="8" name="Szövegdoboz 7"/>
          <p:cNvSpPr txBox="1"/>
          <p:nvPr/>
        </p:nvSpPr>
        <p:spPr>
          <a:xfrm>
            <a:off x="3203981" y="2081744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zövegdoboz 8"/>
          <p:cNvSpPr txBox="1"/>
          <p:nvPr/>
        </p:nvSpPr>
        <p:spPr>
          <a:xfrm>
            <a:off x="3203981" y="3583282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 korlátozása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08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</p:txBody>
      </p:sp>
    </p:spTree>
    <p:extLst>
      <p:ext uri="{BB962C8B-B14F-4D97-AF65-F5344CB8AC3E}">
        <p14:creationId xmlns:p14="http://schemas.microsoft.com/office/powerpoint/2010/main" val="2035707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</p:txBody>
      </p:sp>
      <p:sp>
        <p:nvSpPr>
          <p:cNvPr id="8" name="Lekerekített téglalap 7"/>
          <p:cNvSpPr/>
          <p:nvPr/>
        </p:nvSpPr>
        <p:spPr>
          <a:xfrm>
            <a:off x="785765" y="2711239"/>
            <a:ext cx="4707327" cy="90128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90" y="2711239"/>
            <a:ext cx="6612979" cy="2557366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list_comp_gen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grpSp>
        <p:nvGrpSpPr>
          <p:cNvPr id="32" name="Csoportba foglalás 31"/>
          <p:cNvGrpSpPr/>
          <p:nvPr/>
        </p:nvGrpSpPr>
        <p:grpSpPr>
          <a:xfrm>
            <a:off x="1471179" y="3256040"/>
            <a:ext cx="3672000" cy="524842"/>
            <a:chOff x="1803840" y="3120041"/>
            <a:chExt cx="3672000" cy="524842"/>
          </a:xfrm>
        </p:grpSpPr>
        <p:sp>
          <p:nvSpPr>
            <p:cNvPr id="18" name="Szövegdoboz 17"/>
            <p:cNvSpPr txBox="1"/>
            <p:nvPr/>
          </p:nvSpPr>
          <p:spPr>
            <a:xfrm>
              <a:off x="3010501" y="3367884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6" name="Egyenes összekötő 5"/>
            <p:cNvCxnSpPr/>
            <p:nvPr/>
          </p:nvCxnSpPr>
          <p:spPr>
            <a:xfrm>
              <a:off x="1803840" y="3381094"/>
              <a:ext cx="3672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1803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5475840" y="312004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Csoportba foglalás 33"/>
          <p:cNvGrpSpPr/>
          <p:nvPr/>
        </p:nvGrpSpPr>
        <p:grpSpPr>
          <a:xfrm>
            <a:off x="3701465" y="2762066"/>
            <a:ext cx="1608133" cy="397810"/>
            <a:chOff x="4032120" y="2585622"/>
            <a:chExt cx="1608133" cy="397810"/>
          </a:xfrm>
        </p:grpSpPr>
        <p:sp>
          <p:nvSpPr>
            <p:cNvPr id="2" name="Szövegdoboz 1"/>
            <p:cNvSpPr txBox="1"/>
            <p:nvPr/>
          </p:nvSpPr>
          <p:spPr>
            <a:xfrm>
              <a:off x="4032120" y="2585622"/>
              <a:ext cx="160813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8" name="Egyenes összekötő nyíllal 27"/>
            <p:cNvCxnSpPr/>
            <p:nvPr/>
          </p:nvCxnSpPr>
          <p:spPr>
            <a:xfrm>
              <a:off x="4853815" y="2835399"/>
              <a:ext cx="195543" cy="148033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Szövegdoboz 22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Szövegdoboz 24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3816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9" y="2706101"/>
            <a:ext cx="6699947" cy="3467137"/>
          </a:xfrm>
          <a:prstGeom prst="roundRect">
            <a:avLst>
              <a:gd name="adj" fmla="val 17401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 smtClean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785764" y="2706101"/>
            <a:ext cx="4707327" cy="1758490"/>
          </a:xfrm>
          <a:prstGeom prst="roundRect">
            <a:avLst>
              <a:gd name="adj" fmla="val 2785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outer_fun_call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[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lta_func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|| 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&lt;-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Arg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</p:txBody>
      </p:sp>
      <p:grpSp>
        <p:nvGrpSpPr>
          <p:cNvPr id="20" name="Csoportba foglalás 19"/>
          <p:cNvGrpSpPr/>
          <p:nvPr/>
        </p:nvGrpSpPr>
        <p:grpSpPr>
          <a:xfrm>
            <a:off x="1497980" y="4092908"/>
            <a:ext cx="3161265" cy="528999"/>
            <a:chOff x="1826895" y="3964785"/>
            <a:chExt cx="3161265" cy="528999"/>
          </a:xfrm>
        </p:grpSpPr>
        <p:sp>
          <p:nvSpPr>
            <p:cNvPr id="10" name="Szövegdoboz 9"/>
            <p:cNvSpPr txBox="1"/>
            <p:nvPr/>
          </p:nvSpPr>
          <p:spPr>
            <a:xfrm>
              <a:off x="2844322" y="4216785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1" name="Egyenes összekötő 10"/>
            <p:cNvCxnSpPr/>
            <p:nvPr/>
          </p:nvCxnSpPr>
          <p:spPr>
            <a:xfrm>
              <a:off x="1828800" y="4223062"/>
              <a:ext cx="315936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1826895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Egyenes összekötő 14"/>
            <p:cNvCxnSpPr/>
            <p:nvPr/>
          </p:nvCxnSpPr>
          <p:spPr>
            <a:xfrm flipV="1">
              <a:off x="4988160" y="3964785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Csoportba foglalás 21"/>
          <p:cNvGrpSpPr/>
          <p:nvPr/>
        </p:nvGrpSpPr>
        <p:grpSpPr>
          <a:xfrm>
            <a:off x="3539479" y="3000862"/>
            <a:ext cx="1601774" cy="1043009"/>
            <a:chOff x="3900653" y="2300784"/>
            <a:chExt cx="1601774" cy="1043009"/>
          </a:xfrm>
        </p:grpSpPr>
        <p:sp>
          <p:nvSpPr>
            <p:cNvPr id="17" name="Szövegdoboz 16"/>
            <p:cNvSpPr txBox="1"/>
            <p:nvPr/>
          </p:nvSpPr>
          <p:spPr>
            <a:xfrm>
              <a:off x="3900653" y="2300784"/>
              <a:ext cx="16017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nyíllal 17"/>
            <p:cNvCxnSpPr/>
            <p:nvPr/>
          </p:nvCxnSpPr>
          <p:spPr>
            <a:xfrm>
              <a:off x="4701540" y="2623793"/>
              <a:ext cx="0" cy="720000"/>
            </a:xfrm>
            <a:prstGeom prst="straightConnector1">
              <a:avLst/>
            </a:prstGeom>
            <a:ln w="12700">
              <a:solidFill>
                <a:srgbClr val="F9441B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zövegdoboz 20"/>
          <p:cNvSpPr txBox="1"/>
          <p:nvPr/>
        </p:nvSpPr>
        <p:spPr>
          <a:xfrm>
            <a:off x="2053011" y="2452759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210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5426888" y="2706101"/>
            <a:ext cx="6712560" cy="4145778"/>
          </a:xfrm>
          <a:prstGeom prst="roundRect">
            <a:avLst>
              <a:gd name="adj" fmla="val 15423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ok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 smtClean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Lekerekített téglalap 5"/>
          <p:cNvSpPr/>
          <p:nvPr/>
        </p:nvSpPr>
        <p:spPr>
          <a:xfrm>
            <a:off x="400211" y="2706101"/>
            <a:ext cx="5104233" cy="2535855"/>
          </a:xfrm>
          <a:prstGeom prst="roundRect">
            <a:avLst>
              <a:gd name="adj" fmla="val 1694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| 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endParaRPr lang="hu-HU" dirty="0" smtClean="0">
              <a:solidFill>
                <a:schemeClr val="accent5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Xs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ok.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outer_call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lta_rec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086710" y="4882523"/>
            <a:ext cx="3675413" cy="530548"/>
            <a:chOff x="1379220" y="4775291"/>
            <a:chExt cx="3675413" cy="530548"/>
          </a:xfrm>
        </p:grpSpPr>
        <p:sp>
          <p:nvSpPr>
            <p:cNvPr id="9" name="Szövegdoboz 8"/>
            <p:cNvSpPr txBox="1"/>
            <p:nvPr/>
          </p:nvSpPr>
          <p:spPr>
            <a:xfrm>
              <a:off x="2587587" y="5028840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Egyenes összekötő 9"/>
            <p:cNvCxnSpPr/>
            <p:nvPr/>
          </p:nvCxnSpPr>
          <p:spPr>
            <a:xfrm>
              <a:off x="1379220" y="5027291"/>
              <a:ext cx="3675413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379220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Egyenes összekötő 13"/>
            <p:cNvCxnSpPr/>
            <p:nvPr/>
          </p:nvCxnSpPr>
          <p:spPr>
            <a:xfrm flipV="1">
              <a:off x="5054633" y="4775291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Csoportba foglalás 26"/>
          <p:cNvGrpSpPr/>
          <p:nvPr/>
        </p:nvGrpSpPr>
        <p:grpSpPr>
          <a:xfrm>
            <a:off x="2120016" y="4514953"/>
            <a:ext cx="2530275" cy="387364"/>
            <a:chOff x="2424194" y="4271685"/>
            <a:chExt cx="2530275" cy="387364"/>
          </a:xfrm>
        </p:grpSpPr>
        <p:sp>
          <p:nvSpPr>
            <p:cNvPr id="15" name="Szövegdoboz 14"/>
            <p:cNvSpPr txBox="1"/>
            <p:nvPr/>
          </p:nvSpPr>
          <p:spPr>
            <a:xfrm>
              <a:off x="3355781" y="4271685"/>
              <a:ext cx="15986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>
              <a:off x="2424194" y="4548684"/>
              <a:ext cx="2520000" cy="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Egyenes összekötő 23"/>
            <p:cNvCxnSpPr/>
            <p:nvPr/>
          </p:nvCxnSpPr>
          <p:spPr>
            <a:xfrm flipV="1">
              <a:off x="4944194" y="4551049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Szövegdoboz 24"/>
          <p:cNvSpPr txBox="1"/>
          <p:nvPr/>
        </p:nvSpPr>
        <p:spPr>
          <a:xfrm>
            <a:off x="2053010" y="2458710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Szövegdoboz 28"/>
          <p:cNvSpPr txBox="1"/>
          <p:nvPr/>
        </p:nvSpPr>
        <p:spPr>
          <a:xfrm>
            <a:off x="7829253" y="2452329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45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628650"/>
            <a:ext cx="10233800" cy="5576889"/>
          </a:xfrm>
        </p:spPr>
        <p:txBody>
          <a:bodyPr/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megbízhatatlan elem és a sérülékeny rész függ a </a:t>
            </a:r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függvényhívás típusától:</a:t>
            </a:r>
          </a:p>
          <a:p>
            <a:pPr lvl="1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belüli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Vizsgált műveleten kívüli listagenerátorral történő atomgenerálás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Rekurzív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hívás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Magasabb rendű függvény</a:t>
            </a:r>
          </a:p>
          <a:p>
            <a:pPr lvl="1"/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1119998" y="3674911"/>
            <a:ext cx="9452753" cy="3124102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high_order_lta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()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end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      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Variable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criteria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not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 </a:t>
            </a:r>
            <a:r>
              <a:rPr lang="hu-HU" dirty="0" err="1">
                <a:solidFill>
                  <a:srgbClr val="E89874"/>
                </a:solidFill>
                <a:latin typeface="Consolas" panose="020B0609020204030204" pitchFamily="49" charset="0"/>
              </a:rPr>
              <a:t>met</a:t>
            </a:r>
            <a:r>
              <a:rPr lang="hu-HU" dirty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size_check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length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&lt;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Lekerekített téglalap 6"/>
          <p:cNvSpPr/>
          <p:nvPr/>
        </p:nvSpPr>
        <p:spPr>
          <a:xfrm>
            <a:off x="1119998" y="2712222"/>
            <a:ext cx="11072002" cy="843441"/>
          </a:xfrm>
          <a:prstGeom prst="roundRect">
            <a:avLst>
              <a:gd name="adj" fmla="val 30015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h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igh_order_lta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map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list_to_atom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integer_to_list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X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seq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accent3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500000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rgbClr val="FCF5C0"/>
              </a:solidFill>
              <a:latin typeface="Consolas" panose="020B0609020204030204" pitchFamily="49" charset="0"/>
            </a:endParaRPr>
          </a:p>
          <a:p>
            <a:endParaRPr lang="hu-HU" dirty="0">
              <a:latin typeface="Consolas" panose="020B0609020204030204" pitchFamily="49" charset="0"/>
            </a:endParaRPr>
          </a:p>
        </p:txBody>
      </p:sp>
      <p:grpSp>
        <p:nvGrpSpPr>
          <p:cNvPr id="3" name="Csoportba foglalás 2"/>
          <p:cNvGrpSpPr/>
          <p:nvPr/>
        </p:nvGrpSpPr>
        <p:grpSpPr>
          <a:xfrm>
            <a:off x="1744980" y="3215204"/>
            <a:ext cx="9935217" cy="538583"/>
            <a:chOff x="1744980" y="3058084"/>
            <a:chExt cx="9935217" cy="538583"/>
          </a:xfrm>
        </p:grpSpPr>
        <p:sp>
          <p:nvSpPr>
            <p:cNvPr id="8" name="Szövegdoboz 7"/>
            <p:cNvSpPr txBox="1"/>
            <p:nvPr/>
          </p:nvSpPr>
          <p:spPr>
            <a:xfrm>
              <a:off x="6026660" y="3319668"/>
              <a:ext cx="125867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hu-HU" sz="1200" i="1" dirty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</a:t>
              </a:r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érülékeny rész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9" name="Egyenes összekötő 8"/>
            <p:cNvCxnSpPr/>
            <p:nvPr/>
          </p:nvCxnSpPr>
          <p:spPr>
            <a:xfrm flipV="1">
              <a:off x="1744980" y="3305106"/>
              <a:ext cx="9917564" cy="9053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Egyenes összekötő 9"/>
            <p:cNvCxnSpPr/>
            <p:nvPr/>
          </p:nvCxnSpPr>
          <p:spPr>
            <a:xfrm flipV="1">
              <a:off x="1744980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Egyenes összekötő 10"/>
            <p:cNvCxnSpPr/>
            <p:nvPr/>
          </p:nvCxnSpPr>
          <p:spPr>
            <a:xfrm flipV="1">
              <a:off x="11680197" y="3058084"/>
              <a:ext cx="0" cy="252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Csoportba foglalás 13"/>
          <p:cNvGrpSpPr/>
          <p:nvPr/>
        </p:nvGrpSpPr>
        <p:grpSpPr>
          <a:xfrm>
            <a:off x="9040850" y="2806090"/>
            <a:ext cx="2505815" cy="391145"/>
            <a:chOff x="2424194" y="4265539"/>
            <a:chExt cx="2505815" cy="391145"/>
          </a:xfrm>
        </p:grpSpPr>
        <p:sp>
          <p:nvSpPr>
            <p:cNvPr id="15" name="Szövegdoboz 14"/>
            <p:cNvSpPr txBox="1"/>
            <p:nvPr/>
          </p:nvSpPr>
          <p:spPr>
            <a:xfrm>
              <a:off x="2931023" y="4265539"/>
              <a:ext cx="16143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hu-HU" sz="1200" i="1" dirty="0" smtClean="0">
                  <a:solidFill>
                    <a:srgbClr val="F9441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megbízhatatlan elem</a:t>
              </a:r>
              <a:endParaRPr lang="hu-HU" sz="1200" i="1" dirty="0">
                <a:solidFill>
                  <a:srgbClr val="F9441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8" name="Egyenes összekötő 17"/>
            <p:cNvCxnSpPr/>
            <p:nvPr/>
          </p:nvCxnSpPr>
          <p:spPr>
            <a:xfrm flipV="1">
              <a:off x="2424194" y="4542538"/>
              <a:ext cx="2505815" cy="6146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Egyenes összekötő 18"/>
            <p:cNvCxnSpPr/>
            <p:nvPr/>
          </p:nvCxnSpPr>
          <p:spPr>
            <a:xfrm flipV="1">
              <a:off x="2424194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gyenes összekötő 19"/>
            <p:cNvCxnSpPr/>
            <p:nvPr/>
          </p:nvCxnSpPr>
          <p:spPr>
            <a:xfrm flipV="1">
              <a:off x="4930009" y="4548684"/>
              <a:ext cx="0" cy="108000"/>
            </a:xfrm>
            <a:prstGeom prst="line">
              <a:avLst/>
            </a:prstGeom>
            <a:ln w="12700">
              <a:solidFill>
                <a:srgbClr val="F9441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109227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églalap 21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5" name="Tartalom helye 2"/>
          <p:cNvSpPr>
            <a:spLocks noGrp="1"/>
          </p:cNvSpPr>
          <p:nvPr>
            <p:ph sz="half" idx="1"/>
          </p:nvPr>
        </p:nvSpPr>
        <p:spPr>
          <a:xfrm>
            <a:off x="1119999" y="2066925"/>
            <a:ext cx="6506351" cy="2118395"/>
          </a:xfrm>
        </p:spPr>
        <p:txBody>
          <a:bodyPr>
            <a:normAutofit/>
          </a:bodyPr>
          <a:lstStyle/>
          <a:p>
            <a:r>
              <a:rPr lang="hu-HU" sz="24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következő függvényekre alkalmazható jelenleg:</a:t>
            </a: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binary_to_existing_atom</a:t>
            </a:r>
            <a:endParaRPr lang="hu-HU" sz="2000" dirty="0" smtClean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list_to_atom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list_to_existing_atom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sz="2000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binary_to_term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</a:t>
            </a:r>
            <a:r>
              <a:rPr lang="hu-HU" sz="2000" i="1" dirty="0" err="1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safe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paraméter opció bevezetése</a:t>
            </a:r>
          </a:p>
        </p:txBody>
      </p:sp>
      <p:sp>
        <p:nvSpPr>
          <p:cNvPr id="6" name="Lekerekített téglalap 5"/>
          <p:cNvSpPr/>
          <p:nvPr/>
        </p:nvSpPr>
        <p:spPr>
          <a:xfrm>
            <a:off x="1120000" y="4709925"/>
            <a:ext cx="4556900" cy="87933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9" name="Lekerekített téglalap 8"/>
          <p:cNvSpPr/>
          <p:nvPr/>
        </p:nvSpPr>
        <p:spPr>
          <a:xfrm>
            <a:off x="1684149" y="5750896"/>
            <a:ext cx="3666487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2" name="Cím 1"/>
          <p:cNvSpPr txBox="1">
            <a:spLocks/>
          </p:cNvSpPr>
          <p:nvPr/>
        </p:nvSpPr>
        <p:spPr>
          <a:xfrm>
            <a:off x="0" y="396000"/>
            <a:ext cx="12192000" cy="12148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sérülékeny függvények cseréje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Lekerekített téglalap 12"/>
          <p:cNvSpPr/>
          <p:nvPr/>
        </p:nvSpPr>
        <p:spPr>
          <a:xfrm>
            <a:off x="6144841" y="4709925"/>
            <a:ext cx="5690340" cy="885470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func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binary_to_existing_atom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 Expr2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6" name="Lekerekített téglalap 15"/>
          <p:cNvSpPr/>
          <p:nvPr/>
        </p:nvSpPr>
        <p:spPr>
          <a:xfrm>
            <a:off x="6656704" y="5750896"/>
            <a:ext cx="4666613" cy="874926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deserialization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binary_to_term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Expr1,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safe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cxnSp>
        <p:nvCxnSpPr>
          <p:cNvPr id="18" name="Egyenes összekötő nyíllal 17"/>
          <p:cNvCxnSpPr/>
          <p:nvPr/>
        </p:nvCxnSpPr>
        <p:spPr>
          <a:xfrm>
            <a:off x="3729518" y="2976608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gyenes összekötő nyíllal 18"/>
          <p:cNvCxnSpPr/>
          <p:nvPr/>
        </p:nvCxnSpPr>
        <p:spPr>
          <a:xfrm>
            <a:off x="3350939" y="3308567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gyenes összekötő nyíllal 19"/>
          <p:cNvCxnSpPr/>
          <p:nvPr/>
        </p:nvCxnSpPr>
        <p:spPr>
          <a:xfrm>
            <a:off x="3684783" y="3653874"/>
            <a:ext cx="1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Szövegdoboz 22"/>
          <p:cNvSpPr txBox="1"/>
          <p:nvPr/>
        </p:nvSpPr>
        <p:spPr>
          <a:xfrm>
            <a:off x="8354050" y="2528532"/>
            <a:ext cx="381952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sérülékeny függvényt kicserélem a biztonságos párjára, valamint bizonyos transzformáció esetén módosítom a bemeneti paramétereket.</a:t>
            </a:r>
          </a:p>
        </p:txBody>
      </p:sp>
      <p:sp>
        <p:nvSpPr>
          <p:cNvPr id="14" name="Szövegdoboz 13"/>
          <p:cNvSpPr txBox="1"/>
          <p:nvPr/>
        </p:nvSpPr>
        <p:spPr>
          <a:xfrm>
            <a:off x="2499133" y="4397813"/>
            <a:ext cx="2036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Szövegdoboz 14"/>
          <p:cNvSpPr txBox="1"/>
          <p:nvPr/>
        </p:nvSpPr>
        <p:spPr>
          <a:xfrm>
            <a:off x="7966141" y="4397813"/>
            <a:ext cx="20477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6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6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7154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4"/>
          <p:cNvSpPr>
            <a:spLocks noGrp="1"/>
          </p:cNvSpPr>
          <p:nvPr>
            <p:ph type="body" idx="1"/>
          </p:nvPr>
        </p:nvSpPr>
        <p:spPr>
          <a:xfrm>
            <a:off x="1024750" y="1362075"/>
            <a:ext cx="5025216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err="1" smtClean="0">
                <a:solidFill>
                  <a:schemeClr val="tx1">
                    <a:lumMod val="95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list_to_atom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függvényekre alkalmazott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 transzformáció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34919357"/>
              </p:ext>
            </p:extLst>
          </p:nvPr>
        </p:nvGraphicFramePr>
        <p:xfrm>
          <a:off x="1025527" y="2768600"/>
          <a:ext cx="5024439" cy="28854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50973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92266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Felismert sérülékenységek száma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28751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2182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2125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29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54201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  <p:sp>
        <p:nvSpPr>
          <p:cNvPr id="7" name="Szöveg helye 6"/>
          <p:cNvSpPr>
            <a:spLocks noGrp="1"/>
          </p:cNvSpPr>
          <p:nvPr>
            <p:ph type="body" sz="quarter" idx="3"/>
          </p:nvPr>
        </p:nvSpPr>
        <p:spPr>
          <a:xfrm>
            <a:off x="6415090" y="1362075"/>
            <a:ext cx="5035548" cy="1143000"/>
          </a:xfrm>
        </p:spPr>
        <p:txBody>
          <a:bodyPr>
            <a:normAutofit/>
          </a:bodyPr>
          <a:lstStyle/>
          <a:p>
            <a:pPr algn="ctr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Projektekben előforduló </a:t>
            </a:r>
            <a:r>
              <a:rPr lang="hu-HU" sz="2000" u="sng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sérülékeny függvénycserés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 eredményei</a:t>
            </a:r>
            <a:endParaRPr lang="hu-HU" sz="2000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Bemutatott transzformációk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eredménye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3" name="Tartalom helye 9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8599505"/>
              </p:ext>
            </p:extLst>
          </p:nvPr>
        </p:nvGraphicFramePr>
        <p:xfrm>
          <a:off x="6426199" y="2768600"/>
          <a:ext cx="5024439" cy="35458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460501">
                  <a:extLst>
                    <a:ext uri="{9D8B030D-6E8A-4147-A177-3AD203B41FA5}">
                      <a16:colId xmlns:a16="http://schemas.microsoft.com/office/drawing/2014/main" val="660629407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977152221"/>
                    </a:ext>
                  </a:extLst>
                </a:gridCol>
                <a:gridCol w="1535113">
                  <a:extLst>
                    <a:ext uri="{9D8B030D-6E8A-4147-A177-3AD203B41FA5}">
                      <a16:colId xmlns:a16="http://schemas.microsoft.com/office/drawing/2014/main" val="3437047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Alkalmazás neve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Sérülékeny függvények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Átlagos futási idő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88686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(14)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28960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30738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27149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0011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Lager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3288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30089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Mochiweb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3650 </a:t>
                      </a:r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22979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Erlware</a:t>
                      </a:r>
                      <a:r>
                        <a:rPr lang="hu-HU" sz="1600" b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Commons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3608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sz="1600" b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MongooseIM</a:t>
                      </a:r>
                      <a:endParaRPr lang="hu-HU" sz="1600" b="1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list_to_atom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(29),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binary_to_atom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(18),</a:t>
                      </a:r>
                    </a:p>
                    <a:p>
                      <a:pPr algn="ctr"/>
                      <a:r>
                        <a:rPr lang="hu-HU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binary_to_term</a:t>
                      </a:r>
                      <a:r>
                        <a:rPr lang="hu-HU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(8)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48534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48808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</a:t>
                      </a:r>
                    </a:p>
                    <a:p>
                      <a:pPr algn="ctr"/>
                      <a:r>
                        <a:rPr lang="en-US" sz="1600" i="1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47843 </a:t>
                      </a:r>
                      <a:r>
                        <a:rPr lang="en-US" sz="1600" i="1" dirty="0" err="1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endParaRPr lang="hu-HU" sz="1600" i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0853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9957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ím 1"/>
          <p:cNvSpPr>
            <a:spLocks noGrp="1"/>
          </p:cNvSpPr>
          <p:nvPr>
            <p:ph type="title"/>
          </p:nvPr>
        </p:nvSpPr>
        <p:spPr>
          <a:xfrm>
            <a:off x="0" y="360000"/>
            <a:ext cx="12192000" cy="103134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Atomgenerálást </a:t>
            </a:r>
            <a:r>
              <a:rPr lang="hu-HU" sz="4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korlátozó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transzformáció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poc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miner_poc_grpc_client_statem.erl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678-695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Tartalom helye 15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64" y="1898648"/>
            <a:ext cx="5707686" cy="3410899"/>
          </a:xfrm>
        </p:spPr>
      </p:pic>
      <p:pic>
        <p:nvPicPr>
          <p:cNvPr id="17" name="Tartalom helye 16"/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4377" y="1898648"/>
            <a:ext cx="4974384" cy="4370208"/>
          </a:xfrm>
        </p:spPr>
      </p:pic>
      <p:sp>
        <p:nvSpPr>
          <p:cNvPr id="18" name="Szövegdoboz 17"/>
          <p:cNvSpPr txBox="1"/>
          <p:nvPr/>
        </p:nvSpPr>
        <p:spPr>
          <a:xfrm>
            <a:off x="2590490" y="530954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Szövegdoboz 18"/>
          <p:cNvSpPr txBox="1"/>
          <p:nvPr/>
        </p:nvSpPr>
        <p:spPr>
          <a:xfrm>
            <a:off x="8217443" y="6268856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3340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Összegzés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églalap 14"/>
          <p:cNvSpPr/>
          <p:nvPr/>
        </p:nvSpPr>
        <p:spPr>
          <a:xfrm>
            <a:off x="6372226" y="2562222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17" name="Kép 1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1636801"/>
            <a:ext cx="3470090" cy="3470090"/>
          </a:xfrm>
          <a:prstGeom prst="rect">
            <a:avLst/>
          </a:prstGeom>
        </p:spPr>
      </p:pic>
      <p:sp>
        <p:nvSpPr>
          <p:cNvPr id="20" name="Tartalom helye 2"/>
          <p:cNvSpPr>
            <a:spLocks noGrp="1"/>
          </p:cNvSpPr>
          <p:nvPr>
            <p:ph idx="1"/>
          </p:nvPr>
        </p:nvSpPr>
        <p:spPr>
          <a:xfrm>
            <a:off x="1120000" y="1825625"/>
            <a:ext cx="6774622" cy="4351338"/>
          </a:xfrm>
        </p:spPr>
        <p:txBody>
          <a:bodyPr>
            <a:normAutofit/>
          </a:bodyPr>
          <a:lstStyle/>
          <a:p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sérülékenységeinek vizsgálata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Transzformációk definiálása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Implementálás</a:t>
            </a:r>
          </a:p>
          <a:p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Futtatás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source</a:t>
            </a:r>
            <a:r>
              <a:rPr lang="hu-HU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projekteken</a:t>
            </a:r>
            <a:endParaRPr lang="hu-HU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ím 1"/>
          <p:cNvSpPr txBox="1">
            <a:spLocks/>
          </p:cNvSpPr>
          <p:nvPr/>
        </p:nvSpPr>
        <p:spPr>
          <a:xfrm>
            <a:off x="0" y="360000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További implementálható transzformációk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Tartalom helye 1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73755684"/>
              </p:ext>
            </p:extLst>
          </p:nvPr>
        </p:nvGraphicFramePr>
        <p:xfrm>
          <a:off x="1373399" y="2070069"/>
          <a:ext cx="9445201" cy="2625553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030414">
                  <a:extLst>
                    <a:ext uri="{9D8B030D-6E8A-4147-A177-3AD203B41FA5}">
                      <a16:colId xmlns:a16="http://schemas.microsoft.com/office/drawing/2014/main" val="1810672639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3446669789"/>
                    </a:ext>
                  </a:extLst>
                </a:gridCol>
                <a:gridCol w="1846907">
                  <a:extLst>
                    <a:ext uri="{9D8B030D-6E8A-4147-A177-3AD203B41FA5}">
                      <a16:colId xmlns:a16="http://schemas.microsoft.com/office/drawing/2014/main" val="651186771"/>
                    </a:ext>
                  </a:extLst>
                </a:gridCol>
                <a:gridCol w="1919334">
                  <a:extLst>
                    <a:ext uri="{9D8B030D-6E8A-4147-A177-3AD203B41FA5}">
                      <a16:colId xmlns:a16="http://schemas.microsoft.com/office/drawing/2014/main" val="321369875"/>
                    </a:ext>
                  </a:extLst>
                </a:gridCol>
                <a:gridCol w="1720158">
                  <a:extLst>
                    <a:ext uri="{9D8B030D-6E8A-4147-A177-3AD203B41FA5}">
                      <a16:colId xmlns:a16="http://schemas.microsoft.com/office/drawing/2014/main" val="644298326"/>
                    </a:ext>
                  </a:extLst>
                </a:gridCol>
              </a:tblGrid>
              <a:tr h="109864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Együttműködésből fakadó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Konkurens programozásból eredő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Elosztott programozásból adódó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Beszúrásos támadások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b="1" dirty="0" smtClean="0">
                          <a:solidFill>
                            <a:schemeClr val="tx1">
                              <a:lumMod val="9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Memória túlterhelés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71745877"/>
                  </a:ext>
                </a:extLst>
              </a:tr>
              <a:tr h="152690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Port használat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spawn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sz="1600" u="sng" dirty="0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monitor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atomi összekapcsolása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Hálózati hozzáférés</a:t>
                      </a:r>
                    </a:p>
                    <a:p>
                      <a:pPr algn="ctr"/>
                      <a:r>
                        <a:rPr lang="hu-HU" sz="160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(net kernel modul)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Fájlokkal kapcsolatos</a:t>
                      </a:r>
                      <a:r>
                        <a:rPr lang="hu-HU" sz="1600" u="sng" baseline="0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műveletek</a:t>
                      </a:r>
                      <a:endParaRPr lang="hu-HU" sz="1600" u="sng" dirty="0" smtClean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os:cmd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hívás lecserélése </a:t>
                      </a:r>
                      <a:r>
                        <a:rPr lang="hu-HU" sz="1600" u="sng" dirty="0" err="1" smtClean="0">
                          <a:latin typeface="Consolas" panose="020B0609020204030204" pitchFamily="49" charset="0"/>
                          <a:cs typeface="Arial" panose="020B0604020202020204" pitchFamily="34" charset="0"/>
                        </a:rPr>
                        <a:t>open_port</a:t>
                      </a:r>
                      <a:r>
                        <a:rPr lang="hu-HU" sz="1600" u="sng" dirty="0" smtClean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függvényre</a:t>
                      </a:r>
                      <a:endParaRPr lang="hu-HU" sz="1600" u="sng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672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6505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8000"/>
          </a:xfrm>
        </p:spPr>
        <p:txBody>
          <a:bodyPr wrap="square" anchor="ctr" anchorCtr="0">
            <a:normAutofit/>
          </a:bodyPr>
          <a:lstStyle/>
          <a:p>
            <a:pPr algn="ctr"/>
            <a:r>
              <a:rPr lang="hu-HU" sz="5400" b="1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Köszönöm a figyelmet!</a:t>
            </a:r>
            <a:endParaRPr lang="hu-HU" sz="54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848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ím 1"/>
          <p:cNvSpPr txBox="1">
            <a:spLocks/>
          </p:cNvSpPr>
          <p:nvPr/>
        </p:nvSpPr>
        <p:spPr>
          <a:xfrm>
            <a:off x="-323850" y="47466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" name="Tartalom helye 19"/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1943599"/>
            <a:ext cx="8985250" cy="1670068"/>
          </a:xfrm>
        </p:spPr>
      </p:pic>
      <p:pic>
        <p:nvPicPr>
          <p:cNvPr id="21" name="Tartalom helye 20"/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4600" y="4233247"/>
            <a:ext cx="8985250" cy="1961318"/>
          </a:xfrm>
        </p:spPr>
      </p:pic>
      <p:sp>
        <p:nvSpPr>
          <p:cNvPr id="19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Nem biztonságos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függvény 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cseréje</a:t>
            </a:r>
            <a: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hu-HU" sz="2000" i="1" dirty="0" smtClean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u-HU" sz="2000" i="1" dirty="0" err="1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projekt, </a:t>
            </a:r>
            <a:r>
              <a:rPr lang="hu-HU" sz="2000" i="1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miner_lora.erl</a:t>
            </a:r>
            <a:r>
              <a:rPr lang="hu-HU" sz="2000" i="1" dirty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fájl, 759-765. </a:t>
            </a:r>
            <a:r>
              <a:rPr lang="hu-HU" sz="2000" i="1" dirty="0" smtClean="0">
                <a:solidFill>
                  <a:schemeClr val="accent1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sor)</a:t>
            </a:r>
            <a:endParaRPr lang="hu-HU" sz="2000" i="1" dirty="0">
              <a:solidFill>
                <a:schemeClr val="accent1">
                  <a:lumMod val="40000"/>
                  <a:lumOff val="6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Szövegdoboz 21"/>
          <p:cNvSpPr txBox="1"/>
          <p:nvPr/>
        </p:nvSpPr>
        <p:spPr>
          <a:xfrm>
            <a:off x="4837908" y="3613667"/>
            <a:ext cx="1798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Szövegdoboz 22"/>
          <p:cNvSpPr txBox="1"/>
          <p:nvPr/>
        </p:nvSpPr>
        <p:spPr>
          <a:xfrm>
            <a:off x="4868024" y="6198591"/>
            <a:ext cx="1808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>
                <a:solidFill>
                  <a:schemeClr val="tx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1400" dirty="0">
              <a:solidFill>
                <a:schemeClr val="tx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58484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1353798" cy="1489306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os:cmd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Lekerekített téglalap 3"/>
          <p:cNvSpPr/>
          <p:nvPr/>
        </p:nvSpPr>
        <p:spPr>
          <a:xfrm>
            <a:off x="1119997" y="2571101"/>
            <a:ext cx="3267074" cy="902579"/>
          </a:xfrm>
          <a:prstGeom prst="roundRect">
            <a:avLst>
              <a:gd name="adj" fmla="val 41956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latin typeface="Consolas" panose="020B0609020204030204" pitchFamily="49" charset="0"/>
            </a:endParaRPr>
          </a:p>
        </p:txBody>
      </p:sp>
      <p:sp>
        <p:nvSpPr>
          <p:cNvPr id="13" name="Téglalap 12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14" name="Szövegdoboz 13"/>
          <p:cNvSpPr txBox="1"/>
          <p:nvPr/>
        </p:nvSpPr>
        <p:spPr>
          <a:xfrm>
            <a:off x="8029575" y="2528053"/>
            <a:ext cx="414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Megkeresem az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os:cmd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 bemeneti paraméterét, majd egy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case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kifejezésben alkalmazom rá az újonnan beszúrt ellenőrző függvényt. Az eredménytől függően fut tovább vagy terminál a kód.</a:t>
            </a:r>
          </a:p>
        </p:txBody>
      </p:sp>
      <p:sp>
        <p:nvSpPr>
          <p:cNvPr id="5" name="Lekerekített téglalap 4"/>
          <p:cNvSpPr/>
          <p:nvPr/>
        </p:nvSpPr>
        <p:spPr>
          <a:xfrm>
            <a:off x="1119997" y="3889103"/>
            <a:ext cx="6404753" cy="2845071"/>
          </a:xfrm>
          <a:prstGeom prst="roundRect">
            <a:avLst>
              <a:gd name="adj" fmla="val 1850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do_command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case</a:t>
            </a:r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of</a:t>
            </a: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true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throw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Error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 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false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err="1">
                <a:solidFill>
                  <a:srgbClr val="2BC7A2"/>
                </a:solidFill>
                <a:latin typeface="Consolas" panose="020B0609020204030204" pitchFamily="49" charset="0"/>
              </a:rPr>
              <a:t>os</a:t>
            </a:r>
            <a:r>
              <a:rPr lang="hu-HU" dirty="0" err="1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>
                <a:solidFill>
                  <a:srgbClr val="FCF5C0"/>
                </a:solidFill>
                <a:latin typeface="Consolas" panose="020B0609020204030204" pitchFamily="49" charset="0"/>
              </a:rPr>
              <a:t>cmd</a:t>
            </a:r>
            <a:r>
              <a:rPr lang="hu-HU" dirty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Expr1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endParaRPr lang="hu-HU" dirty="0">
              <a:solidFill>
                <a:srgbClr val="B27BCB"/>
              </a:solidFill>
              <a:latin typeface="Consolas" panose="020B0609020204030204" pitchFamily="49" charset="0"/>
            </a:endParaRPr>
          </a:p>
          <a:p>
            <a:r>
              <a:rPr lang="hu-HU" dirty="0">
                <a:solidFill>
                  <a:srgbClr val="B27BCB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   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  <a:p>
            <a:endParaRPr lang="hu-HU" dirty="0" smtClean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check_input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lists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any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err="1" smtClean="0">
                <a:solidFill>
                  <a:srgbClr val="2BC7A2"/>
                </a:solidFill>
                <a:latin typeface="Consolas" panose="020B0609020204030204" pitchFamily="49" charset="0"/>
              </a:rPr>
              <a:t>string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: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find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chemeClr val="tx2"/>
                </a:solidFill>
                <a:latin typeface="Consolas" panose="020B0609020204030204" pitchFamily="49" charset="0"/>
              </a:rPr>
              <a:t>Pattern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=/= </a:t>
            </a:r>
            <a:r>
              <a:rPr lang="hu-HU" dirty="0" err="1" smtClean="0">
                <a:solidFill>
                  <a:schemeClr val="tx1"/>
                </a:solidFill>
                <a:latin typeface="Consolas" panose="020B0609020204030204" pitchFamily="49" charset="0"/>
              </a:rPr>
              <a:t>nomatch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[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”;”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 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rgbClr val="E89874"/>
                </a:solidFill>
              </a:rPr>
              <a:t>&amp;&amp;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”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  <a:r>
              <a:rPr lang="hu-HU" dirty="0" smtClean="0">
                <a:solidFill>
                  <a:srgbClr val="E89874"/>
                </a:solidFill>
                <a:latin typeface="Consolas" panose="020B0609020204030204" pitchFamily="49" charset="0"/>
              </a:rPr>
              <a:t> ”|”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]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2529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/>
          <p:cNvSpPr/>
          <p:nvPr/>
        </p:nvSpPr>
        <p:spPr>
          <a:xfrm>
            <a:off x="6353801" y="2380149"/>
            <a:ext cx="5819774" cy="1619249"/>
          </a:xfrm>
          <a:prstGeom prst="rect">
            <a:avLst/>
          </a:prstGeom>
          <a:gradFill flip="none" rotWithShape="1">
            <a:gsLst>
              <a:gs pos="20000">
                <a:srgbClr val="124963">
                  <a:alpha val="20000"/>
                </a:srgbClr>
              </a:gs>
              <a:gs pos="68000">
                <a:srgbClr val="1F7599">
                  <a:alpha val="40000"/>
                </a:srgbClr>
              </a:gs>
              <a:gs pos="100000">
                <a:srgbClr val="66BDE0">
                  <a:alpha val="2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noFill/>
            </a:endParaRPr>
          </a:p>
        </p:txBody>
      </p:sp>
      <p:sp>
        <p:nvSpPr>
          <p:cNvPr id="9" name="Tartalom helye 2"/>
          <p:cNvSpPr>
            <a:spLocks noGrp="1"/>
          </p:cNvSpPr>
          <p:nvPr>
            <p:ph idx="1"/>
          </p:nvPr>
        </p:nvSpPr>
        <p:spPr>
          <a:xfrm>
            <a:off x="1119998" y="2199625"/>
            <a:ext cx="10233800" cy="4005913"/>
          </a:xfrm>
        </p:spPr>
        <p:txBody>
          <a:bodyPr/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előtt</a:t>
            </a:r>
          </a:p>
          <a:p>
            <a:pPr marL="0" indent="0">
              <a:buNone/>
            </a:pPr>
            <a:r>
              <a:rPr lang="hu-HU" dirty="0" smtClean="0"/>
              <a:t/>
            </a:r>
            <a:br>
              <a:rPr lang="hu-HU" dirty="0" smtClean="0"/>
            </a:br>
            <a:endParaRPr lang="hu-HU" dirty="0" smtClean="0"/>
          </a:p>
          <a:p>
            <a:endParaRPr lang="hu-HU" sz="2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Transzformáció után</a:t>
            </a:r>
            <a:endParaRPr lang="hu-HU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Lekerekített téglalap 4"/>
          <p:cNvSpPr/>
          <p:nvPr/>
        </p:nvSpPr>
        <p:spPr>
          <a:xfrm>
            <a:off x="1231900" y="2573881"/>
            <a:ext cx="5587999" cy="1139825"/>
          </a:xfrm>
          <a:prstGeom prst="roundRect">
            <a:avLst>
              <a:gd name="adj" fmla="val 34267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</a:t>
            </a:r>
            <a:r>
              <a:rPr lang="hu-HU" dirty="0" smtClean="0">
                <a:solidFill>
                  <a:srgbClr val="FCF5C0"/>
                </a:solidFill>
                <a:latin typeface="Consolas" panose="020B0609020204030204" pitchFamily="49" charset="0"/>
              </a:rPr>
              <a:t>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36675"/>
          </a:xfrm>
        </p:spPr>
        <p:txBody>
          <a:bodyPr>
            <a:normAutofit/>
          </a:bodyPr>
          <a:lstStyle/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Implementált transzformációk bemutatása – </a:t>
            </a:r>
            <a:b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40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spawn</a:t>
            </a:r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és link</a:t>
            </a:r>
            <a:endParaRPr lang="hu-HU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Szövegdoboz 10"/>
          <p:cNvSpPr txBox="1"/>
          <p:nvPr/>
        </p:nvSpPr>
        <p:spPr>
          <a:xfrm>
            <a:off x="8354050" y="2281832"/>
            <a:ext cx="381952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A megadott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függvényhez megkeresem a hozzátartozó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 (léteznie kell), majd az eredeti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hívást kicserélem az atomi </a:t>
            </a:r>
            <a:r>
              <a:rPr lang="hu-HU" sz="1600" i="1" dirty="0" err="1" smtClean="0">
                <a:latin typeface="Consolas" panose="020B0609020204030204" pitchFamily="49" charset="0"/>
                <a:cs typeface="Arial" panose="020B0604020202020204" pitchFamily="34" charset="0"/>
              </a:rPr>
              <a:t>spawn_link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függvényre a paraméterek változtatása nélkül. Végezetül törlöm a </a:t>
            </a:r>
            <a:r>
              <a:rPr lang="hu-HU" sz="1600" i="1" dirty="0" smtClean="0">
                <a:latin typeface="Consolas" panose="020B0609020204030204" pitchFamily="49" charset="0"/>
                <a:cs typeface="Arial" panose="020B0604020202020204" pitchFamily="34" charset="0"/>
              </a:rPr>
              <a:t>link</a:t>
            </a:r>
            <a:r>
              <a:rPr lang="hu-HU" sz="1600" i="1" dirty="0" smtClean="0">
                <a:latin typeface="Arial" panose="020B0604020202020204" pitchFamily="34" charset="0"/>
                <a:cs typeface="Arial" panose="020B0604020202020204" pitchFamily="34" charset="0"/>
              </a:rPr>
              <a:t> függvényt.</a:t>
            </a:r>
          </a:p>
        </p:txBody>
      </p:sp>
      <p:sp>
        <p:nvSpPr>
          <p:cNvPr id="12" name="Lekerekített téglalap 11"/>
          <p:cNvSpPr/>
          <p:nvPr/>
        </p:nvSpPr>
        <p:spPr>
          <a:xfrm>
            <a:off x="1231900" y="4373654"/>
            <a:ext cx="6197600" cy="835609"/>
          </a:xfrm>
          <a:prstGeom prst="roundRect">
            <a:avLst>
              <a:gd name="adj" fmla="val 42250"/>
            </a:avLst>
          </a:prstGeom>
          <a:solidFill>
            <a:srgbClr val="1E1E1E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spawn_link_fun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</a:t>
            </a:r>
          </a:p>
          <a:p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Pid</a:t>
            </a:r>
            <a:r>
              <a:rPr lang="hu-HU" dirty="0">
                <a:solidFill>
                  <a:schemeClr val="tx1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= </a:t>
            </a:r>
            <a:r>
              <a:rPr lang="hu-HU" dirty="0" err="1" smtClean="0">
                <a:solidFill>
                  <a:srgbClr val="FCF5C0"/>
                </a:solidFill>
                <a:latin typeface="Consolas" panose="020B0609020204030204" pitchFamily="49" charset="0"/>
              </a:rPr>
              <a:t>spawn_link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(</a:t>
            </a:r>
            <a:r>
              <a:rPr lang="hu-HU" dirty="0" err="1" smtClean="0">
                <a:solidFill>
                  <a:srgbClr val="B27BCB"/>
                </a:solidFill>
                <a:latin typeface="Consolas" panose="020B0609020204030204" pitchFamily="49" charset="0"/>
              </a:rPr>
              <a:t>fun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()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 -&gt; </a:t>
            </a:r>
            <a:r>
              <a:rPr lang="hu-HU" dirty="0" smtClean="0">
                <a:solidFill>
                  <a:schemeClr val="tx2"/>
                </a:solidFill>
                <a:latin typeface="Consolas" panose="020B0609020204030204" pitchFamily="49" charset="0"/>
              </a:rPr>
              <a:t>Expr_body1</a:t>
            </a:r>
            <a:r>
              <a:rPr lang="hu-HU" dirty="0" smtClean="0">
                <a:solidFill>
                  <a:srgbClr val="2BC7A2"/>
                </a:solidFill>
                <a:latin typeface="Consolas" panose="020B0609020204030204" pitchFamily="49" charset="0"/>
              </a:rPr>
              <a:t> </a:t>
            </a:r>
            <a:r>
              <a:rPr lang="hu-HU" dirty="0" smtClean="0">
                <a:solidFill>
                  <a:srgbClr val="B27BCB"/>
                </a:solidFill>
                <a:latin typeface="Consolas" panose="020B0609020204030204" pitchFamily="49" charset="0"/>
              </a:rPr>
              <a:t>end</a:t>
            </a:r>
            <a:r>
              <a:rPr lang="hu-HU" dirty="0" smtClean="0">
                <a:solidFill>
                  <a:schemeClr val="accent5"/>
                </a:solidFill>
                <a:latin typeface="Consolas" panose="020B0609020204030204" pitchFamily="49" charset="0"/>
              </a:rPr>
              <a:t>)</a:t>
            </a:r>
            <a:r>
              <a:rPr lang="hu-HU" dirty="0" smtClean="0">
                <a:solidFill>
                  <a:schemeClr val="tx1"/>
                </a:solidFill>
                <a:latin typeface="Consolas" panose="020B0609020204030204" pitchFamily="49" charset="0"/>
              </a:rPr>
              <a:t>.</a:t>
            </a:r>
            <a:endParaRPr lang="hu-H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0277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5"/>
            <a:ext cx="6362700" cy="4351338"/>
          </a:xfrm>
        </p:spPr>
        <p:txBody>
          <a:bodyPr>
            <a:normAutofit/>
          </a:bodyPr>
          <a:lstStyle/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Kritikus rendszerek az iparág minden területén.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Jobb minőségű kód, ha a lehetséges sérülékenységeket korán azonosítják.</a:t>
            </a:r>
          </a:p>
          <a:p>
            <a:r>
              <a:rPr lang="hu-HU" sz="2400" dirty="0" smtClean="0">
                <a:latin typeface="Arial" panose="020B0604020202020204" pitchFamily="34" charset="0"/>
                <a:cs typeface="Arial" panose="020B0604020202020204" pitchFamily="34" charset="0"/>
              </a:rPr>
              <a:t>Szabványok:</a:t>
            </a:r>
            <a:r>
              <a:rPr lang="hu-HU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ISO/IEC 27001: A forráskód és a fejlesztési folyamat biztonságára irányul.</a:t>
            </a:r>
          </a:p>
          <a:p>
            <a:pPr lvl="1"/>
            <a:r>
              <a:rPr lang="hu-HU" sz="2000" dirty="0" smtClean="0">
                <a:latin typeface="Arial" panose="020B0604020202020204" pitchFamily="34" charset="0"/>
                <a:cs typeface="Arial" panose="020B0604020202020204" pitchFamily="34" charset="0"/>
              </a:rPr>
              <a:t>OWASP: Fejlesztői irányelvekre és a kódban előforduló különböző sérülékenységekre összpontosít.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 Forráskód biztonsága</a:t>
            </a:r>
            <a:endParaRPr lang="hu-HU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Csoportba foglalás 7"/>
          <p:cNvGrpSpPr/>
          <p:nvPr/>
        </p:nvGrpSpPr>
        <p:grpSpPr>
          <a:xfrm>
            <a:off x="6372226" y="1705197"/>
            <a:ext cx="5819774" cy="3600000"/>
            <a:chOff x="6372226" y="1705197"/>
            <a:chExt cx="5819774" cy="3600000"/>
          </a:xfrm>
        </p:grpSpPr>
        <p:sp>
          <p:nvSpPr>
            <p:cNvPr id="2" name="Téglalap 1"/>
            <p:cNvSpPr/>
            <p:nvPr/>
          </p:nvSpPr>
          <p:spPr>
            <a:xfrm>
              <a:off x="6372226" y="2562223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7" name="Kép 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7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322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Csoportba foglalás 9"/>
          <p:cNvGrpSpPr/>
          <p:nvPr/>
        </p:nvGrpSpPr>
        <p:grpSpPr>
          <a:xfrm>
            <a:off x="6372226" y="1705196"/>
            <a:ext cx="5819774" cy="3600000"/>
            <a:chOff x="6372226" y="1705196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9" name="Kép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5196"/>
              <a:ext cx="3600000" cy="3600000"/>
            </a:xfrm>
            <a:prstGeom prst="rect">
              <a:avLst/>
            </a:prstGeom>
          </p:spPr>
        </p:pic>
      </p:grp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803775"/>
          </a:xfrm>
        </p:spPr>
        <p:txBody>
          <a:bodyPr>
            <a:normAutofit fontScale="92500" lnSpcReduction="20000"/>
          </a:bodyPr>
          <a:lstStyle/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Deklaratív funkcionális programozási nyelv, eredetileg telekommunikációs rendszerekre fejlesztettek ki.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Legfontosabb nyelvi jellemzői: 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megváltoztathatatlan </a:t>
            </a:r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adatszerkezetek, 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elosztottság támogatása, </a:t>
            </a:r>
          </a:p>
          <a:p>
            <a:pPr lvl="1"/>
            <a:r>
              <a:rPr lang="hu-HU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párhuzamosság,</a:t>
            </a:r>
            <a:endParaRPr lang="hu-HU" dirty="0">
              <a:solidFill>
                <a:schemeClr val="tx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hibatűrő modell</a:t>
            </a:r>
          </a:p>
          <a:p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nyelv gyakori sérülékenységei: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Együttműködésből fakadó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Konkurens programozásból eredő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Elosztott programozásból adódó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Beszúrásos támadások</a:t>
            </a:r>
          </a:p>
          <a:p>
            <a:pPr lvl="1"/>
            <a:r>
              <a:rPr lang="hu-HU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Memória túlterhelés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Erlang</a:t>
            </a:r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4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és gyakori sérülékenységei</a:t>
            </a:r>
            <a:endParaRPr lang="hu-HU" sz="3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2680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876301" y="1825624"/>
            <a:ext cx="6362700" cy="4752975"/>
          </a:xfrm>
        </p:spPr>
        <p:txBody>
          <a:bodyPr>
            <a:normAutofit/>
          </a:bodyPr>
          <a:lstStyle/>
          <a:p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statikus kódelemzés költséghatékonyabbá teszi a fejlesztési folyamatokat. Futás előtt átvizsgálja a kódot, ezzel nő a kód minősége és biztonsága.</a:t>
            </a:r>
          </a:p>
          <a:p>
            <a:r>
              <a:rPr lang="hu-HU" sz="24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r>
              <a:rPr lang="hu-HU" sz="24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statikus elemző és transzformáló eszköz:</a:t>
            </a:r>
          </a:p>
          <a:p>
            <a:pPr lvl="1"/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Kódbeli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dirty="0" err="1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refaktorálások</a:t>
            </a:r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amelyek nem változtatják meg a program viselkedését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Különféle lekérdezések, elemzések</a:t>
            </a:r>
          </a:p>
          <a:p>
            <a:pPr lvl="1"/>
            <a:r>
              <a:rPr lang="hu-HU" sz="2000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Szemantikus programgráfban reprezentálja a forráskódot, elemzés során ezt járja </a:t>
            </a:r>
            <a:r>
              <a:rPr lang="hu-HU" sz="2000" dirty="0" smtClean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0" y="365125"/>
            <a:ext cx="12192000" cy="7334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kern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25000"/>
                        <a:lumOff val="75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  <a:tileRect/>
                </a:gra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4000" dirty="0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Statikus kódelemzés és </a:t>
            </a:r>
            <a:r>
              <a:rPr lang="hu-HU" sz="4000" dirty="0" err="1" smtClean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RefactorErl</a:t>
            </a:r>
            <a:endParaRPr lang="hu-HU" sz="4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" name="Csoportba foglalás 1"/>
          <p:cNvGrpSpPr/>
          <p:nvPr/>
        </p:nvGrpSpPr>
        <p:grpSpPr>
          <a:xfrm>
            <a:off x="6372226" y="1704975"/>
            <a:ext cx="5819774" cy="3600000"/>
            <a:chOff x="6372226" y="1704975"/>
            <a:chExt cx="5819774" cy="3600000"/>
          </a:xfrm>
        </p:grpSpPr>
        <p:sp>
          <p:nvSpPr>
            <p:cNvPr id="8" name="Téglalap 7"/>
            <p:cNvSpPr/>
            <p:nvPr/>
          </p:nvSpPr>
          <p:spPr>
            <a:xfrm>
              <a:off x="6372226" y="2562222"/>
              <a:ext cx="5819774" cy="1619249"/>
            </a:xfrm>
            <a:prstGeom prst="rect">
              <a:avLst/>
            </a:prstGeom>
            <a:gradFill flip="none" rotWithShape="1">
              <a:gsLst>
                <a:gs pos="20000">
                  <a:srgbClr val="124963">
                    <a:alpha val="20000"/>
                  </a:srgbClr>
                </a:gs>
                <a:gs pos="68000">
                  <a:srgbClr val="1F7599">
                    <a:alpha val="40000"/>
                  </a:srgbClr>
                </a:gs>
                <a:gs pos="100000">
                  <a:srgbClr val="66BDE0">
                    <a:alpha val="20000"/>
                  </a:srgbClr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hu-HU"/>
            </a:p>
          </p:txBody>
        </p:sp>
        <p:pic>
          <p:nvPicPr>
            <p:cNvPr id="10" name="Kép 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92000" y="1704975"/>
              <a:ext cx="3600000" cy="36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0503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Mélység">
  <a:themeElements>
    <a:clrScheme name="4. egyéni séma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BEE7EE"/>
      </a:hlink>
      <a:folHlink>
        <a:srgbClr val="BEE7EE"/>
      </a:folHlink>
    </a:clrScheme>
    <a:fontScheme name="Mélység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élység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TM04033923[[fn=Mélység]]</Template>
  <TotalTime>2835</TotalTime>
  <Words>1838</Words>
  <Application>Microsoft Office PowerPoint</Application>
  <PresentationFormat>Szélesvásznú</PresentationFormat>
  <Paragraphs>348</Paragraphs>
  <Slides>25</Slides>
  <Notes>24</Notes>
  <HiddenSlides>6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25</vt:i4>
      </vt:variant>
    </vt:vector>
  </HeadingPairs>
  <TitlesOfParts>
    <vt:vector size="30" baseType="lpstr">
      <vt:lpstr>Arial</vt:lpstr>
      <vt:lpstr>Calibri</vt:lpstr>
      <vt:lpstr>Consolas</vt:lpstr>
      <vt:lpstr>Corbel</vt:lpstr>
      <vt:lpstr>Mélység</vt:lpstr>
      <vt:lpstr>Nem biztonságos kód biztonságossá transzformálása a RefactorErl segítségével 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Atomgenerálást korlátozó transzformáció (Miner projekt, poc/miner_poc_grpc_client_statem.erl fájl, 678-695. sor)</vt:lpstr>
      <vt:lpstr>PowerPoint-bemutató</vt:lpstr>
      <vt:lpstr>PowerPoint-bemutató</vt:lpstr>
      <vt:lpstr>Köszönöm a figyelmet!</vt:lpstr>
      <vt:lpstr> Nem biztonságos függvény cseréje (Miner projekt, miner_lora.erl fájl, 759-765. sor)</vt:lpstr>
      <vt:lpstr>  Implementált transzformációk bemutatása – os:cmd</vt:lpstr>
      <vt:lpstr>  Implementált transzformációk bemutatása –  spawn és link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Nem biztonságos kód biztonságossá transzformálása a RefactorErl segítségével</dc:title>
  <dc:creator>Juhász Nelli</dc:creator>
  <cp:lastModifiedBy>Juhász Nelli</cp:lastModifiedBy>
  <cp:revision>299</cp:revision>
  <dcterms:created xsi:type="dcterms:W3CDTF">2025-12-03T15:39:13Z</dcterms:created>
  <dcterms:modified xsi:type="dcterms:W3CDTF">2026-01-19T18:14:50Z</dcterms:modified>
</cp:coreProperties>
</file>