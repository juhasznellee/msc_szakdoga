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7" r:id="rId1"/>
  </p:sldMasterIdLst>
  <p:notesMasterIdLst>
    <p:notesMasterId r:id="rId23"/>
  </p:notesMasterIdLst>
  <p:sldIdLst>
    <p:sldId id="256" r:id="rId2"/>
    <p:sldId id="283" r:id="rId3"/>
    <p:sldId id="266" r:id="rId4"/>
    <p:sldId id="271" r:id="rId5"/>
    <p:sldId id="268" r:id="rId6"/>
    <p:sldId id="274" r:id="rId7"/>
    <p:sldId id="278" r:id="rId8"/>
    <p:sldId id="279" r:id="rId9"/>
    <p:sldId id="280" r:id="rId10"/>
    <p:sldId id="269" r:id="rId11"/>
    <p:sldId id="263" r:id="rId12"/>
    <p:sldId id="272" r:id="rId13"/>
    <p:sldId id="273" r:id="rId14"/>
    <p:sldId id="282" r:id="rId15"/>
    <p:sldId id="262" r:id="rId16"/>
    <p:sldId id="264" r:id="rId17"/>
    <p:sldId id="265" r:id="rId18"/>
    <p:sldId id="281" r:id="rId19"/>
    <p:sldId id="267" r:id="rId20"/>
    <p:sldId id="260" r:id="rId21"/>
    <p:sldId id="270" r:id="rId2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3F55"/>
    <a:srgbClr val="68787F"/>
    <a:srgbClr val="F9441B"/>
    <a:srgbClr val="328792"/>
    <a:srgbClr val="0F394B"/>
    <a:srgbClr val="1F7498"/>
    <a:srgbClr val="217CA3"/>
    <a:srgbClr val="E89874"/>
    <a:srgbClr val="B27BCB"/>
    <a:srgbClr val="FCF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Közepesen sötét stílus 3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39" autoAdjust="0"/>
    <p:restoredTop sz="64894" autoAdjust="0"/>
  </p:normalViewPr>
  <p:slideViewPr>
    <p:cSldViewPr snapToGrid="0">
      <p:cViewPr varScale="1">
        <p:scale>
          <a:sx n="106" d="100"/>
          <a:sy n="106" d="100"/>
        </p:scale>
        <p:origin x="1938" y="10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92BB9-1BE5-4032-8E9C-0AD5DE3AFD4B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9CBF5-A446-4922-B374-CEAB447E058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933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</a:t>
            </a:r>
            <a:r>
              <a:rPr lang="hu-HU" baseline="0" dirty="0" smtClean="0"/>
              <a:t> diplomamunkám témája az </a:t>
            </a:r>
            <a:r>
              <a:rPr lang="hu-HU" baseline="0" dirty="0" err="1" smtClean="0"/>
              <a:t>Erlang</a:t>
            </a:r>
            <a:r>
              <a:rPr lang="hu-HU" baseline="0" dirty="0" smtClean="0"/>
              <a:t> nyelven írt nem biztonságos kód biztonságossá transzformálása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 eszköz segítségével.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76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</a:t>
            </a:r>
            <a:r>
              <a:rPr lang="hu-HU" baseline="0" dirty="0" smtClean="0"/>
              <a:t> röviden bemutatnám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-t, ha valaki nem ismerné.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dirty="0" smtClean="0"/>
              <a:t> nyelvhez. Elsősorban olyan </a:t>
            </a:r>
            <a:r>
              <a:rPr lang="hu-HU" dirty="0" err="1" smtClean="0"/>
              <a:t>refaktorálásokat</a:t>
            </a:r>
            <a:r>
              <a:rPr lang="hu-HU" dirty="0" smtClean="0"/>
              <a:t> </a:t>
            </a:r>
            <a:r>
              <a:rPr lang="hu-HU" dirty="0" smtClean="0"/>
              <a:t>implementáltak benne, amelyek biztonságosan alakítják át a kódot </a:t>
            </a:r>
            <a:r>
              <a:rPr lang="hu-HU" dirty="0" smtClean="0"/>
              <a:t>úgy, </a:t>
            </a:r>
            <a:r>
              <a:rPr lang="hu-HU" dirty="0" smtClean="0"/>
              <a:t>hogy </a:t>
            </a:r>
            <a:r>
              <a:rPr lang="hu-HU" dirty="0" smtClean="0"/>
              <a:t>a </a:t>
            </a:r>
            <a:r>
              <a:rPr lang="hu-HU" dirty="0" smtClean="0"/>
              <a:t>program viselkedése vagy </a:t>
            </a:r>
            <a:r>
              <a:rPr lang="hu-HU" dirty="0" smtClean="0"/>
              <a:t>jelentése nem változik</a:t>
            </a:r>
            <a:r>
              <a:rPr lang="hu-HU" baseline="0" dirty="0" smtClean="0"/>
              <a:t> meg</a:t>
            </a:r>
            <a:r>
              <a:rPr lang="hu-HU" dirty="0" smtClean="0"/>
              <a:t>. Mára</a:t>
            </a:r>
            <a:r>
              <a:rPr lang="hu-HU" baseline="0" dirty="0" smtClean="0"/>
              <a:t> már több funkcióval is bővült, például elérhetők benne </a:t>
            </a:r>
            <a:r>
              <a:rPr lang="hu-HU" dirty="0" smtClean="0"/>
              <a:t>különféle elemzések</a:t>
            </a:r>
            <a:r>
              <a:rPr lang="hu-HU" baseline="0" dirty="0" smtClean="0"/>
              <a:t> </a:t>
            </a:r>
            <a:r>
              <a:rPr lang="hu-HU" dirty="0" smtClean="0"/>
              <a:t>és keresések.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 reprezentálja. </a:t>
            </a:r>
            <a:r>
              <a:rPr lang="hu-HU" dirty="0" smtClean="0"/>
              <a:t>Ez 3</a:t>
            </a:r>
            <a:r>
              <a:rPr lang="hu-HU" baseline="0" dirty="0" smtClean="0"/>
              <a:t> rétegből épül fel:</a:t>
            </a:r>
          </a:p>
          <a:p>
            <a:r>
              <a:rPr lang="hu-HU" baseline="0" dirty="0" smtClean="0"/>
              <a:t> - lexikális: </a:t>
            </a:r>
            <a:r>
              <a:rPr lang="hu-HU" baseline="0" dirty="0" err="1" smtClean="0"/>
              <a:t>tokeneket</a:t>
            </a:r>
            <a:r>
              <a:rPr lang="hu-HU" baseline="0" dirty="0" smtClean="0"/>
              <a:t> készít</a:t>
            </a:r>
          </a:p>
          <a:p>
            <a:r>
              <a:rPr lang="hu-HU" baseline="0" dirty="0" smtClean="0"/>
              <a:t> - szintaktikus: létrehozza a szintaxisfát a </a:t>
            </a:r>
            <a:r>
              <a:rPr lang="hu-HU" baseline="0" dirty="0" err="1" smtClean="0"/>
              <a:t>tokenekből</a:t>
            </a:r>
            <a:endParaRPr lang="hu-HU" baseline="0" dirty="0" smtClean="0"/>
          </a:p>
          <a:p>
            <a:r>
              <a:rPr lang="hu-HU" baseline="0" dirty="0" smtClean="0"/>
              <a:t> - szemantikus: információkkal és kapcsolatokkal bővíti ki a fát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smtClean="0"/>
              <a:t>elemzéseknél ez a gráf kerül bejárásra, és az abban tárolt információkat használja fel a további elemzésekre az eszköz. Teljesen új éleket és csúcsokat is hozzá lehet adni a már meglévő gráfhoz.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889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Most</a:t>
            </a:r>
            <a:r>
              <a:rPr lang="hu-HU" baseline="0" dirty="0" smtClean="0"/>
              <a:t> pedig ismertetem a problémát, amely egy részére a diplomamunkámban implementált transzformációk megoldást nyújtanak.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nyelvben több olyan függvény is előfordul, amelyek ránézésre nem jelentenek problémát, viszont bizonyos bemenetek vagy esetek mellett mégis komoly biztonsági kockázatot rejtenek. A </a:t>
            </a:r>
            <a:r>
              <a:rPr lang="hu-HU" dirty="0" err="1" smtClean="0"/>
              <a:t>RefactorErl</a:t>
            </a:r>
            <a:r>
              <a:rPr lang="hu-HU" dirty="0" smtClean="0"/>
              <a:t> eszköz segítségével azonosíthatók a </a:t>
            </a:r>
            <a:r>
              <a:rPr lang="hu-HU" dirty="0" smtClean="0"/>
              <a:t>forráskódban </a:t>
            </a:r>
            <a:r>
              <a:rPr lang="hu-HU" dirty="0" smtClean="0"/>
              <a:t>előforduló sebezhető hívások, </a:t>
            </a:r>
            <a:r>
              <a:rPr lang="hu-HU" dirty="0" smtClean="0"/>
              <a:t>így nagyobb eséllyel </a:t>
            </a:r>
            <a:r>
              <a:rPr lang="hu-HU" dirty="0" smtClean="0"/>
              <a:t>elkerülhetők az ebből adódó tipikus problémák, mint például az OS </a:t>
            </a:r>
            <a:r>
              <a:rPr lang="hu-HU" dirty="0" err="1" smtClean="0"/>
              <a:t>injection</a:t>
            </a:r>
            <a:r>
              <a:rPr lang="hu-HU" dirty="0" smtClean="0"/>
              <a:t> vagy az </a:t>
            </a:r>
            <a:r>
              <a:rPr lang="hu-HU" dirty="0" err="1" smtClean="0"/>
              <a:t>atomtúlcsordulás</a:t>
            </a:r>
            <a:r>
              <a:rPr lang="hu-HU" dirty="0" smtClean="0"/>
              <a:t>.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Ezeket jelenleg manuálisan lehet csak kijavítani,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viszont így 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fennáll 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annak a veszélye, hogy új 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hibák 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kerülnek bevezetésére. Ezen kívül nem lesz egységes a kód szerkezete, valamint a kézi javítás sokkal idő 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költségigényesebb.</a:t>
            </a: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164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diplomamunkámban a következő transzformációkat</a:t>
            </a:r>
            <a:r>
              <a:rPr lang="hu-HU" baseline="0" dirty="0" smtClean="0"/>
              <a:t> implementáltam, amelyek közül párat részletesebben bemutatok a továbbiakban.</a:t>
            </a:r>
          </a:p>
          <a:p>
            <a:endParaRPr lang="hu-HU" dirty="0" smtClean="0"/>
          </a:p>
          <a:p>
            <a:pPr marL="171450" indent="-171450">
              <a:buFontTx/>
              <a:buChar char="-"/>
            </a:pPr>
            <a:r>
              <a:rPr lang="hu-HU" dirty="0" smtClean="0"/>
              <a:t>Az első az </a:t>
            </a:r>
            <a:r>
              <a:rPr lang="hu-HU" dirty="0" err="1" smtClean="0"/>
              <a:t>os:cmd</a:t>
            </a:r>
            <a:r>
              <a:rPr lang="hu-HU" dirty="0" smtClean="0"/>
              <a:t> függvények bemeneti</a:t>
            </a:r>
            <a:r>
              <a:rPr lang="hu-HU" baseline="0" dirty="0" smtClean="0"/>
              <a:t> paraméterek tartalmának ellenőrzése -&gt; így </a:t>
            </a:r>
            <a:r>
              <a:rPr lang="hu-HU" baseline="0" dirty="0" err="1" smtClean="0"/>
              <a:t>elkerülhetűő</a:t>
            </a:r>
            <a:r>
              <a:rPr lang="hu-HU" baseline="0" dirty="0" smtClean="0"/>
              <a:t> az OS </a:t>
            </a:r>
            <a:r>
              <a:rPr lang="hu-HU" baseline="0" dirty="0" err="1" smtClean="0"/>
              <a:t>injection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második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függvényhívások számának túlcsordulása -&gt; ezzel elkerülhető az </a:t>
            </a:r>
            <a:r>
              <a:rPr lang="hu-HU" baseline="0" dirty="0" err="1" smtClean="0"/>
              <a:t>atomtúlcsordulás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következő a nem biztonságos függvények biztonságosra cserélése</a:t>
            </a:r>
          </a:p>
          <a:p>
            <a:pPr marL="171450" indent="-171450">
              <a:buFontTx/>
              <a:buChar char="-"/>
            </a:pPr>
            <a:r>
              <a:rPr lang="hu-HU" dirty="0" smtClean="0"/>
              <a:t>Végezetül a</a:t>
            </a:r>
            <a:r>
              <a:rPr lang="hu-HU" baseline="0" dirty="0" smtClean="0"/>
              <a:t> külön használt </a:t>
            </a:r>
            <a:r>
              <a:rPr lang="hu-HU" baseline="0" dirty="0" err="1" smtClean="0"/>
              <a:t>spawn</a:t>
            </a:r>
            <a:r>
              <a:rPr lang="hu-HU" baseline="0" dirty="0" smtClean="0"/>
              <a:t> és link függvények atomi összekapcsolása -&gt; mellyel megakadályozható a versenyhelyzetek kialakulása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2186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 általánosan</a:t>
            </a:r>
            <a:r>
              <a:rPr lang="hu-HU" baseline="0" dirty="0" smtClean="0"/>
              <a:t> bemutatnám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függvényre írt transzformációt.</a:t>
            </a:r>
          </a:p>
          <a:p>
            <a:endParaRPr lang="hu-HU" baseline="0" dirty="0" smtClean="0"/>
          </a:p>
          <a:p>
            <a:r>
              <a:rPr lang="hu-HU" baseline="0" dirty="0" smtClean="0"/>
              <a:t>Röviden összefoglalva úgy működik, hogy megkeresem a megbízhatatlan listát, ami meghatározza a létrehozandó adatok számát, illetve a sérülékenynek ítélt részt. Az adott fájl végére beszúrom az ellenőrző függvényt, amelyben egy előre definiált mennyiségkorlátozás szerepel. Ezt az újonnan beszúrt függvényt alkalmazom egy </a:t>
            </a:r>
            <a:r>
              <a:rPr lang="hu-HU" baseline="0" dirty="0" err="1" smtClean="0"/>
              <a:t>case</a:t>
            </a:r>
            <a:r>
              <a:rPr lang="hu-HU" baseline="0" dirty="0" smtClean="0"/>
              <a:t> kifejezés segítségével a generáló listára. Ha teljesül a feltétel, miszerint a futás száma kisebb, mint a korlátozás értéke, akkor végrehajtható a sérülékenynek ítélt rész. Ellenkező esetben terminál a kód.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7622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842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103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58138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938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59761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327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0394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793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86549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informatika és annak fejlődése rengeteg iparágra nagy hatással van.</a:t>
            </a:r>
            <a:r>
              <a:rPr lang="hu-HU" baseline="0" dirty="0" smtClean="0"/>
              <a:t> Ezzel párhuzamosan a </a:t>
            </a:r>
            <a:r>
              <a:rPr lang="hu-HU" baseline="0" dirty="0" err="1" smtClean="0"/>
              <a:t>kibertámadások</a:t>
            </a:r>
            <a:r>
              <a:rPr lang="hu-HU" baseline="0" dirty="0" smtClean="0"/>
              <a:t> száma és komplexitása is egyre csak nő, </a:t>
            </a:r>
            <a:r>
              <a:rPr lang="hu-HU" dirty="0" smtClean="0"/>
              <a:t>éppen</a:t>
            </a:r>
            <a:r>
              <a:rPr lang="hu-HU" baseline="0" dirty="0" smtClean="0"/>
              <a:t> ezért nagyon fontos a rendszerek megfelelő védelme</a:t>
            </a:r>
            <a:r>
              <a:rPr lang="hu-HU" dirty="0" smtClean="0"/>
              <a:t>. Egyetlen</a:t>
            </a:r>
            <a:r>
              <a:rPr lang="hu-HU" baseline="0" dirty="0" smtClean="0"/>
              <a:t> sérülékenység is elegendő lehet ahhoz, hogy a támadók hozzáférhessenek érzékeny adatokhoz, </a:t>
            </a:r>
            <a:r>
              <a:rPr lang="hu-HU" dirty="0" smtClean="0"/>
              <a:t>befolyásolhassák</a:t>
            </a:r>
            <a:r>
              <a:rPr lang="hu-HU" baseline="0" dirty="0" smtClean="0"/>
              <a:t> a vállalatok működését vagy </a:t>
            </a:r>
            <a:r>
              <a:rPr lang="hu-HU" dirty="0" smtClean="0"/>
              <a:t>akár megbéníthassák az egész rendszert.</a:t>
            </a:r>
          </a:p>
          <a:p>
            <a:endParaRPr lang="hu-HU" dirty="0" smtClean="0"/>
          </a:p>
          <a:p>
            <a:r>
              <a:rPr lang="hu-HU" dirty="0" smtClean="0"/>
              <a:t>Ahhoz,</a:t>
            </a:r>
            <a:r>
              <a:rPr lang="hu-HU" baseline="0" dirty="0" smtClean="0"/>
              <a:t> hogy a kód minél jobb minőségű és megbízhatóbb legyen, elengedhetetlen a lehetséges sérülékenységek korai azonosítása.</a:t>
            </a:r>
          </a:p>
          <a:p>
            <a:endParaRPr lang="hu-HU" baseline="0" dirty="0" smtClean="0"/>
          </a:p>
          <a:p>
            <a:r>
              <a:rPr lang="hu-HU" baseline="0" dirty="0" smtClean="0"/>
              <a:t>Éppen ezért </a:t>
            </a:r>
            <a:r>
              <a:rPr lang="hu-HU" dirty="0" smtClean="0"/>
              <a:t>több szabvány és</a:t>
            </a:r>
            <a:r>
              <a:rPr lang="hu-HU" baseline="0" dirty="0" smtClean="0"/>
              <a:t> irányelv is létrejött annak érdekében, hogy a vállalatok biztonságosabbá tegyék a </a:t>
            </a:r>
            <a:r>
              <a:rPr lang="hu-HU" baseline="0" dirty="0" err="1" smtClean="0"/>
              <a:t>szoftvereiket</a:t>
            </a:r>
            <a:r>
              <a:rPr lang="hu-HU" baseline="0" dirty="0" smtClean="0"/>
              <a:t> már a fejlesztés korai fázisában. A legelterjedtebb nemzetközi információbiztonsági szabvány az 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27001, amely n</a:t>
            </a:r>
            <a:r>
              <a:rPr lang="hu-HU" dirty="0" smtClean="0"/>
              <a:t>emcsak a kód biztonságára fókuszál, hanem a teljes fejlesztési folyamatra is. Fontos, hogy ott is érvényesüljenek a biztonsági szempontok, mint például a megfelelő jogosultságkezelés, a verziókövetés és a fejlesztési </a:t>
            </a:r>
            <a:r>
              <a:rPr lang="hu-HU" dirty="0" err="1" smtClean="0"/>
              <a:t>környezetek</a:t>
            </a:r>
            <a:r>
              <a:rPr lang="hu-HU" dirty="0" smtClean="0"/>
              <a:t> megfelelő védelme. Egyik fő alapelve, hogy a biztonsági szabályozásokat a kockázatelemzés alapján kell meghatározni, és nem egy előre megadott sablon szerint. Egy</a:t>
            </a:r>
            <a:r>
              <a:rPr lang="hu-HU" baseline="0" dirty="0" smtClean="0"/>
              <a:t> másik ismertebb irányelveket kiadó szervezet az OWASP, amely a </a:t>
            </a:r>
            <a:r>
              <a:rPr lang="hu-HU" dirty="0" smtClean="0"/>
              <a:t>fejlesztői irányelvekre és a kódot érintő különböző sérülékenységekre összpontosít.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688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forráskódú, deklaratív funkcionális programozási nyelv, amelyet eredetileg a telekommunikációs rendszerek fejlesztésére hozott létre az Ericsson. Alapvető feladata, hogy egyszerűvé tegye a párhuzamosan futtatható elosztott rendszerek készítését.</a:t>
            </a:r>
            <a:r>
              <a:rPr lang="hu-HU" baseline="0" dirty="0" smtClean="0"/>
              <a:t> </a:t>
            </a:r>
            <a:r>
              <a:rPr lang="hu-HU" dirty="0" smtClean="0"/>
              <a:t>Sok vállalkozás által kedvelt nyelv, mivel több olyan tulajdonsággal is rendelkezik, amelyek jelentősen elősegítik a biztonságos fejlesztést és a támadásokkal szembeni védelmet. A legfontosabb jellemzői közé tartozik a megváltoztathatatlan adatszerkezetek biztosítása, az elosztottság támogatása, a párhuzamosság megvalósítása és a hibatűrő modell.</a:t>
            </a:r>
          </a:p>
          <a:p>
            <a:endParaRPr lang="hu-HU" dirty="0" smtClean="0"/>
          </a:p>
          <a:p>
            <a:r>
              <a:rPr lang="hu-HU" dirty="0" smtClean="0"/>
              <a:t>Megváltoztathatatlan adatszerkezet: A funkcionális nyelvcsaládba való tartozás miatt az </a:t>
            </a:r>
            <a:r>
              <a:rPr lang="hu-HU" dirty="0" err="1" smtClean="0"/>
              <a:t>Erlangban</a:t>
            </a:r>
            <a:r>
              <a:rPr lang="hu-HU" dirty="0" smtClean="0"/>
              <a:t> az adatok létrehozás után nem módosíthatók.</a:t>
            </a:r>
          </a:p>
          <a:p>
            <a:endParaRPr lang="hu-HU" dirty="0" smtClean="0"/>
          </a:p>
          <a:p>
            <a:r>
              <a:rPr lang="hu-HU" dirty="0" smtClean="0"/>
              <a:t>Konkurens programozás:</a:t>
            </a:r>
            <a:r>
              <a:rPr lang="hu-HU" baseline="0" dirty="0" smtClean="0"/>
              <a:t> </a:t>
            </a:r>
            <a:r>
              <a:rPr lang="hu-HU" dirty="0" smtClean="0"/>
              <a:t>A folyamatok egymástól teljesen elszigetelve, izoláltan futnak anélkül, hogy kihatással lennének a másik szálra. Saját memóriaterülettel rendelkeznek, és csakis üzenetküldéseken keresztül kommunikálnak egymással. </a:t>
            </a:r>
          </a:p>
          <a:p>
            <a:endParaRPr lang="hu-HU" dirty="0" smtClean="0"/>
          </a:p>
          <a:p>
            <a:r>
              <a:rPr lang="hu-HU" dirty="0" smtClean="0"/>
              <a:t>Elosztott programozás: A folyamatok akár több virtuális gépen is szétoszthatók, amelyek között az információáramlás változatlanul működik. A csomópontok között a kommunikáció transzparens, így ha kiesik egy pont, a többi ugyanúgy tud tovább működni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Hibatűrési modell: A nyelv "</a:t>
            </a:r>
            <a:r>
              <a:rPr lang="hu-HU" dirty="0" err="1" smtClean="0"/>
              <a:t>Let</a:t>
            </a:r>
            <a:r>
              <a:rPr lang="hu-HU" dirty="0" smtClean="0"/>
              <a:t> it </a:t>
            </a:r>
            <a:r>
              <a:rPr lang="hu-HU" dirty="0" err="1" smtClean="0"/>
              <a:t>crash</a:t>
            </a:r>
            <a:r>
              <a:rPr lang="hu-HU" dirty="0" smtClean="0"/>
              <a:t>„</a:t>
            </a:r>
            <a:r>
              <a:rPr lang="hu-HU" baseline="0" dirty="0" smtClean="0"/>
              <a:t> </a:t>
            </a:r>
            <a:r>
              <a:rPr lang="hu-HU" dirty="0" smtClean="0"/>
              <a:t>filozófiája szerint nem minden hibát kell megelőzni, hanem gondoskodni kell arról, hogy a hibák ne terjedhessenek tovább a rendszerben. Ha egy folyamat hibát észlel, akkor leáll, és annak helyreállítását egy felügyelő (</a:t>
            </a:r>
            <a:r>
              <a:rPr lang="hu-HU" dirty="0" err="1" smtClean="0"/>
              <a:t>supervisor</a:t>
            </a:r>
            <a:r>
              <a:rPr lang="hu-HU" dirty="0" smtClean="0"/>
              <a:t>) folyamat végzi</a:t>
            </a:r>
            <a:r>
              <a:rPr lang="hu-HU" baseline="0" dirty="0" smtClean="0"/>
              <a:t> (például </a:t>
            </a:r>
            <a:r>
              <a:rPr lang="hu-HU" baseline="0" dirty="0" err="1" smtClean="0"/>
              <a:t>ú</a:t>
            </a:r>
            <a:r>
              <a:rPr lang="hu-HU" dirty="0" err="1" smtClean="0"/>
              <a:t>jraindíthatja</a:t>
            </a:r>
            <a:r>
              <a:rPr lang="hu-HU" dirty="0" smtClean="0"/>
              <a:t> a problémás folyamatot).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Együttműködésből:</a:t>
            </a:r>
            <a:r>
              <a:rPr lang="hu-HU" baseline="0" dirty="0" smtClean="0"/>
              <a:t> </a:t>
            </a:r>
            <a:r>
              <a:rPr lang="hu-HU" dirty="0" err="1" smtClean="0"/>
              <a:t>Porthasználat</a:t>
            </a:r>
            <a:r>
              <a:rPr lang="hu-HU" dirty="0" smtClean="0"/>
              <a:t>, Dinamikusan betölthető driverek,</a:t>
            </a:r>
            <a:r>
              <a:rPr lang="hu-HU" baseline="0" dirty="0" smtClean="0"/>
              <a:t> </a:t>
            </a:r>
            <a:r>
              <a:rPr lang="hu-HU" dirty="0" smtClean="0"/>
              <a:t>NIF-</a:t>
            </a:r>
            <a:r>
              <a:rPr lang="hu-HU" dirty="0" err="1" smtClean="0"/>
              <a:t>ek</a:t>
            </a:r>
            <a:r>
              <a:rPr lang="hu-HU" dirty="0" smtClean="0"/>
              <a:t> (C nyelven írt külső függvények) --- bemenet ellenőrzés.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Konkurens programozásból:</a:t>
            </a:r>
            <a:r>
              <a:rPr lang="hu-HU" baseline="0" dirty="0" smtClean="0"/>
              <a:t> </a:t>
            </a:r>
            <a:r>
              <a:rPr lang="hu-HU" dirty="0" smtClean="0"/>
              <a:t>Folyamatkezelés (</a:t>
            </a:r>
            <a:r>
              <a:rPr lang="hu-HU" dirty="0" err="1" smtClean="0"/>
              <a:t>spawn</a:t>
            </a:r>
            <a:r>
              <a:rPr lang="hu-HU" dirty="0" smtClean="0"/>
              <a:t>-link) - versenyhelyzet, Ütemezés állítás - éheztetés, ETS tábla kezelés – versenyhelyzet, inkonzisztens állapot.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Elosztott programozásból: Hálózati hozzáférés, </a:t>
            </a:r>
            <a:r>
              <a:rPr lang="hu-HU" dirty="0" err="1" smtClean="0"/>
              <a:t>SSl</a:t>
            </a:r>
            <a:r>
              <a:rPr lang="hu-HU" dirty="0" smtClean="0"/>
              <a:t>/TLS beállítások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Beszúrásos támadások: OS parancsok,</a:t>
            </a:r>
            <a:r>
              <a:rPr lang="hu-HU" baseline="0" dirty="0" smtClean="0"/>
              <a:t> </a:t>
            </a:r>
            <a:r>
              <a:rPr lang="hu-HU" dirty="0" smtClean="0"/>
              <a:t>Fájlokkal kapcsolatos műveletek, Dinamikusan fordított és betöltött programkódok --- bemenet ellenőrzés.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Memória túlterhelés:</a:t>
            </a:r>
            <a:r>
              <a:rPr lang="hu-HU" baseline="0" dirty="0" smtClean="0"/>
              <a:t> </a:t>
            </a:r>
            <a:r>
              <a:rPr lang="hu-HU" dirty="0" smtClean="0"/>
              <a:t>Az atomok értékei egy globális, fix mérettel rendelkező atomtáblában tárolódnak. Az új atomok futásidőben kerülnek be a táblába, viszont a fel nem használtak eltávolítására nincs lehetőség. Amint az atomok száma meghaladja a tábla maximális értékét, a virtuális gép összeomolhat, és szolgáltatáskiesést (</a:t>
            </a:r>
            <a:r>
              <a:rPr lang="hu-HU" dirty="0" err="1" smtClean="0"/>
              <a:t>DoS</a:t>
            </a:r>
            <a:r>
              <a:rPr lang="hu-HU" dirty="0" smtClean="0"/>
              <a:t> / </a:t>
            </a:r>
            <a:r>
              <a:rPr lang="hu-HU" dirty="0" err="1" smtClean="0"/>
              <a:t>DDoS</a:t>
            </a:r>
            <a:r>
              <a:rPr lang="hu-HU" dirty="0" smtClean="0"/>
              <a:t>) eredményezhet. Ezért óvatosan kell kezelni a dinamikus atomképzést és az adatok </a:t>
            </a:r>
            <a:r>
              <a:rPr lang="hu-HU" dirty="0" err="1" smtClean="0"/>
              <a:t>deszerializálását</a:t>
            </a:r>
            <a:r>
              <a:rPr lang="hu-HU" dirty="0" smtClean="0"/>
              <a:t> (</a:t>
            </a:r>
            <a:r>
              <a:rPr lang="hu-HU" dirty="0" err="1" smtClean="0"/>
              <a:t>stringből</a:t>
            </a:r>
            <a:r>
              <a:rPr lang="hu-HU" dirty="0" smtClean="0"/>
              <a:t> objektum) eredményező</a:t>
            </a:r>
            <a:r>
              <a:rPr lang="hu-HU" baseline="0" dirty="0" smtClean="0"/>
              <a:t> függvényeket, illetve célszerű ellenőrizni a bemeneti paramétereiket is.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21618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Szoftverfejlesztés közben az ember könnyen követhet el olyan hibákat, amelyek csak futási időben jönnek elő. Ezek az esetek lassítják a fejlesztési folyamatot, és megbízhatatlanná teszik a rendszert.</a:t>
            </a:r>
          </a:p>
          <a:p>
            <a:endParaRPr lang="hu-HU" dirty="0" smtClean="0"/>
          </a:p>
          <a:p>
            <a:r>
              <a:rPr lang="hu-HU" dirty="0" smtClean="0"/>
              <a:t>Az ilyen jellegű problémák kezelésére fejlesztették ki az automatizált elemző szoftvereket, amelyek statikus kódelemzés segítségével képesek költséghatékonyabbá tenni a fejlesztési folyamatokat. Minél hamarabb találják meg a hibát, annál olcsóbb és egyszerűbb lesz a javítása.</a:t>
            </a:r>
          </a:p>
          <a:p>
            <a:r>
              <a:rPr lang="hu-HU" dirty="0" smtClean="0"/>
              <a:t>A forráskódot még futtatás előtt átvizsgálja a program, vagy még mielőtt egy ember letesztelné a szoftver működését. Így már a fejlesztés elején ki lehet javítani a hibákat vagy a lehetséges sérülékenységeket,</a:t>
            </a:r>
            <a:r>
              <a:rPr lang="hu-HU" baseline="0" dirty="0" smtClean="0"/>
              <a:t> így jelentősen nő a kód minősége, </a:t>
            </a:r>
            <a:r>
              <a:rPr lang="hu-HU" dirty="0" smtClean="0"/>
              <a:t>karbantarthatósága és biztonsága.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baseline="0" dirty="0" smtClean="0"/>
              <a:t> nyelvhez. </a:t>
            </a:r>
            <a:r>
              <a:rPr lang="hu-HU" dirty="0" smtClean="0"/>
              <a:t>Elsősorban olyan forráskód transzformációkat implementáltak benne, amelyek biztonságosan alakítják át a kódot anélkül, hogy megváltozna a program viselkedése vagy jelentése.</a:t>
            </a:r>
            <a:r>
              <a:rPr lang="hu-HU" baseline="0" dirty="0" smtClean="0"/>
              <a:t> </a:t>
            </a:r>
            <a:r>
              <a:rPr lang="hu-HU" dirty="0" smtClean="0"/>
              <a:t>Ma már nem csak </a:t>
            </a:r>
            <a:r>
              <a:rPr lang="hu-HU" dirty="0" err="1" smtClean="0"/>
              <a:t>kódbeli</a:t>
            </a:r>
            <a:r>
              <a:rPr lang="hu-HU" dirty="0" smtClean="0"/>
              <a:t> </a:t>
            </a:r>
            <a:r>
              <a:rPr lang="hu-HU" dirty="0" err="1" smtClean="0"/>
              <a:t>refaktorálások</a:t>
            </a:r>
            <a:r>
              <a:rPr lang="hu-HU" dirty="0" smtClean="0"/>
              <a:t> hajthatók végre, hanem segít a kódrészek megértésében, karbantartásában, illetve különféle elemzésekben (például biztonsági) és keresésekben is.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</a:t>
            </a:r>
            <a:r>
              <a:rPr lang="hu-HU" baseline="0" dirty="0" smtClean="0"/>
              <a:t> </a:t>
            </a:r>
            <a:r>
              <a:rPr lang="hu-HU" dirty="0" smtClean="0"/>
              <a:t>reprezentálja.</a:t>
            </a:r>
            <a:r>
              <a:rPr lang="hu-HU" baseline="0" dirty="0" smtClean="0"/>
              <a:t> </a:t>
            </a:r>
            <a:r>
              <a:rPr lang="hu-HU" dirty="0" smtClean="0"/>
              <a:t>Az elemzéseknél ez a gráf kerül bejárásra, és az abban tárolt információkat használja fel a további elemzésekre az eszköz. Teljesen új éleket és csúcsokat is hozzá lehet adni a már meglévő gráfhoz.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9559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baseline="0" dirty="0" smtClean="0"/>
              <a:t> </a:t>
            </a:r>
            <a:r>
              <a:rPr lang="hu-HU" dirty="0" smtClean="0"/>
              <a:t>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baseline="0" dirty="0" smtClean="0"/>
              <a:t> nyelvhez. </a:t>
            </a:r>
            <a:r>
              <a:rPr lang="hu-HU" dirty="0" smtClean="0"/>
              <a:t>Elsősorban olyan forráskód transzformációkat implementáltak benne, amelyek biztonságosan alakítják át a kódot anélkül, hogy megváltozna a program viselkedése vagy jelentése.</a:t>
            </a:r>
            <a:r>
              <a:rPr lang="hu-HU" baseline="0" dirty="0" smtClean="0"/>
              <a:t> </a:t>
            </a:r>
            <a:r>
              <a:rPr lang="hu-HU" dirty="0" smtClean="0"/>
              <a:t>Ma már nem csak </a:t>
            </a:r>
            <a:r>
              <a:rPr lang="hu-HU" dirty="0" err="1" smtClean="0"/>
              <a:t>kódbeli</a:t>
            </a:r>
            <a:r>
              <a:rPr lang="hu-HU" dirty="0" smtClean="0"/>
              <a:t> </a:t>
            </a:r>
            <a:r>
              <a:rPr lang="hu-HU" dirty="0" err="1" smtClean="0"/>
              <a:t>refaktorálások</a:t>
            </a:r>
            <a:r>
              <a:rPr lang="hu-HU" dirty="0" smtClean="0"/>
              <a:t> hajthatók végre, hanem segít a kódrészek megértésében, karbantartásában, illetve különféle elemzésekben (például biztonsági) és keresésekben is.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</a:t>
            </a:r>
            <a:r>
              <a:rPr lang="hu-HU" baseline="0" dirty="0" smtClean="0"/>
              <a:t> </a:t>
            </a:r>
            <a:r>
              <a:rPr lang="hu-HU" dirty="0" smtClean="0"/>
              <a:t>reprezentálja.</a:t>
            </a:r>
            <a:r>
              <a:rPr lang="hu-HU" baseline="0" dirty="0" smtClean="0"/>
              <a:t> </a:t>
            </a:r>
            <a:r>
              <a:rPr lang="hu-HU" dirty="0" smtClean="0"/>
              <a:t>Az elemzéseknél ez a gráf kerül bejárásra, és az abban tárolt információkat használja fel a további elemzésekre az eszköz. Teljesen új éleket és csúcsokat is hozzá lehet adni a már meglévő gráfhoz.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642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90661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2592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871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630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270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88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66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4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9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817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278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989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940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82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695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180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291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93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308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858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9731AD7-5972-4914-843B-2D1C931CBC7C}" type="datetimeFigureOut">
              <a:rPr lang="hu-HU" smtClean="0"/>
              <a:t>2026. 01. 18.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430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73" r:id="rId6"/>
    <p:sldLayoutId id="2147483974" r:id="rId7"/>
    <p:sldLayoutId id="2147483975" r:id="rId8"/>
    <p:sldLayoutId id="2147483976" r:id="rId9"/>
    <p:sldLayoutId id="2147483977" r:id="rId10"/>
    <p:sldLayoutId id="2147483978" r:id="rId11"/>
    <p:sldLayoutId id="2147483979" r:id="rId12"/>
    <p:sldLayoutId id="2147483980" r:id="rId13"/>
    <p:sldLayoutId id="2147483981" r:id="rId14"/>
    <p:sldLayoutId id="2147483982" r:id="rId15"/>
    <p:sldLayoutId id="2147483983" r:id="rId16"/>
    <p:sldLayoutId id="2147483984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images/spg_graph.PNG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images/spg_graph.PN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31495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kód biztonságossá transzformálása a </a:t>
            </a:r>
            <a:r>
              <a:rPr lang="hu-HU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segítségével 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7600950" y="4476750"/>
            <a:ext cx="4591050" cy="533400"/>
          </a:xfrm>
        </p:spPr>
        <p:txBody>
          <a:bodyPr>
            <a:normAutofit/>
          </a:bodyPr>
          <a:lstStyle/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Budapest, 2026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Alcím 2"/>
          <p:cNvSpPr txBox="1">
            <a:spLocks/>
          </p:cNvSpPr>
          <p:nvPr/>
        </p:nvSpPr>
        <p:spPr>
          <a:xfrm>
            <a:off x="0" y="4476750"/>
            <a:ext cx="5632450" cy="533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kern="120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Juhász Alexandra Nelli</a:t>
            </a:r>
            <a:endParaRPr lang="hu-H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95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Csoportba foglalás 8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1" name="Kép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0" y="1825624"/>
            <a:ext cx="6438899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nyelvhez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 action="ppaction://hlinkfile"/>
              </a:rPr>
              <a:t>Szemantikus programgráf képe</a:t>
            </a:r>
            <a:endParaRPr lang="hu-HU" sz="24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876300" y="4810871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1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7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3" name="Kép 1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 ismertetése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23953" y="3320713"/>
            <a:ext cx="4200522" cy="1650994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cmd_example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cat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felismeri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Erlangban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előforduló sérülékenységeket, amelyek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ránézésre nem jelentenek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problémát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Jelenleg manuálisan lehet csak kijavítani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123953" y="4971707"/>
            <a:ext cx="8572497" cy="1633999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lta_example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8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Implementált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függvények bemeneti paraméterek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tartalmának ellenőrzése</a:t>
            </a: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korlátozása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 biztonságosra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cserélése (3 db)</a:t>
            </a:r>
            <a:endParaRPr lang="hu-HU" sz="24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atomi összekapcsolása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770" y="-408154"/>
            <a:ext cx="7560000" cy="75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98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églalap 18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tx1">
                    <a:lumMod val="95000"/>
                  </a:schemeClr>
                </a:solidFill>
              </a:rPr>
              <a:t/>
            </a:r>
            <a:br>
              <a:rPr lang="hu-HU" dirty="0" smtClean="0">
                <a:solidFill>
                  <a:schemeClr val="tx1">
                    <a:lumMod val="95000"/>
                  </a:schemeClr>
                </a:solidFill>
              </a:rPr>
            </a:br>
            <a:endParaRPr lang="hu-HU" dirty="0" smtClean="0">
              <a:solidFill>
                <a:schemeClr val="tx1">
                  <a:lumMod val="95000"/>
                </a:schemeClr>
              </a:solidFill>
            </a:endParaRP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Cím 1"/>
          <p:cNvSpPr txBox="1">
            <a:spLocks/>
          </p:cNvSpPr>
          <p:nvPr/>
        </p:nvSpPr>
        <p:spPr>
          <a:xfrm>
            <a:off x="0" y="365125"/>
            <a:ext cx="11353798" cy="14893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6" y="2572400"/>
            <a:ext cx="5966604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19995" y="3891059"/>
            <a:ext cx="7242955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344524" y="1912500"/>
            <a:ext cx="38290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 megbízhatatlan listát, ami meghatározza a létrehozandó adatok számát, illetve a sérülékeny részt.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Beillesztek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fájlba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egy új ellenőrző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függvényt,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majd ezt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kifejezés segítségével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alkalmazom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a generáló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listára. A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kifejezés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true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ágába beillesztem a sérülékeny részt.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Az ellenőrző függvény eredményétől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függően fut tovább vagy terminál a kód.</a:t>
            </a:r>
          </a:p>
        </p:txBody>
      </p:sp>
    </p:spTree>
    <p:extLst>
      <p:ext uri="{BB962C8B-B14F-4D97-AF65-F5344CB8AC3E}">
        <p14:creationId xmlns:p14="http://schemas.microsoft.com/office/powerpoint/2010/main" val="365008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</p:txBody>
      </p:sp>
      <p:sp>
        <p:nvSpPr>
          <p:cNvPr id="8" name="Lekerekített téglalap 7"/>
          <p:cNvSpPr/>
          <p:nvPr/>
        </p:nvSpPr>
        <p:spPr>
          <a:xfrm>
            <a:off x="1119998" y="2711239"/>
            <a:ext cx="4690252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10250" y="2711239"/>
            <a:ext cx="5985652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32" name="Csoportba foglalás 31"/>
          <p:cNvGrpSpPr/>
          <p:nvPr/>
        </p:nvGrpSpPr>
        <p:grpSpPr>
          <a:xfrm>
            <a:off x="1805411" y="3301729"/>
            <a:ext cx="3672000" cy="616535"/>
            <a:chOff x="1803840" y="3057094"/>
            <a:chExt cx="3672000" cy="616535"/>
          </a:xfrm>
        </p:grpSpPr>
        <p:sp>
          <p:nvSpPr>
            <p:cNvPr id="18" name="Szövegdoboz 17"/>
            <p:cNvSpPr txBox="1"/>
            <p:nvPr/>
          </p:nvSpPr>
          <p:spPr>
            <a:xfrm>
              <a:off x="2920733" y="3365852"/>
              <a:ext cx="14382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4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" name="Egyenes összekötő 5"/>
            <p:cNvCxnSpPr/>
            <p:nvPr/>
          </p:nvCxnSpPr>
          <p:spPr>
            <a:xfrm>
              <a:off x="1803840" y="3381094"/>
              <a:ext cx="3672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1803840" y="3057094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475840" y="3057094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Csoportba foglalás 33"/>
          <p:cNvGrpSpPr/>
          <p:nvPr/>
        </p:nvGrpSpPr>
        <p:grpSpPr>
          <a:xfrm>
            <a:off x="3797668" y="2332255"/>
            <a:ext cx="1845377" cy="757967"/>
            <a:chOff x="3794091" y="2155811"/>
            <a:chExt cx="1845377" cy="757967"/>
          </a:xfrm>
        </p:grpSpPr>
        <p:sp>
          <p:nvSpPr>
            <p:cNvPr id="2" name="Szövegdoboz 1"/>
            <p:cNvSpPr txBox="1"/>
            <p:nvPr/>
          </p:nvSpPr>
          <p:spPr>
            <a:xfrm>
              <a:off x="3794091" y="2155811"/>
              <a:ext cx="18453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Egyenes összekötő nyíllal 27"/>
            <p:cNvCxnSpPr/>
            <p:nvPr/>
          </p:nvCxnSpPr>
          <p:spPr>
            <a:xfrm>
              <a:off x="4716780" y="2463589"/>
              <a:ext cx="424215" cy="450189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5707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353050" y="2765140"/>
            <a:ext cx="5572125" cy="3467137"/>
          </a:xfrm>
          <a:prstGeom prst="roundRect">
            <a:avLst>
              <a:gd name="adj" fmla="val 17401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1119998" y="2712222"/>
            <a:ext cx="4233052" cy="1758490"/>
          </a:xfrm>
          <a:prstGeom prst="roundRect">
            <a:avLst>
              <a:gd name="adj" fmla="val 2785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</p:txBody>
      </p:sp>
      <p:grpSp>
        <p:nvGrpSpPr>
          <p:cNvPr id="20" name="Csoportba foglalás 19"/>
          <p:cNvGrpSpPr/>
          <p:nvPr/>
        </p:nvGrpSpPr>
        <p:grpSpPr>
          <a:xfrm>
            <a:off x="1826895" y="4152989"/>
            <a:ext cx="3161265" cy="631777"/>
            <a:chOff x="1826895" y="3899062"/>
            <a:chExt cx="3161265" cy="631777"/>
          </a:xfrm>
        </p:grpSpPr>
        <p:sp>
          <p:nvSpPr>
            <p:cNvPr id="10" name="Szövegdoboz 9"/>
            <p:cNvSpPr txBox="1"/>
            <p:nvPr/>
          </p:nvSpPr>
          <p:spPr>
            <a:xfrm>
              <a:off x="2689373" y="4223062"/>
              <a:ext cx="14382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4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" name="Egyenes összekötő 10"/>
            <p:cNvCxnSpPr/>
            <p:nvPr/>
          </p:nvCxnSpPr>
          <p:spPr>
            <a:xfrm>
              <a:off x="1828800" y="4223062"/>
              <a:ext cx="315936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1826895" y="3899062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/>
            <p:nvPr/>
          </p:nvCxnSpPr>
          <p:spPr>
            <a:xfrm flipV="1">
              <a:off x="4988160" y="3899062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soportba foglalás 21"/>
          <p:cNvGrpSpPr/>
          <p:nvPr/>
        </p:nvGrpSpPr>
        <p:grpSpPr>
          <a:xfrm>
            <a:off x="3794091" y="2438313"/>
            <a:ext cx="1845377" cy="1600849"/>
            <a:chOff x="3794091" y="2155811"/>
            <a:chExt cx="1845377" cy="1600849"/>
          </a:xfrm>
        </p:grpSpPr>
        <p:sp>
          <p:nvSpPr>
            <p:cNvPr id="17" name="Szövegdoboz 16"/>
            <p:cNvSpPr txBox="1"/>
            <p:nvPr/>
          </p:nvSpPr>
          <p:spPr>
            <a:xfrm>
              <a:off x="3794091" y="2155811"/>
              <a:ext cx="18453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nyíllal 17"/>
            <p:cNvCxnSpPr/>
            <p:nvPr/>
          </p:nvCxnSpPr>
          <p:spPr>
            <a:xfrm>
              <a:off x="4701540" y="2463589"/>
              <a:ext cx="0" cy="1293071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021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827324" y="2712223"/>
            <a:ext cx="6231326" cy="4145778"/>
          </a:xfrm>
          <a:prstGeom prst="roundRect">
            <a:avLst>
              <a:gd name="adj" fmla="val 1542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ok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708448" y="2712222"/>
            <a:ext cx="5118876" cy="2562718"/>
          </a:xfrm>
          <a:prstGeom prst="roundRect">
            <a:avLst>
              <a:gd name="adj" fmla="val 1694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 smtClean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ok.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379220" y="4950940"/>
            <a:ext cx="3814680" cy="647019"/>
            <a:chOff x="1379220" y="4703291"/>
            <a:chExt cx="3814680" cy="647019"/>
          </a:xfrm>
        </p:grpSpPr>
        <p:sp>
          <p:nvSpPr>
            <p:cNvPr id="9" name="Szövegdoboz 8"/>
            <p:cNvSpPr txBox="1"/>
            <p:nvPr/>
          </p:nvSpPr>
          <p:spPr>
            <a:xfrm>
              <a:off x="2895113" y="5042533"/>
              <a:ext cx="14382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4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Egyenes összekötő 9"/>
            <p:cNvCxnSpPr/>
            <p:nvPr/>
          </p:nvCxnSpPr>
          <p:spPr>
            <a:xfrm>
              <a:off x="1379220" y="5027291"/>
              <a:ext cx="381468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379220" y="4703291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5193900" y="4703291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Csoportba foglalás 26"/>
          <p:cNvGrpSpPr/>
          <p:nvPr/>
        </p:nvGrpSpPr>
        <p:grpSpPr>
          <a:xfrm>
            <a:off x="2424194" y="3947989"/>
            <a:ext cx="2636654" cy="956344"/>
            <a:chOff x="2424194" y="3700340"/>
            <a:chExt cx="2636654" cy="956344"/>
          </a:xfrm>
        </p:grpSpPr>
        <p:sp>
          <p:nvSpPr>
            <p:cNvPr id="15" name="Szövegdoboz 14"/>
            <p:cNvSpPr txBox="1"/>
            <p:nvPr/>
          </p:nvSpPr>
          <p:spPr>
            <a:xfrm>
              <a:off x="3028765" y="3700340"/>
              <a:ext cx="18453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" name="Egyenes összekötő nyíllal 16"/>
            <p:cNvCxnSpPr/>
            <p:nvPr/>
          </p:nvCxnSpPr>
          <p:spPr>
            <a:xfrm flipH="1">
              <a:off x="3738194" y="4015738"/>
              <a:ext cx="182767" cy="418645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628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060848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44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Magasabb rendű függvény</a:t>
            </a:r>
          </a:p>
          <a:p>
            <a:pPr lvl="1"/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8" y="3602487"/>
            <a:ext cx="9452753" cy="3124102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high_order_lta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end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19998" y="2712222"/>
            <a:ext cx="11072002" cy="843441"/>
          </a:xfrm>
          <a:prstGeom prst="roundRect">
            <a:avLst>
              <a:gd name="adj" fmla="val 30015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igh_order_lta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744980" y="3237809"/>
            <a:ext cx="10075545" cy="634238"/>
            <a:chOff x="1744980" y="2990159"/>
            <a:chExt cx="10075545" cy="634238"/>
          </a:xfrm>
        </p:grpSpPr>
        <p:sp>
          <p:nvSpPr>
            <p:cNvPr id="8" name="Szövegdoboz 7"/>
            <p:cNvSpPr txBox="1"/>
            <p:nvPr/>
          </p:nvSpPr>
          <p:spPr>
            <a:xfrm>
              <a:off x="5936892" y="3316620"/>
              <a:ext cx="14382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4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" name="Egyenes összekötő 8"/>
            <p:cNvCxnSpPr/>
            <p:nvPr/>
          </p:nvCxnSpPr>
          <p:spPr>
            <a:xfrm>
              <a:off x="1744980" y="3314159"/>
              <a:ext cx="10075545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/>
            <p:cNvCxnSpPr/>
            <p:nvPr/>
          </p:nvCxnSpPr>
          <p:spPr>
            <a:xfrm flipV="1">
              <a:off x="1744980" y="2990159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1820525" y="2990159"/>
              <a:ext cx="0" cy="324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Csoportba foglalás 13"/>
          <p:cNvGrpSpPr/>
          <p:nvPr/>
        </p:nvGrpSpPr>
        <p:grpSpPr>
          <a:xfrm>
            <a:off x="9034544" y="2234585"/>
            <a:ext cx="2636654" cy="956344"/>
            <a:chOff x="2424194" y="3700340"/>
            <a:chExt cx="2636654" cy="956344"/>
          </a:xfrm>
        </p:grpSpPr>
        <p:sp>
          <p:nvSpPr>
            <p:cNvPr id="15" name="Szövegdoboz 14"/>
            <p:cNvSpPr txBox="1"/>
            <p:nvPr/>
          </p:nvSpPr>
          <p:spPr>
            <a:xfrm>
              <a:off x="3028765" y="3700340"/>
              <a:ext cx="18453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4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" name="Egyenes összekötő nyíllal 16"/>
            <p:cNvCxnSpPr/>
            <p:nvPr/>
          </p:nvCxnSpPr>
          <p:spPr>
            <a:xfrm flipH="1">
              <a:off x="3738194" y="4015738"/>
              <a:ext cx="182767" cy="418645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628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5060848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9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églalap 21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5" name="Tartalom helye 2"/>
          <p:cNvSpPr>
            <a:spLocks noGrp="1"/>
          </p:cNvSpPr>
          <p:nvPr>
            <p:ph sz="half" idx="1"/>
          </p:nvPr>
        </p:nvSpPr>
        <p:spPr>
          <a:xfrm>
            <a:off x="1119999" y="2066925"/>
            <a:ext cx="6506351" cy="4110038"/>
          </a:xfrm>
        </p:spPr>
        <p:txBody>
          <a:bodyPr>
            <a:normAutofit lnSpcReduction="10000"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függvényekre alkalmazható jelenleg:</a:t>
            </a: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binary_to_existing_atom</a:t>
            </a:r>
            <a:endParaRPr lang="hu-HU" sz="20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list_to_existing_atom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binary_to_term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hu-HU" sz="2000" i="1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paraméter opció bevezetése</a:t>
            </a:r>
          </a:p>
          <a:p>
            <a:pPr lvl="1"/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tx1">
                    <a:lumMod val="95000"/>
                  </a:schemeClr>
                </a:solidFill>
              </a:rPr>
              <a:t/>
            </a:r>
            <a:br>
              <a:rPr lang="hu-HU" dirty="0" smtClean="0">
                <a:solidFill>
                  <a:schemeClr val="tx1">
                    <a:lumMod val="95000"/>
                  </a:schemeClr>
                </a:solidFill>
              </a:rPr>
            </a:br>
            <a:endParaRPr lang="hu-HU" dirty="0" smtClean="0">
              <a:solidFill>
                <a:schemeClr val="tx1">
                  <a:lumMod val="95000"/>
                </a:schemeClr>
              </a:solidFill>
            </a:endParaRP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1093610" y="4528440"/>
            <a:ext cx="4550869" cy="87933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9" name="Lekerekített téglalap 8"/>
          <p:cNvSpPr/>
          <p:nvPr/>
        </p:nvSpPr>
        <p:spPr>
          <a:xfrm>
            <a:off x="7156768" y="4532850"/>
            <a:ext cx="3666487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0" y="365125"/>
            <a:ext cx="11353798" cy="14893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sérülékeny függvények cseréje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9" y="5750896"/>
            <a:ext cx="5716729" cy="88547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binary_to_existing_atom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6" name="Lekerekített téglalap 15"/>
          <p:cNvSpPr/>
          <p:nvPr/>
        </p:nvSpPr>
        <p:spPr>
          <a:xfrm>
            <a:off x="7156768" y="5750896"/>
            <a:ext cx="4666613" cy="885472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safe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cxnSp>
        <p:nvCxnSpPr>
          <p:cNvPr id="18" name="Egyenes összekötő nyíllal 17"/>
          <p:cNvCxnSpPr/>
          <p:nvPr/>
        </p:nvCxnSpPr>
        <p:spPr>
          <a:xfrm>
            <a:off x="3738571" y="288607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nyíllal 18"/>
          <p:cNvCxnSpPr/>
          <p:nvPr/>
        </p:nvCxnSpPr>
        <p:spPr>
          <a:xfrm>
            <a:off x="3369045" y="319087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nyíllal 19"/>
          <p:cNvCxnSpPr/>
          <p:nvPr/>
        </p:nvCxnSpPr>
        <p:spPr>
          <a:xfrm>
            <a:off x="3667134" y="3490916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zövegdoboz 22"/>
          <p:cNvSpPr txBox="1"/>
          <p:nvPr/>
        </p:nvSpPr>
        <p:spPr>
          <a:xfrm>
            <a:off x="8354050" y="2528532"/>
            <a:ext cx="38195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sérülékeny függvényt kicserélem a biztonságos párjára, valamint bizonyos transzformáció esetén módosítom a bemeneti paramétereket.</a:t>
            </a:r>
          </a:p>
        </p:txBody>
      </p:sp>
    </p:spTree>
    <p:extLst>
      <p:ext uri="{BB962C8B-B14F-4D97-AF65-F5344CB8AC3E}">
        <p14:creationId xmlns:p14="http://schemas.microsoft.com/office/powerpoint/2010/main" val="124715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4"/>
          <p:cNvSpPr>
            <a:spLocks noGrp="1"/>
          </p:cNvSpPr>
          <p:nvPr>
            <p:ph type="body" idx="1"/>
          </p:nvPr>
        </p:nvSpPr>
        <p:spPr>
          <a:xfrm>
            <a:off x="1024750" y="1362075"/>
            <a:ext cx="5025216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függvényekre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alkalmazott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 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4919357"/>
              </p:ext>
            </p:extLst>
          </p:nvPr>
        </p:nvGraphicFramePr>
        <p:xfrm>
          <a:off x="1025527" y="2768600"/>
          <a:ext cx="5024439" cy="28854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50973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92266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Felismert sérülékenységek száma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28751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2182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2125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54201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  <p:sp>
        <p:nvSpPr>
          <p:cNvPr id="7" name="Szöveg helye 6"/>
          <p:cNvSpPr>
            <a:spLocks noGrp="1"/>
          </p:cNvSpPr>
          <p:nvPr>
            <p:ph type="body" sz="quarter" idx="3"/>
          </p:nvPr>
        </p:nvSpPr>
        <p:spPr>
          <a:xfrm>
            <a:off x="6415090" y="1362075"/>
            <a:ext cx="5035548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függvényekre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alkalmazott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Transzformációk eredménye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3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06229472"/>
              </p:ext>
            </p:extLst>
          </p:nvPr>
        </p:nvGraphicFramePr>
        <p:xfrm>
          <a:off x="6426199" y="2768600"/>
          <a:ext cx="5024439" cy="354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60501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Sérülékeny </a:t>
                      </a:r>
                      <a:r>
                        <a:rPr lang="hu-HU" sz="1600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függvének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(14)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28960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30738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27149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3288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3650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(29),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(18),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(8)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48534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48808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47843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99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 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miner_poc_grpc_client_statem.erl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678-695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Tartalom helye 15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4" y="1898648"/>
            <a:ext cx="5707686" cy="3410899"/>
          </a:xfrm>
        </p:spPr>
      </p:pic>
      <p:pic>
        <p:nvPicPr>
          <p:cNvPr id="17" name="Tartalom helye 16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77" y="1898648"/>
            <a:ext cx="4974384" cy="4370208"/>
          </a:xfrm>
        </p:spPr>
      </p:pic>
      <p:sp>
        <p:nvSpPr>
          <p:cNvPr id="18" name="Szövegdoboz 17"/>
          <p:cNvSpPr txBox="1"/>
          <p:nvPr/>
        </p:nvSpPr>
        <p:spPr>
          <a:xfrm>
            <a:off x="2356612" y="5309547"/>
            <a:ext cx="2266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zövegdoboz 18"/>
          <p:cNvSpPr txBox="1"/>
          <p:nvPr/>
        </p:nvSpPr>
        <p:spPr>
          <a:xfrm>
            <a:off x="7988374" y="6268856"/>
            <a:ext cx="2279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3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1"/>
          <p:cNvSpPr txBox="1">
            <a:spLocks/>
          </p:cNvSpPr>
          <p:nvPr/>
        </p:nvSpPr>
        <p:spPr>
          <a:xfrm>
            <a:off x="-323850" y="47466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Tartalom helye 19"/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1943599"/>
            <a:ext cx="8985250" cy="1670068"/>
          </a:xfrm>
        </p:spPr>
      </p:pic>
      <p:pic>
        <p:nvPicPr>
          <p:cNvPr id="21" name="Tartalom helye 20"/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4233247"/>
            <a:ext cx="8985250" cy="1961318"/>
          </a:xfrm>
        </p:spPr>
      </p:pic>
      <p:sp>
        <p:nvSpPr>
          <p:cNvPr id="19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 cseréjének eredménye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miner_lora.erl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759-765. 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zövegdoboz 21"/>
          <p:cNvSpPr txBox="1"/>
          <p:nvPr/>
        </p:nvSpPr>
        <p:spPr>
          <a:xfrm>
            <a:off x="4495662" y="3620532"/>
            <a:ext cx="2266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4632543" y="6197225"/>
            <a:ext cx="2279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848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Köszönöm a figyelmet!</a:t>
            </a:r>
            <a:endParaRPr lang="hu-HU" sz="5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84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5"/>
            <a:ext cx="6362700" cy="4351338"/>
          </a:xfrm>
        </p:spPr>
        <p:txBody>
          <a:bodyPr>
            <a:normAutofit/>
          </a:bodyPr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Kritikus rendszerek az iparág minden területén.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Jobb minőségű kód, ha a lehetséges sérülékenységeket korán azonosítják.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Szabványok: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27001: A forráskód és a fejlesztési folyamat biztonságára irányul.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OWASP: Fejlesztői irányelvekre és a kódban előforduló különböző sérülékenységekre összpontosít.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Forráskód biztonsága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Csoportba foglalás 7"/>
          <p:cNvGrpSpPr/>
          <p:nvPr/>
        </p:nvGrpSpPr>
        <p:grpSpPr>
          <a:xfrm>
            <a:off x="6372226" y="1705197"/>
            <a:ext cx="5819774" cy="3600000"/>
            <a:chOff x="6372226" y="1705197"/>
            <a:chExt cx="5819774" cy="3600000"/>
          </a:xfrm>
        </p:grpSpPr>
        <p:sp>
          <p:nvSpPr>
            <p:cNvPr id="2" name="Téglalap 1"/>
            <p:cNvSpPr/>
            <p:nvPr/>
          </p:nvSpPr>
          <p:spPr>
            <a:xfrm>
              <a:off x="6372226" y="2562223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7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322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Kép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803775"/>
          </a:xfrm>
        </p:spPr>
        <p:txBody>
          <a:bodyPr>
            <a:normAutofit fontScale="92500" lnSpcReduction="20000"/>
          </a:bodyPr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Deklaratív funkcionális programozási nyelv, eredetileg telekommunikációs rendszerekre fejlesztettek ki.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Legfontosabb nyelvi jellemzői: 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megváltoztathatatlan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adatszerkezetek, 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elosztottság támogatása, 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párhuzamosság,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hibatűrő modell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nyelv gyakori sérülékenységei: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gyakori 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68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statikus kódelemzés költséghatékonyabbá teszi a fejlesztési folyamatokat. Futás előtt átvizsgálja a kódot, ezzel nő a kód minősége és biztonsága.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statikus elemző és transzformáló eszköz:</a:t>
            </a:r>
          </a:p>
          <a:p>
            <a:pPr lvl="1"/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lekérdezések, elemzések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kódelemzés és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503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3222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kód szemantikus programgráfját a lenti hivatkozáson látható módon hozta létre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eszköz.</a:t>
            </a:r>
          </a:p>
          <a:p>
            <a:pPr marL="0" indent="0">
              <a:buNone/>
            </a:pPr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 action="ppaction://hlinkfile"/>
              </a:rPr>
              <a:t>Szemantikus programgráf képe</a:t>
            </a:r>
            <a:endParaRPr lang="hu-HU" sz="24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Szemantikus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programgráf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33476" y="3962394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2000" y="1751846"/>
            <a:ext cx="324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681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1353798" cy="1489306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os:cmd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7" y="2571101"/>
            <a:ext cx="3267074" cy="902579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8029575" y="2528053"/>
            <a:ext cx="4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az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 bemeneti paraméterét, majd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kifejezésben alkalmazom rá az újonnan beszúrt ellenőrző függvényt. Az eredménytől függően fut tovább vagy terminál a kód.</a:t>
            </a:r>
          </a:p>
        </p:txBody>
      </p:sp>
      <p:sp>
        <p:nvSpPr>
          <p:cNvPr id="5" name="Lekerekített téglalap 4"/>
          <p:cNvSpPr/>
          <p:nvPr/>
        </p:nvSpPr>
        <p:spPr>
          <a:xfrm>
            <a:off x="1119997" y="3889103"/>
            <a:ext cx="6404753" cy="2845071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any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string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find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=/=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nomatch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”;”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rgbClr val="E89874"/>
                </a:solidFill>
              </a:rPr>
              <a:t>&amp;&amp;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”|”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52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231900" y="2573881"/>
            <a:ext cx="5587999" cy="1139825"/>
          </a:xfrm>
          <a:prstGeom prst="roundRect">
            <a:avLst>
              <a:gd name="adj" fmla="val 34267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b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spawn</a:t>
            </a: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és link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8354050" y="2281832"/>
            <a:ext cx="38195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függvényhez megkeresem a hozzátartozó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 (léteznie kell), majd az eredeti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hívást kicserélem az atomi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spawn_link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függvényre a paraméterek változtatása nélkül. Végezetül törlöm a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függvényt.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231900" y="4373654"/>
            <a:ext cx="6197600" cy="835609"/>
          </a:xfrm>
          <a:prstGeom prst="roundRect">
            <a:avLst>
              <a:gd name="adj" fmla="val 4225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27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élység">
  <a:themeElements>
    <a:clrScheme name="4. egyéni séma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BEE7EE"/>
      </a:hlink>
      <a:folHlink>
        <a:srgbClr val="BEE7EE"/>
      </a:folHlink>
    </a:clrScheme>
    <a:fontScheme name="Mélység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élység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TM04033923[[fn=Mélység]]</Template>
  <TotalTime>1996</TotalTime>
  <Words>2581</Words>
  <Application>Microsoft Office PowerPoint</Application>
  <PresentationFormat>Szélesvásznú</PresentationFormat>
  <Paragraphs>347</Paragraphs>
  <Slides>21</Slides>
  <Notes>21</Notes>
  <HiddenSlides>7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Corbel</vt:lpstr>
      <vt:lpstr>Mélység</vt:lpstr>
      <vt:lpstr>Nem biztonságos kód biztonságossá transzformálása a RefactorErl segítségével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   list_to_atom transzformáció eredménye  (Miner projekt, poc/miner_poc_grpc_client_statem.erl fájl, 678-695. sor)</vt:lpstr>
      <vt:lpstr> binary_to_atom függvény cseréjének eredménye (Miner projekt, miner_lora.erl fájl, 759-765. sor)</vt:lpstr>
      <vt:lpstr>Köszönöm a figyelmet!</vt:lpstr>
      <vt:lpstr>PowerPoint-bemutató</vt:lpstr>
      <vt:lpstr>PowerPoint-bemutató</vt:lpstr>
      <vt:lpstr>PowerPoint-bemutató</vt:lpstr>
      <vt:lpstr>PowerPoint-bemutató</vt:lpstr>
      <vt:lpstr>PowerPoint-bemutató</vt:lpstr>
      <vt:lpstr>  Implementált transzformációk bemutatása – os:cmd</vt:lpstr>
      <vt:lpstr>  Implementált transzformációk bemutatása –  spawn és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Nem biztonságos kód biztonságossá transzformálása a RefactorErl segítségével</dc:title>
  <dc:creator>Juhász Nelli</dc:creator>
  <cp:lastModifiedBy>Juhász Nelli</cp:lastModifiedBy>
  <cp:revision>187</cp:revision>
  <dcterms:created xsi:type="dcterms:W3CDTF">2025-12-03T15:39:13Z</dcterms:created>
  <dcterms:modified xsi:type="dcterms:W3CDTF">2026-01-18T14:15:00Z</dcterms:modified>
</cp:coreProperties>
</file>